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2420"/>
                </a:solidFill>
                <a:latin typeface="Calibri"/>
              </a:rPr>
              <a:t>Test PR-AUC: CARE-EW vs simpler methods</a:t>
            </a:r>
          </a:p>
        </c:rich>
      </c:tx>
      <c:layout/>
      <c:overlay val="0"/>
    </c:title>
    <c:autoTitleDeleted val="0"/>
    <c:plotArea>
      <c:barChart>
        <c:barDir val="col"/>
        <c:grouping val="clustered"/>
        <c:ser>
          <c:idx val="0"/>
          <c:order val="0"/>
          <c:tx>
            <c:strRef>
              <c:f>Sheet1!$B$1</c:f>
              <c:strCache>
                <c:ptCount val="1"/>
                <c:pt idx="0">
                  <c:v>v</c:v>
                </c:pt>
              </c:strCache>
            </c:strRef>
          </c:tx>
          <c:dPt>
            <c:idx val="0"/>
            <c:spPr>
              <a:solidFill>
                <a:srgbClr val="B8C2BB"/>
              </a:solidFill>
            </c:spPr>
          </c:dPt>
          <c:dPt>
            <c:idx val="1"/>
            <c:spPr>
              <a:solidFill>
                <a:srgbClr val="B8C2BB"/>
              </a:solidFill>
            </c:spPr>
          </c:dPt>
          <c:dPt>
            <c:idx val="2"/>
            <c:spPr>
              <a:solidFill>
                <a:srgbClr val="B8C2BB"/>
              </a:solidFill>
            </c:spPr>
          </c:dPt>
          <c:dPt>
            <c:idx val="3"/>
            <c:spPr>
              <a:solidFill>
                <a:srgbClr val="B8C2BB"/>
              </a:solidFill>
            </c:spPr>
          </c:dPt>
          <c:dPt>
            <c:idx val="4"/>
            <c:spPr>
              <a:solidFill>
                <a:srgbClr val="2E6B3F"/>
              </a:solidFill>
            </c:spPr>
          </c:dPt>
          <c:cat>
            <c:strRef>
              <c:f>Sheet1!$A$2:$A$6</c:f>
              <c:strCache>
                <c:ptCount val="5"/>
                <c:pt idx="0">
                  <c:v>Chance</c:v>
                </c:pt>
                <c:pt idx="1">
                  <c:v>Anomaly persistence</c:v>
                </c:pt>
                <c:pt idx="2">
                  <c:v>RF, Sentinel-2 only</c:v>
                </c:pt>
                <c:pt idx="3">
                  <c:v>Residual rule</c:v>
                </c:pt>
                <c:pt idx="4">
                  <c:v>CARE-EW</c:v>
                </c:pt>
              </c:strCache>
            </c:strRef>
          </c:cat>
          <c:val>
            <c:numRef>
              <c:f>Sheet1!$B$2:$B$6</c:f>
              <c:numCache>
                <c:formatCode>General</c:formatCode>
                <c:ptCount val="5"/>
                <c:pt idx="0">
                  <c:v>0.025160704832488844</c:v>
                </c:pt>
                <c:pt idx="1">
                  <c:v>0.036</c:v>
                </c:pt>
                <c:pt idx="2">
                  <c:v>0.044</c:v>
                </c:pt>
                <c:pt idx="3">
                  <c:v>0.055</c:v>
                </c:pt>
                <c:pt idx="4">
                  <c:v>0.1436896075891998</c:v>
                </c:pt>
              </c:numCache>
            </c:numRef>
          </c:val>
        </c:ser>
        <c:dLbls>
          <c:numFmt formatCode="0.000" sourceLinked="0"/>
          <c:txPr>
            <a:bodyPr/>
            <a:lstStyle/>
            <a:p>
              <a:pPr>
                <a:defRPr sz="1100">
                  <a:solidFill>
                    <a:srgbClr val="1E242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2BB"/>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DDE3DF"/>
              </a:solidFill>
            </a:ln>
          </c:spPr>
        </c:majorGridlines>
        <c:numFmt formatCode="0.00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E6A6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2420"/>
                </a:solidFill>
                <a:latin typeface="Calibri"/>
              </a:rPr>
              <a:t>Test PR-AUC as feature groups are added</a:t>
            </a:r>
          </a:p>
        </c:rich>
      </c:tx>
      <c:layout/>
      <c:overlay val="0"/>
    </c:title>
    <c:autoTitleDeleted val="0"/>
    <c:plotArea>
      <c:barChart>
        <c:barDir val="col"/>
        <c:grouping val="clustered"/>
        <c:ser>
          <c:idx val="0"/>
          <c:order val="0"/>
          <c:tx>
            <c:strRef>
              <c:f>Sheet1!$B$1</c:f>
              <c:strCache>
                <c:ptCount val="1"/>
                <c:pt idx="0">
                  <c:v>v</c:v>
                </c:pt>
              </c:strCache>
            </c:strRef>
          </c:tx>
          <c:dPt>
            <c:idx val="0"/>
            <c:spPr>
              <a:solidFill>
                <a:srgbClr val="9DB8A6"/>
              </a:solidFill>
            </c:spPr>
          </c:dPt>
          <c:dPt>
            <c:idx val="1"/>
            <c:spPr>
              <a:solidFill>
                <a:srgbClr val="9DB8A6"/>
              </a:solidFill>
            </c:spPr>
          </c:dPt>
          <c:dPt>
            <c:idx val="2"/>
            <c:spPr>
              <a:solidFill>
                <a:srgbClr val="9DB8A6"/>
              </a:solidFill>
            </c:spPr>
          </c:dPt>
          <c:dPt>
            <c:idx val="3"/>
            <c:spPr>
              <a:solidFill>
                <a:srgbClr val="B5562B"/>
              </a:solidFill>
            </c:spPr>
          </c:dPt>
          <c:dPt>
            <c:idx val="4"/>
            <c:spPr>
              <a:solidFill>
                <a:srgbClr val="B5562B"/>
              </a:solidFill>
            </c:spPr>
          </c:dPt>
          <c:dPt>
            <c:idx val="5"/>
            <c:spPr>
              <a:solidFill>
                <a:srgbClr val="2E6B3F"/>
              </a:solidFill>
            </c:spPr>
          </c:dPt>
          <c:cat>
            <c:strRef>
              <c:f>Sheet1!$A$2:$A$7</c:f>
              <c:strCache>
                <c:ptCount val="6"/>
                <c:pt idx="0">
                  <c:v>+A1 state</c:v>
                </c:pt>
                <c:pt idx="1">
                  <c:v>+A2 change</c:v>
                </c:pt>
                <c:pt idx="2">
                  <c:v>+A3 climate</c:v>
                </c:pt>
                <c:pt idx="3">
                  <c:v>+A4 residual</c:v>
                </c:pt>
                <c:pt idx="4">
                  <c:v>+A5 resilience</c:v>
                </c:pt>
                <c:pt idx="5">
                  <c:v>+A6 context</c:v>
                </c:pt>
              </c:strCache>
            </c:strRef>
          </c:cat>
          <c:val>
            <c:numRef>
              <c:f>Sheet1!$B$2:$B$7</c:f>
              <c:numCache>
                <c:formatCode>General</c:formatCode>
                <c:ptCount val="6"/>
                <c:pt idx="0">
                  <c:v>0.032</c:v>
                </c:pt>
                <c:pt idx="1">
                  <c:v>0.036</c:v>
                </c:pt>
                <c:pt idx="2">
                  <c:v>0.034</c:v>
                </c:pt>
                <c:pt idx="3">
                  <c:v>0.131</c:v>
                </c:pt>
                <c:pt idx="4">
                  <c:v>0.143</c:v>
                </c:pt>
                <c:pt idx="5">
                  <c:v>0.152</c:v>
                </c:pt>
              </c:numCache>
            </c:numRef>
          </c:val>
        </c:ser>
        <c:dLbls>
          <c:numFmt formatCode="0.000" sourceLinked="0"/>
          <c:txPr>
            <a:bodyPr/>
            <a:lstStyle/>
            <a:p>
              <a:pPr>
                <a:defRPr sz="1100">
                  <a:solidFill>
                    <a:srgbClr val="1E242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2BB"/>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DDE3DF"/>
              </a:solidFill>
            </a:ln>
          </c:spPr>
        </c:majorGridlines>
        <c:numFmt formatCode="0.00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E6A6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2420"/>
                </a:solidFill>
                <a:latin typeface="Calibri"/>
              </a:rPr>
              <a:t>Lift when the whole country is held out</a:t>
            </a:r>
          </a:p>
        </c:rich>
      </c:tx>
      <c:layout/>
      <c:overlay val="0"/>
    </c:title>
    <c:autoTitleDeleted val="0"/>
    <c:plotArea>
      <c:barChart>
        <c:barDir val="bar"/>
        <c:grouping val="clustered"/>
        <c:ser>
          <c:idx val="0"/>
          <c:order val="0"/>
          <c:tx>
            <c:strRef>
              <c:f>Sheet1!$B$1</c:f>
              <c:strCache>
                <c:ptCount val="1"/>
                <c:pt idx="0">
                  <c:v>v</c:v>
                </c:pt>
              </c:strCache>
            </c:strRef>
          </c:tx>
          <c:dPt>
            <c:idx val="0"/>
            <c:spPr>
              <a:solidFill>
                <a:srgbClr val="2E6B3F"/>
              </a:solidFill>
            </c:spPr>
          </c:dPt>
          <c:dPt>
            <c:idx val="1"/>
            <c:spPr>
              <a:solidFill>
                <a:srgbClr val="2E6B3F"/>
              </a:solidFill>
            </c:spPr>
          </c:dPt>
          <c:dPt>
            <c:idx val="2"/>
            <c:spPr>
              <a:solidFill>
                <a:srgbClr val="2E6B3F"/>
              </a:solidFill>
            </c:spPr>
          </c:dPt>
          <c:dPt>
            <c:idx val="3"/>
            <c:spPr>
              <a:solidFill>
                <a:srgbClr val="2E6B3F"/>
              </a:solidFill>
            </c:spPr>
          </c:dPt>
          <c:dPt>
            <c:idx val="4"/>
            <c:spPr>
              <a:solidFill>
                <a:srgbClr val="2E6B3F"/>
              </a:solidFill>
            </c:spPr>
          </c:dPt>
          <c:dPt>
            <c:idx val="5"/>
            <c:spPr>
              <a:solidFill>
                <a:srgbClr val="2E6B3F"/>
              </a:solidFill>
            </c:spPr>
          </c:dPt>
          <c:dPt>
            <c:idx val="6"/>
            <c:spPr>
              <a:solidFill>
                <a:srgbClr val="2E6B3F"/>
              </a:solidFill>
            </c:spPr>
          </c:dPt>
          <c:dPt>
            <c:idx val="7"/>
            <c:spPr>
              <a:solidFill>
                <a:srgbClr val="2E6B3F"/>
              </a:solidFill>
            </c:spPr>
          </c:dPt>
          <c:cat>
            <c:strRef>
              <c:f>Sheet1!$A$2:$A$9</c:f>
              <c:strCache>
                <c:ptCount val="8"/>
                <c:pt idx="0">
                  <c:v>Brazil</c:v>
                </c:pt>
                <c:pt idx="1">
                  <c:v>India</c:v>
                </c:pt>
                <c:pt idx="2">
                  <c:v>Spain</c:v>
                </c:pt>
                <c:pt idx="3">
                  <c:v>Nepal</c:v>
                </c:pt>
                <c:pt idx="4">
                  <c:v>Kenya</c:v>
                </c:pt>
                <c:pt idx="5">
                  <c:v>Senegal</c:v>
                </c:pt>
                <c:pt idx="6">
                  <c:v>Ethiopia</c:v>
                </c:pt>
                <c:pt idx="7">
                  <c:v>Australia</c:v>
                </c:pt>
              </c:strCache>
            </c:strRef>
          </c:cat>
          <c:val>
            <c:numRef>
              <c:f>Sheet1!$B$2:$B$9</c:f>
              <c:numCache>
                <c:formatCode>General</c:formatCode>
                <c:ptCount val="8"/>
                <c:pt idx="0">
                  <c:v>2.3173569657468645</c:v>
                </c:pt>
                <c:pt idx="1">
                  <c:v>4.13632720921675</c:v>
                </c:pt>
                <c:pt idx="2">
                  <c:v>4.621685623521614</c:v>
                </c:pt>
                <c:pt idx="3">
                  <c:v>6.227957764650116</c:v>
                </c:pt>
                <c:pt idx="4">
                  <c:v>7.031024707700294</c:v>
                </c:pt>
                <c:pt idx="5">
                  <c:v>9.794330635677314</c:v>
                </c:pt>
                <c:pt idx="6">
                  <c:v>10.216211103311522</c:v>
                </c:pt>
                <c:pt idx="7">
                  <c:v>13.839849659131831</c:v>
                </c:pt>
              </c:numCache>
            </c:numRef>
          </c:val>
        </c:ser>
        <c:dLbls>
          <c:numFmt formatCode="0.0&quot;×&quot;" sourceLinked="0"/>
          <c:txPr>
            <a:bodyPr/>
            <a:lstStyle/>
            <a:p>
              <a:pPr>
                <a:defRPr sz="1100">
                  <a:solidFill>
                    <a:srgbClr val="1E242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8C2BB"/>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DDE3DF"/>
              </a:solidFill>
            </a:ln>
          </c:spPr>
        </c:majorGridlines>
        <c:numFmt formatCode="0.0&quot;×&quot;"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E6A6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2420"/>
                </a:solidFill>
                <a:latin typeface="Calibri"/>
              </a:rPr>
              <a:t>Walk-forward: test PR-AUC by year</a:t>
            </a:r>
          </a:p>
        </c:rich>
      </c:tx>
      <c:layout/>
      <c:overlay val="0"/>
    </c:title>
    <c:autoTitleDeleted val="0"/>
    <c:plotArea>
      <c:lineChart>
        <c:grouping val="standard"/>
        <c:varyColors val="0"/>
        <c:ser>
          <c:idx val="0"/>
          <c:order val="0"/>
          <c:tx>
            <c:strRef>
              <c:f>Sheet1!$B$1</c:f>
              <c:strCache>
                <c:ptCount val="1"/>
                <c:pt idx="0">
                  <c:v>CARE-EW PR-AUC</c:v>
                </c:pt>
              </c:strCache>
            </c:strRef>
          </c:tx>
          <c:spPr>
            <a:ln w="28575">
              <a:solidFill>
                <a:srgbClr val="2E6B3F"/>
              </a:solidFill>
            </a:ln>
          </c:spPr>
          <c:marker>
            <c:spPr>
              <a:solidFill>
                <a:srgbClr val="2E6B3F"/>
              </a:solidFill>
              <a:ln>
                <a:solidFill>
                  <a:srgbClr val="2E6B3F"/>
                </a:solidFill>
              </a:ln>
            </c:spPr>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0.034</c:v>
                </c:pt>
                <c:pt idx="1">
                  <c:v>0.028</c:v>
                </c:pt>
                <c:pt idx="2">
                  <c:v>0.072</c:v>
                </c:pt>
                <c:pt idx="3">
                  <c:v>0.14</c:v>
                </c:pt>
                <c:pt idx="4">
                  <c:v>0.179</c:v>
                </c:pt>
              </c:numCache>
            </c:numRef>
          </c:val>
          <c:smooth val="0"/>
        </c:ser>
        <c:ser>
          <c:idx val="1"/>
          <c:order val="1"/>
          <c:tx>
            <c:strRef>
              <c:f>Sheet1!$C$1</c:f>
              <c:strCache>
                <c:ptCount val="1"/>
                <c:pt idx="0">
                  <c:v>Chance</c:v>
                </c:pt>
              </c:strCache>
            </c:strRef>
          </c:tx>
          <c:spPr>
            <a:ln w="28575">
              <a:solidFill>
                <a:srgbClr val="A0AAA3"/>
              </a:solidFill>
            </a:ln>
          </c:spPr>
          <c:marker>
            <c:spPr>
              <a:solidFill>
                <a:srgbClr val="A0AAA3"/>
              </a:solidFill>
              <a:ln>
                <a:solidFill>
                  <a:srgbClr val="A0AAA3"/>
                </a:solidFill>
              </a:ln>
            </c:spPr>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0.032</c:v>
                </c:pt>
                <c:pt idx="1">
                  <c:v>0.027</c:v>
                </c:pt>
                <c:pt idx="2">
                  <c:v>0.023</c:v>
                </c:pt>
                <c:pt idx="3">
                  <c:v>0.027</c:v>
                </c:pt>
                <c:pt idx="4">
                  <c:v>0.026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BB"/>
            </a:solidFill>
          </a:ln>
        </c:spPr>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DDE3DF"/>
              </a:solidFill>
            </a:ln>
          </c:spPr>
        </c:majorGridlines>
        <c:numFmt formatCode="0.00" sourceLinked="0"/>
        <c:majorTickMark val="out"/>
        <c:minorTickMark val="none"/>
        <c:tickLblPos val="nextTo"/>
        <c:spPr>
          <a:ln>
            <a:no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solidFill>
            <a:srgbClr val="5E6A6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2420"/>
                </a:solidFill>
                <a:latin typeface="Calibri"/>
              </a:rPr>
              <a:t>Visible change in VHR imagery</a:t>
            </a:r>
          </a:p>
        </c:rich>
      </c:tx>
      <c:layout/>
      <c:overlay val="0"/>
    </c:title>
    <c:autoTitleDeleted val="0"/>
    <c:plotArea>
      <c:barChart>
        <c:barDir val="col"/>
        <c:grouping val="clustered"/>
        <c:ser>
          <c:idx val="0"/>
          <c:order val="0"/>
          <c:tx>
            <c:strRef>
              <c:f>Sheet1!$B$1</c:f>
              <c:strCache>
                <c:ptCount val="1"/>
                <c:pt idx="0">
                  <c:v>v</c:v>
                </c:pt>
              </c:strCache>
            </c:strRef>
          </c:tx>
          <c:dPt>
            <c:idx val="0"/>
            <c:spPr>
              <a:solidFill>
                <a:srgbClr val="B5562B"/>
              </a:solidFill>
            </c:spPr>
          </c:dPt>
          <c:dPt>
            <c:idx val="1"/>
            <c:spPr>
              <a:solidFill>
                <a:srgbClr val="A0AAA3"/>
              </a:solidFill>
            </c:spPr>
          </c:dPt>
          <c:cat>
            <c:strRef>
              <c:f>Sheet1!$A$2:$A$3</c:f>
              <c:strCache>
                <c:ptCount val="2"/>
                <c:pt idx="0">
                  <c:v>Warned points</c:v>
                </c:pt>
                <c:pt idx="1">
                  <c:v>Control points</c:v>
                </c:pt>
              </c:strCache>
            </c:strRef>
          </c:cat>
          <c:val>
            <c:numRef>
              <c:f>Sheet1!$B$2:$B$3</c:f>
              <c:numCache>
                <c:formatCode>General</c:formatCode>
                <c:ptCount val="2"/>
                <c:pt idx="0">
                  <c:v>0.19626168224299065</c:v>
                </c:pt>
                <c:pt idx="1">
                  <c:v>0.24528301886792453</c:v>
                </c:pt>
              </c:numCache>
            </c:numRef>
          </c:val>
        </c:ser>
        <c:dLbls>
          <c:numFmt formatCode="0.0%" sourceLinked="0"/>
          <c:txPr>
            <a:bodyPr/>
            <a:lstStyle/>
            <a:p>
              <a:pPr>
                <a:defRPr sz="1200">
                  <a:solidFill>
                    <a:srgbClr val="1E242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2BB"/>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DDE3DF"/>
              </a:solidFill>
            </a:ln>
          </c:spPr>
        </c:majorGridlines>
        <c:numFmt formatCode="0.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200">
          <a:solidFill>
            <a:srgbClr val="5E6A6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sentence: we use free satellite images and machine learning to warn, months ahead, where land is starting a long-lasting decline that the weather does not explain. The next two slides define every technical word used in the talk, so the audience can refer back to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satellite vocabulary. Stress three things: a pixel is 10 m; NDVI is a greenness number from two colours; ERA5 is the weather record we use to tell drought apart from damage.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AI vocabulary. The essential idea: the model outputs a probability; we check it is honest (calibration), say when it is unsure (conformal), and measure it on places it never saw (spatial blocks).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degradation is slow. Maps that show where vegetation already declined arrive too late for cheap action, and they confuse a dry year with real damage. Our question is predictive: will this pixel start a persistent, weather-unexplained decline within six months?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study area is 5.12 km square. Landscapes span drylands, rangelands, cropland, forest frontier and mining areas on five continents. All inputs are free and open; Sentinel-2 drives the 10 m detail.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flow top to bottom. Inputs are cleaned into monthly pictures; a climate model removes what the weather explains; features describe state, change, residual and resilience; LightGBM predicts; calibration and conformal prediction make the probability honest.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the arithmetic slowly. The +1000 offset was added by ESA from processing baseline 04.00 (2022); forgetting it makes recent images look darker and would invent a fake decline. The z-score of −2.5 means this month is 2.5 typical deviations below this pixel's normal for this calendar month.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z-score, two different stories. In a drought year the weather model expects the drop, so the residual is small and nothing is flagged. In a normal-rain year the same drop is unexplained, and if it persists six months it becomes a labelled degradation onset. The figure shows a real Spanish pixel.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Sixty-four features in six groups. The resilience group is the novel part: when land loses resilience it recovers more slowly, which shows up as rising autocorrelation and variance before the decline. LightGBM is deliberately kept small and heavily regularised so it generalises to new places.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First, the score is calibrated so 0.13 really means about a 13 % chance, and conformal prediction lets the model abstain when it cannot be confident. Second, test pixels are from different 1 km blocks and a later time than training, with gaps so the 6-month label window cannot leak.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ROC-AUC 0.805 means: pick one pixel that degraded and one that did not; 80 % of the time the model ranks the degrading one higher. PR-AUC 0.144 is 5.7 times the 0.025 chance level. Brackets are 95 % bootstrap confidence intervals. All three simpler baselines are far behind.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boxes, then the arithmetic. Accuracy is 95.6 %, but a model that always says 'no' would score 97.5 % because events are rare, so accuracy is the wrong yardstick. Precision 0.22 means about one warning in five is followed by an onset, versus one in forty by chance.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CARE-EW's curves sit above every baseline at every threshold. Right: we add feature groups one at a time. State, change and climate alone barely beat chance; the jump comes from the climate-adjusted residual (A4) and resilience (A5). Ablation values are the raw model score before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Leave-one-country-out: train without a country, test on it. Every country beats chance, from 2.3× (Brazil) to 13.8× (Australia); Mongolia had no events to score. Walk-forward: retrain each January and test on the next year; skill grows as more history accumulates. Six brand-new sites added later scored 8.6× lift.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1,444 test onsets, 41% received a warning beforehand; the median lead is 3 months. SHAP shows the top drivers are resilience signals (5-year MODIS variance, AC1 and its trend) and the residual (share of the last 12 months below expectation). It works best in shrub and grassland, weakest in cropland, where farming cycles mimic decline.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web console (FastAPI + CesiumJS). Start on the globe with each study area coloured by mean risk; open an area to see hotspots over Esri imagery with rivers; click a hotspot for its risk, area, first warning, top drivers and Sentinel-2 before/after chips; the pixel inspector shows that pixel's full history.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time-lapse plays every cloud-free Sentinel-2 month for a hotspot and marks when it fell below peers. The river tab compares mean and low flow before 2000 with today. Draw box lets a user analyse a new 5 km area: the server downloads the data, runs the same pipeline, and opens the result, with a warning that it is outside the training areas.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sampled 276 points (half warnings, half controls), fetched Esri Wayback images before and after, and judged visible change without knowing which was which. The first pass was done by an AI reviewer; answers were hashed before unblinding. No detectable difference, and the test was underpowered, so it neither confirms nor refutes the model. An independent human review is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a 10 m, climate-adjusted, resilience-aware early warning that ranks future degradation 5.7 times better than chance on unseen places, generalises across countries and later years, is calibrated, says when it is unsure, and ships as a working web application. Then the honest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references are from 2020 or later and concern land degradation, Earth-observation data, GIS, machine learning and computer vision. Full details are in the conference paper.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3.xml"/><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91C"/>
        </a:solidFill>
        <a:effectLst/>
      </p:bgPr>
    </p:bg>
    <p:spTree>
      <p:nvGrpSpPr>
        <p:cNvPr id="1" name=""/>
        <p:cNvGrpSpPr/>
        <p:nvPr/>
      </p:nvGrpSpPr>
      <p:grpSpPr/>
      <p:sp>
        <p:nvSpPr>
          <p:cNvPr id="2" name="TextBox 1"/>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9DB3A5"/>
                </a:solidFill>
                <a:latin typeface="Calibri"/>
              </a:rPr>
              <a:t>CARE-EW · satellite early warning of persistent land degradation</a:t>
            </a:r>
          </a:p>
        </p:txBody>
      </p:sp>
      <p:sp>
        <p:nvSpPr>
          <p:cNvPr id="3" name="TextBox 2"/>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9DB3A5"/>
                </a:solidFill>
                <a:latin typeface="Calibri"/>
              </a:rPr>
              <a:t>1</a:t>
            </a:r>
          </a:p>
        </p:txBody>
      </p:sp>
      <p:pic>
        <p:nvPicPr>
          <p:cNvPr id="4" name="Picture 3" descr="02_aoi_hotspots_rivers.png"/>
          <p:cNvPicPr>
            <a:picLocks noChangeAspect="1"/>
          </p:cNvPicPr>
          <p:nvPr/>
        </p:nvPicPr>
        <p:blipFill>
          <a:blip r:embed="rId3"/>
          <a:stretch>
            <a:fillRect/>
          </a:stretch>
        </p:blipFill>
        <p:spPr>
          <a:xfrm>
            <a:off x="6309360" y="1682681"/>
            <a:ext cx="5882335" cy="3492636"/>
          </a:xfrm>
          <a:prstGeom prst="rect">
            <a:avLst/>
          </a:prstGeom>
        </p:spPr>
      </p:pic>
      <p:sp>
        <p:nvSpPr>
          <p:cNvPr id="5" name="TextBox 4"/>
          <p:cNvSpPr txBox="1"/>
          <p:nvPr/>
        </p:nvSpPr>
        <p:spPr>
          <a:xfrm>
            <a:off x="640080" y="1097280"/>
            <a:ext cx="5486400" cy="365760"/>
          </a:xfrm>
          <a:prstGeom prst="rect">
            <a:avLst/>
          </a:prstGeom>
          <a:noFill/>
        </p:spPr>
        <p:txBody>
          <a:bodyPr wrap="square" anchor="t" lIns="0" rIns="0" tIns="0" bIns="0">
            <a:spAutoFit/>
          </a:bodyPr>
          <a:lstStyle/>
          <a:p>
            <a:pPr algn="l">
              <a:spcAft>
                <a:spcPts val="0"/>
              </a:spcAft>
            </a:pPr>
            <a:r>
              <a:rPr sz="1200" b="1" i="0">
                <a:solidFill>
                  <a:srgbClr val="E3A27E"/>
                </a:solidFill>
                <a:latin typeface="Calibri"/>
              </a:rPr>
              <a:t>AI PROJECT · CONFERENCE PRESENTATION</a:t>
            </a:r>
          </a:p>
        </p:txBody>
      </p:sp>
      <p:sp>
        <p:nvSpPr>
          <p:cNvPr id="6" name="TextBox 5"/>
          <p:cNvSpPr txBox="1"/>
          <p:nvPr/>
        </p:nvSpPr>
        <p:spPr>
          <a:xfrm>
            <a:off x="640080" y="1554480"/>
            <a:ext cx="5486400" cy="1737360"/>
          </a:xfrm>
          <a:prstGeom prst="rect">
            <a:avLst/>
          </a:prstGeom>
          <a:noFill/>
        </p:spPr>
        <p:txBody>
          <a:bodyPr wrap="square" anchor="t" lIns="0" rIns="0" tIns="0" bIns="0">
            <a:spAutoFit/>
          </a:bodyPr>
          <a:lstStyle/>
          <a:p>
            <a:pPr algn="l">
              <a:spcAft>
                <a:spcPts val="0"/>
              </a:spcAft>
            </a:pPr>
            <a:r>
              <a:rPr sz="6000" b="1" i="0">
                <a:solidFill>
                  <a:srgbClr val="FFFFFF"/>
                </a:solidFill>
                <a:latin typeface="Cambria"/>
              </a:rPr>
              <a:t>CARE-EW</a:t>
            </a:r>
          </a:p>
        </p:txBody>
      </p:sp>
      <p:sp>
        <p:nvSpPr>
          <p:cNvPr id="7" name="TextBox 6"/>
          <p:cNvSpPr txBox="1"/>
          <p:nvPr/>
        </p:nvSpPr>
        <p:spPr>
          <a:xfrm>
            <a:off x="640080" y="2514600"/>
            <a:ext cx="5486400" cy="1371600"/>
          </a:xfrm>
          <a:prstGeom prst="rect">
            <a:avLst/>
          </a:prstGeom>
          <a:noFill/>
        </p:spPr>
        <p:txBody>
          <a:bodyPr wrap="square" anchor="t" lIns="0" rIns="0" tIns="0" bIns="0">
            <a:spAutoFit/>
          </a:bodyPr>
          <a:lstStyle/>
          <a:p>
            <a:pPr algn="l">
              <a:spcAft>
                <a:spcPts val="0"/>
              </a:spcAft>
            </a:pPr>
            <a:r>
              <a:rPr sz="2000" b="0" i="0">
                <a:solidFill>
                  <a:srgbClr val="DCE8E0"/>
                </a:solidFill>
                <a:latin typeface="Calibri"/>
              </a:rPr>
              <a:t>Climate-Adjusted, Resilience-Enhanced Early Warning of persistent land degradation from Sentinel-2 satellite imagery</a:t>
            </a:r>
          </a:p>
        </p:txBody>
      </p:sp>
      <p:sp>
        <p:nvSpPr>
          <p:cNvPr id="8" name="TextBox 7"/>
          <p:cNvSpPr txBox="1"/>
          <p:nvPr/>
        </p:nvSpPr>
        <p:spPr>
          <a:xfrm>
            <a:off x="640080" y="4160520"/>
            <a:ext cx="5486400" cy="1280160"/>
          </a:xfrm>
          <a:prstGeom prst="rect">
            <a:avLst/>
          </a:prstGeom>
          <a:noFill/>
        </p:spPr>
        <p:txBody>
          <a:bodyPr wrap="square" anchor="t" lIns="0" rIns="0" tIns="0" bIns="0">
            <a:spAutoFit/>
          </a:bodyPr>
          <a:lstStyle/>
          <a:p>
            <a:pPr algn="l">
              <a:spcAft>
                <a:spcPts val="400"/>
              </a:spcAft>
            </a:pPr>
            <a:r>
              <a:rPr sz="1500" b="1" i="0">
                <a:solidFill>
                  <a:srgbClr val="FFFFFF"/>
                </a:solidFill>
                <a:latin typeface="Calibri"/>
              </a:rPr>
              <a:t>Ankur Bhattarai</a:t>
            </a:r>
            <a:r>
              <a:rPr sz="1500" b="0" i="0">
                <a:solidFill>
                  <a:srgbClr val="FFFFFF"/>
                </a:solidFill>
                <a:latin typeface="Calibri"/>
              </a:rPr>
              <a:t>  ·  24BCE2954</a:t>
            </a:r>
          </a:p>
          <a:p>
            <a:pPr algn="l">
              <a:spcAft>
                <a:spcPts val="400"/>
              </a:spcAft>
            </a:pPr>
            <a:r>
              <a:rPr sz="1500" b="0" i="0">
                <a:solidFill>
                  <a:srgbClr val="FFFFFF"/>
                </a:solidFill>
                <a:latin typeface="Calibri"/>
              </a:rPr>
              <a:t>Team member 2  ·  ____________</a:t>
            </a:r>
          </a:p>
          <a:p>
            <a:pPr algn="l">
              <a:spcAft>
                <a:spcPts val="400"/>
              </a:spcAft>
            </a:pPr>
            <a:r>
              <a:rPr sz="1500" b="0" i="0">
                <a:solidFill>
                  <a:srgbClr val="FFFFFF"/>
                </a:solidFill>
                <a:latin typeface="Calibri"/>
              </a:rPr>
              <a:t>Team member 3  ·  ____________</a:t>
            </a:r>
          </a:p>
        </p:txBody>
      </p:sp>
      <p:sp>
        <p:nvSpPr>
          <p:cNvPr id="9" name="TextBox 8"/>
          <p:cNvSpPr txBox="1"/>
          <p:nvPr/>
        </p:nvSpPr>
        <p:spPr>
          <a:xfrm>
            <a:off x="640080" y="5623560"/>
            <a:ext cx="5486400" cy="365760"/>
          </a:xfrm>
          <a:prstGeom prst="rect">
            <a:avLst/>
          </a:prstGeom>
          <a:noFill/>
        </p:spPr>
        <p:txBody>
          <a:bodyPr wrap="square" anchor="t" lIns="0" rIns="0" tIns="0" bIns="0">
            <a:spAutoFit/>
          </a:bodyPr>
          <a:lstStyle/>
          <a:p>
            <a:pPr algn="l">
              <a:spcAft>
                <a:spcPts val="0"/>
              </a:spcAft>
            </a:pPr>
            <a:r>
              <a:rPr sz="1300" b="0" i="0">
                <a:solidFill>
                  <a:srgbClr val="9DB3A5"/>
                </a:solidFill>
                <a:latin typeface="Calibri"/>
              </a:rPr>
              <a:t>17 landscapes · 9 countries · 4.29 million pixel-months · 10 m resolution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Key terms 1/2 · satellites, land and GIS</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2</a:t>
            </a:r>
          </a:p>
        </p:txBody>
      </p:sp>
      <p:sp>
        <p:nvSpPr>
          <p:cNvPr id="5" name="Rounded Rectangle 4"/>
          <p:cNvSpPr/>
          <p:nvPr/>
        </p:nvSpPr>
        <p:spPr>
          <a:xfrm>
            <a:off x="502920" y="1051560"/>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8" y="1179576"/>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a:t>
            </a:r>
          </a:p>
        </p:txBody>
      </p:sp>
      <p:sp>
        <p:nvSpPr>
          <p:cNvPr id="7" name="TextBox 6"/>
          <p:cNvSpPr txBox="1"/>
          <p:nvPr/>
        </p:nvSpPr>
        <p:spPr>
          <a:xfrm>
            <a:off x="978408" y="1143000"/>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Remote sensing</a:t>
            </a:r>
          </a:p>
          <a:p>
            <a:pPr algn="l">
              <a:spcAft>
                <a:spcPts val="0"/>
              </a:spcAft>
            </a:pPr>
            <a:r>
              <a:rPr sz="1150" b="0" i="0">
                <a:solidFill>
                  <a:srgbClr val="1E2420"/>
                </a:solidFill>
                <a:latin typeface="Calibri"/>
              </a:rPr>
              <a:t>Measuring the Earth from a distance; here, cameras on satellites.</a:t>
            </a:r>
          </a:p>
        </p:txBody>
      </p:sp>
      <p:sp>
        <p:nvSpPr>
          <p:cNvPr id="8" name="Rounded Rectangle 7"/>
          <p:cNvSpPr/>
          <p:nvPr/>
        </p:nvSpPr>
        <p:spPr>
          <a:xfrm>
            <a:off x="4270248" y="1051560"/>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379976" y="1179576"/>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2</a:t>
            </a:r>
          </a:p>
        </p:txBody>
      </p:sp>
      <p:sp>
        <p:nvSpPr>
          <p:cNvPr id="10" name="TextBox 9"/>
          <p:cNvSpPr txBox="1"/>
          <p:nvPr/>
        </p:nvSpPr>
        <p:spPr>
          <a:xfrm>
            <a:off x="4745736" y="1143000"/>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Sentinel-2</a:t>
            </a:r>
          </a:p>
          <a:p>
            <a:pPr algn="l">
              <a:spcAft>
                <a:spcPts val="0"/>
              </a:spcAft>
            </a:pPr>
            <a:r>
              <a:rPr sz="1150" b="0" i="0">
                <a:solidFill>
                  <a:srgbClr val="1E2420"/>
                </a:solidFill>
                <a:latin typeface="Calibri"/>
              </a:rPr>
              <a:t>European satellite pair imaging all land every ~5 days at 10 m detail in 13 colour bands.</a:t>
            </a:r>
          </a:p>
        </p:txBody>
      </p:sp>
      <p:sp>
        <p:nvSpPr>
          <p:cNvPr id="11" name="Rounded Rectangle 10"/>
          <p:cNvSpPr/>
          <p:nvPr/>
        </p:nvSpPr>
        <p:spPr>
          <a:xfrm>
            <a:off x="8037576" y="1051560"/>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147304" y="1179576"/>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3</a:t>
            </a:r>
          </a:p>
        </p:txBody>
      </p:sp>
      <p:sp>
        <p:nvSpPr>
          <p:cNvPr id="13" name="TextBox 12"/>
          <p:cNvSpPr txBox="1"/>
          <p:nvPr/>
        </p:nvSpPr>
        <p:spPr>
          <a:xfrm>
            <a:off x="8513064" y="1143000"/>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Pixel</a:t>
            </a:r>
          </a:p>
          <a:p>
            <a:pPr algn="l">
              <a:spcAft>
                <a:spcPts val="0"/>
              </a:spcAft>
            </a:pPr>
            <a:r>
              <a:rPr sz="1150" b="0" i="0">
                <a:solidFill>
                  <a:srgbClr val="1E2420"/>
                </a:solidFill>
                <a:latin typeface="Calibri"/>
              </a:rPr>
              <a:t>One 10 m × 10 m square of ground: the unit we make a prediction for.</a:t>
            </a:r>
          </a:p>
        </p:txBody>
      </p:sp>
      <p:sp>
        <p:nvSpPr>
          <p:cNvPr id="14" name="Rounded Rectangle 13"/>
          <p:cNvSpPr/>
          <p:nvPr/>
        </p:nvSpPr>
        <p:spPr>
          <a:xfrm>
            <a:off x="502920" y="1929384"/>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8" y="2057400"/>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4</a:t>
            </a:r>
          </a:p>
        </p:txBody>
      </p:sp>
      <p:sp>
        <p:nvSpPr>
          <p:cNvPr id="16" name="TextBox 15"/>
          <p:cNvSpPr txBox="1"/>
          <p:nvPr/>
        </p:nvSpPr>
        <p:spPr>
          <a:xfrm>
            <a:off x="978408" y="2020824"/>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Spectral band</a:t>
            </a:r>
          </a:p>
          <a:p>
            <a:pPr algn="l">
              <a:spcAft>
                <a:spcPts val="0"/>
              </a:spcAft>
            </a:pPr>
            <a:r>
              <a:rPr sz="1150" b="0" i="0">
                <a:solidFill>
                  <a:srgbClr val="1E2420"/>
                </a:solidFill>
                <a:latin typeface="Calibri"/>
              </a:rPr>
              <a:t>One colour channel the camera records, e.g. red or near-infrared (NIR).</a:t>
            </a:r>
          </a:p>
        </p:txBody>
      </p:sp>
      <p:sp>
        <p:nvSpPr>
          <p:cNvPr id="17" name="Rounded Rectangle 16"/>
          <p:cNvSpPr/>
          <p:nvPr/>
        </p:nvSpPr>
        <p:spPr>
          <a:xfrm>
            <a:off x="4270248" y="1929384"/>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9976" y="2057400"/>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5</a:t>
            </a:r>
          </a:p>
        </p:txBody>
      </p:sp>
      <p:sp>
        <p:nvSpPr>
          <p:cNvPr id="19" name="TextBox 18"/>
          <p:cNvSpPr txBox="1"/>
          <p:nvPr/>
        </p:nvSpPr>
        <p:spPr>
          <a:xfrm>
            <a:off x="4745736" y="2020824"/>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Reflectance (BOA, L2A)</a:t>
            </a:r>
          </a:p>
          <a:p>
            <a:pPr algn="l">
              <a:spcAft>
                <a:spcPts val="0"/>
              </a:spcAft>
            </a:pPr>
            <a:r>
              <a:rPr sz="1150" b="0" i="0">
                <a:solidFill>
                  <a:srgbClr val="1E2420"/>
                </a:solidFill>
                <a:latin typeface="Calibri"/>
              </a:rPr>
              <a:t>Share of sunlight the ground reflects (0–1), corrected for the atmosphere.</a:t>
            </a:r>
          </a:p>
        </p:txBody>
      </p:sp>
      <p:sp>
        <p:nvSpPr>
          <p:cNvPr id="20" name="Rounded Rectangle 19"/>
          <p:cNvSpPr/>
          <p:nvPr/>
        </p:nvSpPr>
        <p:spPr>
          <a:xfrm>
            <a:off x="8037576" y="1929384"/>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4" y="2057400"/>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6</a:t>
            </a:r>
          </a:p>
        </p:txBody>
      </p:sp>
      <p:sp>
        <p:nvSpPr>
          <p:cNvPr id="22" name="TextBox 21"/>
          <p:cNvSpPr txBox="1"/>
          <p:nvPr/>
        </p:nvSpPr>
        <p:spPr>
          <a:xfrm>
            <a:off x="8513064" y="2020824"/>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Cloud mask (SCL)</a:t>
            </a:r>
          </a:p>
          <a:p>
            <a:pPr algn="l">
              <a:spcAft>
                <a:spcPts val="0"/>
              </a:spcAft>
            </a:pPr>
            <a:r>
              <a:rPr sz="1150" b="0" i="0">
                <a:solidFill>
                  <a:srgbClr val="1E2420"/>
                </a:solidFill>
                <a:latin typeface="Calibri"/>
              </a:rPr>
              <a:t>ESA's per-pixel flag for cloud, shadow and snow, so those pixels are dropped.</a:t>
            </a:r>
          </a:p>
        </p:txBody>
      </p:sp>
      <p:sp>
        <p:nvSpPr>
          <p:cNvPr id="23" name="Rounded Rectangle 22"/>
          <p:cNvSpPr/>
          <p:nvPr/>
        </p:nvSpPr>
        <p:spPr>
          <a:xfrm>
            <a:off x="502920" y="2807208"/>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8" y="2935224"/>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7</a:t>
            </a:r>
          </a:p>
        </p:txBody>
      </p:sp>
      <p:sp>
        <p:nvSpPr>
          <p:cNvPr id="25" name="TextBox 24"/>
          <p:cNvSpPr txBox="1"/>
          <p:nvPr/>
        </p:nvSpPr>
        <p:spPr>
          <a:xfrm>
            <a:off x="978408" y="2898648"/>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Monthly composite</a:t>
            </a:r>
          </a:p>
          <a:p>
            <a:pPr algn="l">
              <a:spcAft>
                <a:spcPts val="0"/>
              </a:spcAft>
            </a:pPr>
            <a:r>
              <a:rPr sz="1150" b="0" i="0">
                <a:solidFill>
                  <a:srgbClr val="1E2420"/>
                </a:solidFill>
                <a:latin typeface="Calibri"/>
              </a:rPr>
              <a:t>Median of all clear images in a month: one clean picture per month.</a:t>
            </a:r>
          </a:p>
        </p:txBody>
      </p:sp>
      <p:sp>
        <p:nvSpPr>
          <p:cNvPr id="26" name="Rounded Rectangle 25"/>
          <p:cNvSpPr/>
          <p:nvPr/>
        </p:nvSpPr>
        <p:spPr>
          <a:xfrm>
            <a:off x="4270248" y="2807208"/>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79976" y="2935224"/>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8</a:t>
            </a:r>
          </a:p>
        </p:txBody>
      </p:sp>
      <p:sp>
        <p:nvSpPr>
          <p:cNvPr id="28" name="TextBox 27"/>
          <p:cNvSpPr txBox="1"/>
          <p:nvPr/>
        </p:nvSpPr>
        <p:spPr>
          <a:xfrm>
            <a:off x="4745736" y="2898648"/>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NDVI</a:t>
            </a:r>
          </a:p>
          <a:p>
            <a:pPr algn="l">
              <a:spcAft>
                <a:spcPts val="0"/>
              </a:spcAft>
            </a:pPr>
            <a:r>
              <a:rPr sz="1150" b="0" i="0">
                <a:solidFill>
                  <a:srgbClr val="1E2420"/>
                </a:solidFill>
                <a:latin typeface="Calibri"/>
              </a:rPr>
              <a:t>Greenness index (NIR − Red)/(NIR + Red): bare soil ≈ 0.1, dense crop ≈ 0.8.</a:t>
            </a:r>
          </a:p>
        </p:txBody>
      </p:sp>
      <p:sp>
        <p:nvSpPr>
          <p:cNvPr id="29" name="Rounded Rectangle 28"/>
          <p:cNvSpPr/>
          <p:nvPr/>
        </p:nvSpPr>
        <p:spPr>
          <a:xfrm>
            <a:off x="8037576" y="2807208"/>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47304" y="2935224"/>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9</a:t>
            </a:r>
          </a:p>
        </p:txBody>
      </p:sp>
      <p:sp>
        <p:nvSpPr>
          <p:cNvPr id="31" name="TextBox 30"/>
          <p:cNvSpPr txBox="1"/>
          <p:nvPr/>
        </p:nvSpPr>
        <p:spPr>
          <a:xfrm>
            <a:off x="8513064" y="2898648"/>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NDMI · NBR · BSI</a:t>
            </a:r>
          </a:p>
          <a:p>
            <a:pPr algn="l">
              <a:spcAft>
                <a:spcPts val="0"/>
              </a:spcAft>
            </a:pPr>
            <a:r>
              <a:rPr sz="1150" b="0" i="0">
                <a:solidFill>
                  <a:srgbClr val="1E2420"/>
                </a:solidFill>
                <a:latin typeface="Calibri"/>
              </a:rPr>
              <a:t>Companion indices for leaf moisture, burn scars and bare soil.</a:t>
            </a:r>
          </a:p>
        </p:txBody>
      </p:sp>
      <p:sp>
        <p:nvSpPr>
          <p:cNvPr id="32" name="Rounded Rectangle 31"/>
          <p:cNvSpPr/>
          <p:nvPr/>
        </p:nvSpPr>
        <p:spPr>
          <a:xfrm>
            <a:off x="502920" y="3685031"/>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12648" y="3813047"/>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10</a:t>
            </a:r>
          </a:p>
        </p:txBody>
      </p:sp>
      <p:sp>
        <p:nvSpPr>
          <p:cNvPr id="34" name="TextBox 33"/>
          <p:cNvSpPr txBox="1"/>
          <p:nvPr/>
        </p:nvSpPr>
        <p:spPr>
          <a:xfrm>
            <a:off x="978408" y="3776471"/>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MODIS</a:t>
            </a:r>
          </a:p>
          <a:p>
            <a:pPr algn="l">
              <a:spcAft>
                <a:spcPts val="0"/>
              </a:spcAft>
            </a:pPr>
            <a:r>
              <a:rPr sz="1150" b="0" i="0">
                <a:solidFill>
                  <a:srgbClr val="1E2420"/>
                </a:solidFill>
                <a:latin typeface="Calibri"/>
              </a:rPr>
              <a:t>NASA sensor, coarser (250 m) but imaging since 2000: gives the long history.</a:t>
            </a:r>
          </a:p>
        </p:txBody>
      </p:sp>
      <p:sp>
        <p:nvSpPr>
          <p:cNvPr id="35" name="Rounded Rectangle 34"/>
          <p:cNvSpPr/>
          <p:nvPr/>
        </p:nvSpPr>
        <p:spPr>
          <a:xfrm>
            <a:off x="4270248" y="3685031"/>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379976" y="3813047"/>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11</a:t>
            </a:r>
          </a:p>
        </p:txBody>
      </p:sp>
      <p:sp>
        <p:nvSpPr>
          <p:cNvPr id="37" name="TextBox 36"/>
          <p:cNvSpPr txBox="1"/>
          <p:nvPr/>
        </p:nvSpPr>
        <p:spPr>
          <a:xfrm>
            <a:off x="4745736" y="3776471"/>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ERA5 / ERA5-Land</a:t>
            </a:r>
          </a:p>
          <a:p>
            <a:pPr algn="l">
              <a:spcAft>
                <a:spcPts val="0"/>
              </a:spcAft>
            </a:pPr>
            <a:r>
              <a:rPr sz="1150" b="0" i="0">
                <a:solidFill>
                  <a:srgbClr val="1E2420"/>
                </a:solidFill>
                <a:latin typeface="Calibri"/>
              </a:rPr>
              <a:t>Reanalysis: gap-free global weather (rain, temperature, soil water) from models + observations.</a:t>
            </a:r>
          </a:p>
        </p:txBody>
      </p:sp>
      <p:sp>
        <p:nvSpPr>
          <p:cNvPr id="38" name="Rounded Rectangle 37"/>
          <p:cNvSpPr/>
          <p:nvPr/>
        </p:nvSpPr>
        <p:spPr>
          <a:xfrm>
            <a:off x="8037576" y="3685031"/>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147304" y="3813047"/>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12</a:t>
            </a:r>
          </a:p>
        </p:txBody>
      </p:sp>
      <p:sp>
        <p:nvSpPr>
          <p:cNvPr id="40" name="TextBox 39"/>
          <p:cNvSpPr txBox="1"/>
          <p:nvPr/>
        </p:nvSpPr>
        <p:spPr>
          <a:xfrm>
            <a:off x="8513064" y="3776471"/>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Land cover (WorldCover)</a:t>
            </a:r>
          </a:p>
          <a:p>
            <a:pPr algn="l">
              <a:spcAft>
                <a:spcPts val="0"/>
              </a:spcAft>
            </a:pPr>
            <a:r>
              <a:rPr sz="1150" b="0" i="0">
                <a:solidFill>
                  <a:srgbClr val="1E2420"/>
                </a:solidFill>
                <a:latin typeface="Calibri"/>
              </a:rPr>
              <a:t>ESA 10 m map labelling every pixel tree, shrub, grass, crop, bare …</a:t>
            </a:r>
          </a:p>
        </p:txBody>
      </p:sp>
      <p:sp>
        <p:nvSpPr>
          <p:cNvPr id="41" name="Rounded Rectangle 40"/>
          <p:cNvSpPr/>
          <p:nvPr/>
        </p:nvSpPr>
        <p:spPr>
          <a:xfrm>
            <a:off x="502920" y="4562856"/>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2648" y="4690872"/>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13</a:t>
            </a:r>
          </a:p>
        </p:txBody>
      </p:sp>
      <p:sp>
        <p:nvSpPr>
          <p:cNvPr id="43" name="TextBox 42"/>
          <p:cNvSpPr txBox="1"/>
          <p:nvPr/>
        </p:nvSpPr>
        <p:spPr>
          <a:xfrm>
            <a:off x="978408" y="4654296"/>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DEM</a:t>
            </a:r>
          </a:p>
          <a:p>
            <a:pPr algn="l">
              <a:spcAft>
                <a:spcPts val="0"/>
              </a:spcAft>
            </a:pPr>
            <a:r>
              <a:rPr sz="1150" b="0" i="0">
                <a:solidFill>
                  <a:srgbClr val="1E2420"/>
                </a:solidFill>
                <a:latin typeface="Calibri"/>
              </a:rPr>
              <a:t>Digital elevation model: a map of ground height (NASADEM, 30 m).</a:t>
            </a:r>
          </a:p>
        </p:txBody>
      </p:sp>
      <p:sp>
        <p:nvSpPr>
          <p:cNvPr id="44" name="Rounded Rectangle 43"/>
          <p:cNvSpPr/>
          <p:nvPr/>
        </p:nvSpPr>
        <p:spPr>
          <a:xfrm>
            <a:off x="4270248" y="4562856"/>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379976" y="4690872"/>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14</a:t>
            </a:r>
          </a:p>
        </p:txBody>
      </p:sp>
      <p:sp>
        <p:nvSpPr>
          <p:cNvPr id="46" name="TextBox 45"/>
          <p:cNvSpPr txBox="1"/>
          <p:nvPr/>
        </p:nvSpPr>
        <p:spPr>
          <a:xfrm>
            <a:off x="4745736" y="4654296"/>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GIS</a:t>
            </a:r>
          </a:p>
          <a:p>
            <a:pPr algn="l">
              <a:spcAft>
                <a:spcPts val="0"/>
              </a:spcAft>
            </a:pPr>
            <a:r>
              <a:rPr sz="1150" b="0" i="0">
                <a:solidFill>
                  <a:srgbClr val="1E2420"/>
                </a:solidFill>
                <a:latin typeface="Calibri"/>
              </a:rPr>
              <a:t>Geographic information systems: software and methods for maps and location data.</a:t>
            </a:r>
          </a:p>
        </p:txBody>
      </p:sp>
      <p:sp>
        <p:nvSpPr>
          <p:cNvPr id="47" name="Rounded Rectangle 46"/>
          <p:cNvSpPr/>
          <p:nvPr/>
        </p:nvSpPr>
        <p:spPr>
          <a:xfrm>
            <a:off x="8037576" y="4562856"/>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147304" y="4690872"/>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15</a:t>
            </a:r>
          </a:p>
        </p:txBody>
      </p:sp>
      <p:sp>
        <p:nvSpPr>
          <p:cNvPr id="49" name="TextBox 48"/>
          <p:cNvSpPr txBox="1"/>
          <p:nvPr/>
        </p:nvSpPr>
        <p:spPr>
          <a:xfrm>
            <a:off x="8513064" y="4654296"/>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AOI</a:t>
            </a:r>
          </a:p>
          <a:p>
            <a:pPr algn="l">
              <a:spcAft>
                <a:spcPts val="0"/>
              </a:spcAft>
            </a:pPr>
            <a:r>
              <a:rPr sz="1150" b="0" i="0">
                <a:solidFill>
                  <a:srgbClr val="1E2420"/>
                </a:solidFill>
                <a:latin typeface="Calibri"/>
              </a:rPr>
              <a:t>Area of interest: one 5.12 × 5.12 km study landscape.</a:t>
            </a:r>
          </a:p>
        </p:txBody>
      </p:sp>
      <p:sp>
        <p:nvSpPr>
          <p:cNvPr id="50" name="Rounded Rectangle 49"/>
          <p:cNvSpPr/>
          <p:nvPr/>
        </p:nvSpPr>
        <p:spPr>
          <a:xfrm>
            <a:off x="502920" y="5440679"/>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12648" y="5568695"/>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16</a:t>
            </a:r>
          </a:p>
        </p:txBody>
      </p:sp>
      <p:sp>
        <p:nvSpPr>
          <p:cNvPr id="52" name="TextBox 51"/>
          <p:cNvSpPr txBox="1"/>
          <p:nvPr/>
        </p:nvSpPr>
        <p:spPr>
          <a:xfrm>
            <a:off x="978408" y="5532119"/>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STAC / Planetary Computer</a:t>
            </a:r>
          </a:p>
          <a:p>
            <a:pPr algn="l">
              <a:spcAft>
                <a:spcPts val="0"/>
              </a:spcAft>
            </a:pPr>
            <a:r>
              <a:rPr sz="1150" b="0" i="0">
                <a:solidFill>
                  <a:srgbClr val="1E2420"/>
                </a:solidFill>
                <a:latin typeface="Calibri"/>
              </a:rPr>
              <a:t>Online catalogue and archive we search and download imagery from.</a:t>
            </a:r>
          </a:p>
        </p:txBody>
      </p:sp>
      <p:sp>
        <p:nvSpPr>
          <p:cNvPr id="53" name="Rounded Rectangle 52"/>
          <p:cNvSpPr/>
          <p:nvPr/>
        </p:nvSpPr>
        <p:spPr>
          <a:xfrm>
            <a:off x="4270248" y="5440679"/>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379976" y="5568695"/>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17</a:t>
            </a:r>
          </a:p>
        </p:txBody>
      </p:sp>
      <p:sp>
        <p:nvSpPr>
          <p:cNvPr id="55" name="TextBox 54"/>
          <p:cNvSpPr txBox="1"/>
          <p:nvPr/>
        </p:nvSpPr>
        <p:spPr>
          <a:xfrm>
            <a:off x="4745736" y="5532119"/>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Land degradation</a:t>
            </a:r>
          </a:p>
          <a:p>
            <a:pPr algn="l">
              <a:spcAft>
                <a:spcPts val="0"/>
              </a:spcAft>
            </a:pPr>
            <a:r>
              <a:rPr sz="1150" b="0" i="0">
                <a:solidFill>
                  <a:srgbClr val="1E2420"/>
                </a:solidFill>
                <a:latin typeface="Calibri"/>
              </a:rPr>
              <a:t>Long-lasting loss of the land's ability to grow vegetation and hold soil.</a:t>
            </a:r>
          </a:p>
        </p:txBody>
      </p:sp>
      <p:sp>
        <p:nvSpPr>
          <p:cNvPr id="56" name="Rounded Rectangle 55"/>
          <p:cNvSpPr/>
          <p:nvPr/>
        </p:nvSpPr>
        <p:spPr>
          <a:xfrm>
            <a:off x="8037576" y="5440679"/>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147304" y="5568695"/>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18</a:t>
            </a:r>
          </a:p>
        </p:txBody>
      </p:sp>
      <p:sp>
        <p:nvSpPr>
          <p:cNvPr id="58" name="TextBox 57"/>
          <p:cNvSpPr txBox="1"/>
          <p:nvPr/>
        </p:nvSpPr>
        <p:spPr>
          <a:xfrm>
            <a:off x="8513064" y="5532119"/>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VHR imagery</a:t>
            </a:r>
          </a:p>
          <a:p>
            <a:pPr algn="l">
              <a:spcAft>
                <a:spcPts val="0"/>
              </a:spcAft>
            </a:pPr>
            <a:r>
              <a:rPr sz="1150" b="0" i="0">
                <a:solidFill>
                  <a:srgbClr val="1E2420"/>
                </a:solidFill>
                <a:latin typeface="Calibri"/>
              </a:rPr>
              <a:t>Very-high-resolution (&lt; 1 m) imagery; used to check warnings by eye.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Key terms 2/2 · machine learning and evaluation</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3</a:t>
            </a:r>
          </a:p>
        </p:txBody>
      </p:sp>
      <p:sp>
        <p:nvSpPr>
          <p:cNvPr id="5" name="Rounded Rectangle 4"/>
          <p:cNvSpPr/>
          <p:nvPr/>
        </p:nvSpPr>
        <p:spPr>
          <a:xfrm>
            <a:off x="502920" y="1051560"/>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8" y="1179576"/>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a:t>
            </a:r>
          </a:p>
        </p:txBody>
      </p:sp>
      <p:sp>
        <p:nvSpPr>
          <p:cNvPr id="7" name="TextBox 6"/>
          <p:cNvSpPr txBox="1"/>
          <p:nvPr/>
        </p:nvSpPr>
        <p:spPr>
          <a:xfrm>
            <a:off x="978408" y="1143000"/>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Machine learning (ML)</a:t>
            </a:r>
          </a:p>
          <a:p>
            <a:pPr algn="l">
              <a:spcAft>
                <a:spcPts val="0"/>
              </a:spcAft>
            </a:pPr>
            <a:r>
              <a:rPr sz="1150" b="0" i="0">
                <a:solidFill>
                  <a:srgbClr val="1E2420"/>
                </a:solidFill>
                <a:latin typeface="Calibri"/>
              </a:rPr>
              <a:t>Software that learns a pattern from examples instead of hand-written rules.</a:t>
            </a:r>
          </a:p>
        </p:txBody>
      </p:sp>
      <p:sp>
        <p:nvSpPr>
          <p:cNvPr id="8" name="Rounded Rectangle 7"/>
          <p:cNvSpPr/>
          <p:nvPr/>
        </p:nvSpPr>
        <p:spPr>
          <a:xfrm>
            <a:off x="4270248" y="1051560"/>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379976" y="1179576"/>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2</a:t>
            </a:r>
          </a:p>
        </p:txBody>
      </p:sp>
      <p:sp>
        <p:nvSpPr>
          <p:cNvPr id="10" name="TextBox 9"/>
          <p:cNvSpPr txBox="1"/>
          <p:nvPr/>
        </p:nvSpPr>
        <p:spPr>
          <a:xfrm>
            <a:off x="4745736" y="1143000"/>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Feature</a:t>
            </a:r>
          </a:p>
          <a:p>
            <a:pPr algn="l">
              <a:spcAft>
                <a:spcPts val="0"/>
              </a:spcAft>
            </a:pPr>
            <a:r>
              <a:rPr sz="1150" b="0" i="0">
                <a:solidFill>
                  <a:srgbClr val="1E2420"/>
                </a:solidFill>
                <a:latin typeface="Calibri"/>
              </a:rPr>
              <a:t>One input number per pixel-month, e.g. the 3-month NDVI change. We use 64.</a:t>
            </a:r>
          </a:p>
        </p:txBody>
      </p:sp>
      <p:sp>
        <p:nvSpPr>
          <p:cNvPr id="11" name="Rounded Rectangle 10"/>
          <p:cNvSpPr/>
          <p:nvPr/>
        </p:nvSpPr>
        <p:spPr>
          <a:xfrm>
            <a:off x="8037576" y="1051560"/>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147304" y="1179576"/>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3</a:t>
            </a:r>
          </a:p>
        </p:txBody>
      </p:sp>
      <p:sp>
        <p:nvSpPr>
          <p:cNvPr id="13" name="TextBox 12"/>
          <p:cNvSpPr txBox="1"/>
          <p:nvPr/>
        </p:nvSpPr>
        <p:spPr>
          <a:xfrm>
            <a:off x="8513064" y="1143000"/>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Label (y)</a:t>
            </a:r>
          </a:p>
          <a:p>
            <a:pPr algn="l">
              <a:spcAft>
                <a:spcPts val="0"/>
              </a:spcAft>
            </a:pPr>
            <a:r>
              <a:rPr sz="1150" b="0" i="0">
                <a:solidFill>
                  <a:srgbClr val="1E2420"/>
                </a:solidFill>
                <a:latin typeface="Calibri"/>
              </a:rPr>
              <a:t>The answer to learn: 1 if a persistent decline starts within 6 months, else 0.</a:t>
            </a:r>
          </a:p>
        </p:txBody>
      </p:sp>
      <p:sp>
        <p:nvSpPr>
          <p:cNvPr id="14" name="Rounded Rectangle 13"/>
          <p:cNvSpPr/>
          <p:nvPr/>
        </p:nvSpPr>
        <p:spPr>
          <a:xfrm>
            <a:off x="502920" y="1929384"/>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8" y="2057400"/>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4</a:t>
            </a:r>
          </a:p>
        </p:txBody>
      </p:sp>
      <p:sp>
        <p:nvSpPr>
          <p:cNvPr id="16" name="TextBox 15"/>
          <p:cNvSpPr txBox="1"/>
          <p:nvPr/>
        </p:nvSpPr>
        <p:spPr>
          <a:xfrm>
            <a:off x="978408" y="2020824"/>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Baseline (μ)</a:t>
            </a:r>
          </a:p>
          <a:p>
            <a:pPr algn="l">
              <a:spcAft>
                <a:spcPts val="0"/>
              </a:spcAft>
            </a:pPr>
            <a:r>
              <a:rPr sz="1150" b="0" i="0">
                <a:solidFill>
                  <a:srgbClr val="1E2420"/>
                </a:solidFill>
                <a:latin typeface="Calibri"/>
              </a:rPr>
              <a:t>Normal value for that pixel and calendar month: median over 2017–2020.</a:t>
            </a:r>
          </a:p>
        </p:txBody>
      </p:sp>
      <p:sp>
        <p:nvSpPr>
          <p:cNvPr id="17" name="Rounded Rectangle 16"/>
          <p:cNvSpPr/>
          <p:nvPr/>
        </p:nvSpPr>
        <p:spPr>
          <a:xfrm>
            <a:off x="4270248" y="1929384"/>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9976" y="2057400"/>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5</a:t>
            </a:r>
          </a:p>
        </p:txBody>
      </p:sp>
      <p:sp>
        <p:nvSpPr>
          <p:cNvPr id="19" name="TextBox 18"/>
          <p:cNvSpPr txBox="1"/>
          <p:nvPr/>
        </p:nvSpPr>
        <p:spPr>
          <a:xfrm>
            <a:off x="4745736" y="2020824"/>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Anomaly z-score</a:t>
            </a:r>
          </a:p>
          <a:p>
            <a:pPr algn="l">
              <a:spcAft>
                <a:spcPts val="0"/>
              </a:spcAft>
            </a:pPr>
            <a:r>
              <a:rPr sz="1150" b="0" i="0">
                <a:solidFill>
                  <a:srgbClr val="1E2420"/>
                </a:solidFill>
                <a:latin typeface="Calibri"/>
              </a:rPr>
              <a:t>How many typical deviations this month is from normal: z = (Y − μ)/σ.</a:t>
            </a:r>
          </a:p>
        </p:txBody>
      </p:sp>
      <p:sp>
        <p:nvSpPr>
          <p:cNvPr id="20" name="Rounded Rectangle 19"/>
          <p:cNvSpPr/>
          <p:nvPr/>
        </p:nvSpPr>
        <p:spPr>
          <a:xfrm>
            <a:off x="8037576" y="1929384"/>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4" y="2057400"/>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6</a:t>
            </a:r>
          </a:p>
        </p:txBody>
      </p:sp>
      <p:sp>
        <p:nvSpPr>
          <p:cNvPr id="22" name="TextBox 21"/>
          <p:cNvSpPr txBox="1"/>
          <p:nvPr/>
        </p:nvSpPr>
        <p:spPr>
          <a:xfrm>
            <a:off x="8513064" y="2020824"/>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MAD</a:t>
            </a:r>
          </a:p>
          <a:p>
            <a:pPr algn="l">
              <a:spcAft>
                <a:spcPts val="0"/>
              </a:spcAft>
            </a:pPr>
            <a:r>
              <a:rPr sz="1150" b="0" i="0">
                <a:solidFill>
                  <a:srgbClr val="1E2420"/>
                </a:solidFill>
                <a:latin typeface="Calibri"/>
              </a:rPr>
              <a:t>Median absolute deviation, a robust spread; σ = 1.4826 × MAD.</a:t>
            </a:r>
          </a:p>
        </p:txBody>
      </p:sp>
      <p:sp>
        <p:nvSpPr>
          <p:cNvPr id="23" name="Rounded Rectangle 22"/>
          <p:cNvSpPr/>
          <p:nvPr/>
        </p:nvSpPr>
        <p:spPr>
          <a:xfrm>
            <a:off x="502920" y="2807208"/>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8" y="2935224"/>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7</a:t>
            </a:r>
          </a:p>
        </p:txBody>
      </p:sp>
      <p:sp>
        <p:nvSpPr>
          <p:cNvPr id="25" name="TextBox 24"/>
          <p:cNvSpPr txBox="1"/>
          <p:nvPr/>
        </p:nvSpPr>
        <p:spPr>
          <a:xfrm>
            <a:off x="978408" y="2898648"/>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Residual (R)</a:t>
            </a:r>
          </a:p>
          <a:p>
            <a:pPr algn="l">
              <a:spcAft>
                <a:spcPts val="0"/>
              </a:spcAft>
            </a:pPr>
            <a:r>
              <a:rPr sz="1150" b="0" i="0">
                <a:solidFill>
                  <a:srgbClr val="1E2420"/>
                </a:solidFill>
                <a:latin typeface="Calibri"/>
              </a:rPr>
              <a:t>The part of the anomaly NOT explained by weather or by similar neighbours.</a:t>
            </a:r>
          </a:p>
        </p:txBody>
      </p:sp>
      <p:sp>
        <p:nvSpPr>
          <p:cNvPr id="26" name="Rounded Rectangle 25"/>
          <p:cNvSpPr/>
          <p:nvPr/>
        </p:nvSpPr>
        <p:spPr>
          <a:xfrm>
            <a:off x="4270248" y="2807208"/>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79976" y="2935224"/>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8</a:t>
            </a:r>
          </a:p>
        </p:txBody>
      </p:sp>
      <p:sp>
        <p:nvSpPr>
          <p:cNvPr id="28" name="TextBox 27"/>
          <p:cNvSpPr txBox="1"/>
          <p:nvPr/>
        </p:nvSpPr>
        <p:spPr>
          <a:xfrm>
            <a:off x="4745736" y="2898648"/>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Resilience · AC1</a:t>
            </a:r>
          </a:p>
          <a:p>
            <a:pPr algn="l">
              <a:spcAft>
                <a:spcPts val="0"/>
              </a:spcAft>
            </a:pPr>
            <a:r>
              <a:rPr sz="1150" b="0" i="0">
                <a:solidFill>
                  <a:srgbClr val="1E2420"/>
                </a:solidFill>
                <a:latin typeface="Calibri"/>
              </a:rPr>
              <a:t>How fast land recovers; rising lag-1 autocorrelation = slower recovery = warning sign.</a:t>
            </a:r>
          </a:p>
        </p:txBody>
      </p:sp>
      <p:sp>
        <p:nvSpPr>
          <p:cNvPr id="29" name="Rounded Rectangle 28"/>
          <p:cNvSpPr/>
          <p:nvPr/>
        </p:nvSpPr>
        <p:spPr>
          <a:xfrm>
            <a:off x="8037576" y="2807208"/>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47304" y="2935224"/>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9</a:t>
            </a:r>
          </a:p>
        </p:txBody>
      </p:sp>
      <p:sp>
        <p:nvSpPr>
          <p:cNvPr id="31" name="TextBox 30"/>
          <p:cNvSpPr txBox="1"/>
          <p:nvPr/>
        </p:nvSpPr>
        <p:spPr>
          <a:xfrm>
            <a:off x="8513064" y="2898648"/>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LightGBM</a:t>
            </a:r>
          </a:p>
          <a:p>
            <a:pPr algn="l">
              <a:spcAft>
                <a:spcPts val="0"/>
              </a:spcAft>
            </a:pPr>
            <a:r>
              <a:rPr sz="1150" b="0" i="0">
                <a:solidFill>
                  <a:srgbClr val="1E2420"/>
                </a:solidFill>
                <a:latin typeface="Calibri"/>
              </a:rPr>
              <a:t>Gradient-boosted decision trees: many small trees, each correcting the previous ones.</a:t>
            </a:r>
          </a:p>
        </p:txBody>
      </p:sp>
      <p:sp>
        <p:nvSpPr>
          <p:cNvPr id="32" name="Rounded Rectangle 31"/>
          <p:cNvSpPr/>
          <p:nvPr/>
        </p:nvSpPr>
        <p:spPr>
          <a:xfrm>
            <a:off x="502920" y="3685031"/>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12648" y="3813047"/>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10</a:t>
            </a:r>
          </a:p>
        </p:txBody>
      </p:sp>
      <p:sp>
        <p:nvSpPr>
          <p:cNvPr id="34" name="TextBox 33"/>
          <p:cNvSpPr txBox="1"/>
          <p:nvPr/>
        </p:nvSpPr>
        <p:spPr>
          <a:xfrm>
            <a:off x="978408" y="3776471"/>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Overfitting</a:t>
            </a:r>
          </a:p>
          <a:p>
            <a:pPr algn="l">
              <a:spcAft>
                <a:spcPts val="0"/>
              </a:spcAft>
            </a:pPr>
            <a:r>
              <a:rPr sz="1150" b="0" i="0">
                <a:solidFill>
                  <a:srgbClr val="1E2420"/>
                </a:solidFill>
                <a:latin typeface="Calibri"/>
              </a:rPr>
              <a:t>Memorising training data, so accuracy collapses on new places or years.</a:t>
            </a:r>
          </a:p>
        </p:txBody>
      </p:sp>
      <p:sp>
        <p:nvSpPr>
          <p:cNvPr id="35" name="Rounded Rectangle 34"/>
          <p:cNvSpPr/>
          <p:nvPr/>
        </p:nvSpPr>
        <p:spPr>
          <a:xfrm>
            <a:off x="4270248" y="3685031"/>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379976" y="3813047"/>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11</a:t>
            </a:r>
          </a:p>
        </p:txBody>
      </p:sp>
      <p:sp>
        <p:nvSpPr>
          <p:cNvPr id="37" name="TextBox 36"/>
          <p:cNvSpPr txBox="1"/>
          <p:nvPr/>
        </p:nvSpPr>
        <p:spPr>
          <a:xfrm>
            <a:off x="4745736" y="3776471"/>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Calibration</a:t>
            </a:r>
          </a:p>
          <a:p>
            <a:pPr algn="l">
              <a:spcAft>
                <a:spcPts val="0"/>
              </a:spcAft>
            </a:pPr>
            <a:r>
              <a:rPr sz="1150" b="0" i="0">
                <a:solidFill>
                  <a:srgbClr val="1E2420"/>
                </a:solidFill>
                <a:latin typeface="Calibri"/>
              </a:rPr>
              <a:t>Re-mapping scores so that “0.2” really means a 20 % chance (isotonic regression).</a:t>
            </a:r>
          </a:p>
        </p:txBody>
      </p:sp>
      <p:sp>
        <p:nvSpPr>
          <p:cNvPr id="38" name="Rounded Rectangle 37"/>
          <p:cNvSpPr/>
          <p:nvPr/>
        </p:nvSpPr>
        <p:spPr>
          <a:xfrm>
            <a:off x="8037576" y="3685031"/>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147304" y="3813047"/>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12</a:t>
            </a:r>
          </a:p>
        </p:txBody>
      </p:sp>
      <p:sp>
        <p:nvSpPr>
          <p:cNvPr id="40" name="TextBox 39"/>
          <p:cNvSpPr txBox="1"/>
          <p:nvPr/>
        </p:nvSpPr>
        <p:spPr>
          <a:xfrm>
            <a:off x="8513064" y="3776471"/>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Conformal prediction</a:t>
            </a:r>
          </a:p>
          <a:p>
            <a:pPr algn="l">
              <a:spcAft>
                <a:spcPts val="0"/>
              </a:spcAft>
            </a:pPr>
            <a:r>
              <a:rPr sz="1150" b="0" i="0">
                <a:solidFill>
                  <a:srgbClr val="1E2420"/>
                </a:solidFill>
                <a:latin typeface="Calibri"/>
              </a:rPr>
              <a:t>Adds a guarantee: answer “event”, “no event”, or abstain when unsure.</a:t>
            </a:r>
          </a:p>
        </p:txBody>
      </p:sp>
      <p:sp>
        <p:nvSpPr>
          <p:cNvPr id="41" name="Rounded Rectangle 40"/>
          <p:cNvSpPr/>
          <p:nvPr/>
        </p:nvSpPr>
        <p:spPr>
          <a:xfrm>
            <a:off x="502920" y="4562856"/>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2648" y="4690872"/>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13</a:t>
            </a:r>
          </a:p>
        </p:txBody>
      </p:sp>
      <p:sp>
        <p:nvSpPr>
          <p:cNvPr id="43" name="TextBox 42"/>
          <p:cNvSpPr txBox="1"/>
          <p:nvPr/>
        </p:nvSpPr>
        <p:spPr>
          <a:xfrm>
            <a:off x="978408" y="4654296"/>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SHAP</a:t>
            </a:r>
          </a:p>
          <a:p>
            <a:pPr algn="l">
              <a:spcAft>
                <a:spcPts val="0"/>
              </a:spcAft>
            </a:pPr>
            <a:r>
              <a:rPr sz="1150" b="0" i="0">
                <a:solidFill>
                  <a:srgbClr val="1E2420"/>
                </a:solidFill>
                <a:latin typeface="Calibri"/>
              </a:rPr>
              <a:t>Explains a prediction by how much each feature pushed it up or down.</a:t>
            </a:r>
          </a:p>
        </p:txBody>
      </p:sp>
      <p:sp>
        <p:nvSpPr>
          <p:cNvPr id="44" name="Rounded Rectangle 43"/>
          <p:cNvSpPr/>
          <p:nvPr/>
        </p:nvSpPr>
        <p:spPr>
          <a:xfrm>
            <a:off x="4270248" y="4562856"/>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379976" y="4690872"/>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14</a:t>
            </a:r>
          </a:p>
        </p:txBody>
      </p:sp>
      <p:sp>
        <p:nvSpPr>
          <p:cNvPr id="46" name="TextBox 45"/>
          <p:cNvSpPr txBox="1"/>
          <p:nvPr/>
        </p:nvSpPr>
        <p:spPr>
          <a:xfrm>
            <a:off x="4745736" y="4654296"/>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Spatial block split</a:t>
            </a:r>
          </a:p>
          <a:p>
            <a:pPr algn="l">
              <a:spcAft>
                <a:spcPts val="0"/>
              </a:spcAft>
            </a:pPr>
            <a:r>
              <a:rPr sz="1150" b="0" i="0">
                <a:solidFill>
                  <a:srgbClr val="1E2420"/>
                </a:solidFill>
                <a:latin typeface="Calibri"/>
              </a:rPr>
              <a:t>Test pixels come from 1 km blocks never used in training: no leakage.</a:t>
            </a:r>
          </a:p>
        </p:txBody>
      </p:sp>
      <p:sp>
        <p:nvSpPr>
          <p:cNvPr id="47" name="Rounded Rectangle 46"/>
          <p:cNvSpPr/>
          <p:nvPr/>
        </p:nvSpPr>
        <p:spPr>
          <a:xfrm>
            <a:off x="8037576" y="4562856"/>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147304" y="4690872"/>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15</a:t>
            </a:r>
          </a:p>
        </p:txBody>
      </p:sp>
      <p:sp>
        <p:nvSpPr>
          <p:cNvPr id="49" name="TextBox 48"/>
          <p:cNvSpPr txBox="1"/>
          <p:nvPr/>
        </p:nvSpPr>
        <p:spPr>
          <a:xfrm>
            <a:off x="8513064" y="4654296"/>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Confusion matrix</a:t>
            </a:r>
          </a:p>
          <a:p>
            <a:pPr algn="l">
              <a:spcAft>
                <a:spcPts val="0"/>
              </a:spcAft>
            </a:pPr>
            <a:r>
              <a:rPr sz="1150" b="0" i="0">
                <a:solidFill>
                  <a:srgbClr val="1E2420"/>
                </a:solidFill>
                <a:latin typeface="Calibri"/>
              </a:rPr>
              <a:t>Counts of hits (TP), false alarms (FP), misses (FN), correct no's (TN).</a:t>
            </a:r>
          </a:p>
        </p:txBody>
      </p:sp>
      <p:sp>
        <p:nvSpPr>
          <p:cNvPr id="50" name="Rounded Rectangle 49"/>
          <p:cNvSpPr/>
          <p:nvPr/>
        </p:nvSpPr>
        <p:spPr>
          <a:xfrm>
            <a:off x="502920" y="5440679"/>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12648" y="5568695"/>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16</a:t>
            </a:r>
          </a:p>
        </p:txBody>
      </p:sp>
      <p:sp>
        <p:nvSpPr>
          <p:cNvPr id="52" name="TextBox 51"/>
          <p:cNvSpPr txBox="1"/>
          <p:nvPr/>
        </p:nvSpPr>
        <p:spPr>
          <a:xfrm>
            <a:off x="978408" y="5532119"/>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Precision · Recall</a:t>
            </a:r>
          </a:p>
          <a:p>
            <a:pPr algn="l">
              <a:spcAft>
                <a:spcPts val="0"/>
              </a:spcAft>
            </a:pPr>
            <a:r>
              <a:rPr sz="1150" b="0" i="0">
                <a:solidFill>
                  <a:srgbClr val="1E2420"/>
                </a:solidFill>
                <a:latin typeface="Calibri"/>
              </a:rPr>
              <a:t>Share of warnings that were right · share of real events we caught.</a:t>
            </a:r>
          </a:p>
        </p:txBody>
      </p:sp>
      <p:sp>
        <p:nvSpPr>
          <p:cNvPr id="53" name="Rounded Rectangle 52"/>
          <p:cNvSpPr/>
          <p:nvPr/>
        </p:nvSpPr>
        <p:spPr>
          <a:xfrm>
            <a:off x="4270248" y="5440679"/>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379976" y="5568695"/>
            <a:ext cx="274320" cy="27432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17</a:t>
            </a:r>
          </a:p>
        </p:txBody>
      </p:sp>
      <p:sp>
        <p:nvSpPr>
          <p:cNvPr id="55" name="TextBox 54"/>
          <p:cNvSpPr txBox="1"/>
          <p:nvPr/>
        </p:nvSpPr>
        <p:spPr>
          <a:xfrm>
            <a:off x="4745736" y="5532119"/>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ROC-AUC · PR-AUC</a:t>
            </a:r>
          </a:p>
          <a:p>
            <a:pPr algn="l">
              <a:spcAft>
                <a:spcPts val="0"/>
              </a:spcAft>
            </a:pPr>
            <a:r>
              <a:rPr sz="1150" b="0" i="0">
                <a:solidFill>
                  <a:srgbClr val="1E2420"/>
                </a:solidFill>
                <a:latin typeface="Calibri"/>
              </a:rPr>
              <a:t>Ranking quality over all thresholds; PR-AUC suits rare events like ours.</a:t>
            </a:r>
          </a:p>
        </p:txBody>
      </p:sp>
      <p:sp>
        <p:nvSpPr>
          <p:cNvPr id="56" name="Rounded Rectangle 55"/>
          <p:cNvSpPr/>
          <p:nvPr/>
        </p:nvSpPr>
        <p:spPr>
          <a:xfrm>
            <a:off x="8037576" y="5440679"/>
            <a:ext cx="3611880" cy="80467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147304" y="5568695"/>
            <a:ext cx="274320" cy="27432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mbria"/>
              </a:rPr>
              <a:t>18</a:t>
            </a:r>
          </a:p>
        </p:txBody>
      </p:sp>
      <p:sp>
        <p:nvSpPr>
          <p:cNvPr id="58" name="TextBox 57"/>
          <p:cNvSpPr txBox="1"/>
          <p:nvPr/>
        </p:nvSpPr>
        <p:spPr>
          <a:xfrm>
            <a:off x="8513064" y="5532119"/>
            <a:ext cx="3044952" cy="667512"/>
          </a:xfrm>
          <a:prstGeom prst="rect">
            <a:avLst/>
          </a:prstGeom>
          <a:noFill/>
        </p:spPr>
        <p:txBody>
          <a:bodyPr wrap="square" anchor="t" lIns="0" rIns="0" tIns="0" bIns="0">
            <a:spAutoFit/>
          </a:bodyPr>
          <a:lstStyle/>
          <a:p>
            <a:pPr algn="l">
              <a:spcAft>
                <a:spcPts val="0"/>
              </a:spcAft>
            </a:pPr>
            <a:r>
              <a:rPr sz="1300" b="1" i="0">
                <a:solidFill>
                  <a:srgbClr val="15291C"/>
                </a:solidFill>
                <a:latin typeface="Calibri"/>
              </a:rPr>
              <a:t>Base rate · Lift</a:t>
            </a:r>
          </a:p>
          <a:p>
            <a:pPr algn="l">
              <a:spcAft>
                <a:spcPts val="0"/>
              </a:spcAft>
            </a:pPr>
            <a:r>
              <a:rPr sz="1150" b="0" i="0">
                <a:solidFill>
                  <a:srgbClr val="1E2420"/>
                </a:solidFill>
                <a:latin typeface="Calibri"/>
              </a:rPr>
              <a:t>Share of positives (2.5 %); lift = PR-AUC ÷ base rate = × better than chance.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Why an early warning, not another damage map</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4</a:t>
            </a:r>
          </a:p>
        </p:txBody>
      </p:sp>
      <p:sp>
        <p:nvSpPr>
          <p:cNvPr id="5" name="Rounded Rectangle 4"/>
          <p:cNvSpPr/>
          <p:nvPr/>
        </p:nvSpPr>
        <p:spPr>
          <a:xfrm>
            <a:off x="502920" y="1143000"/>
            <a:ext cx="5760720" cy="107899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58368" y="1444752"/>
            <a:ext cx="475488" cy="47548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1</a:t>
            </a:r>
          </a:p>
        </p:txBody>
      </p:sp>
      <p:sp>
        <p:nvSpPr>
          <p:cNvPr id="7" name="TextBox 6"/>
          <p:cNvSpPr txBox="1"/>
          <p:nvPr/>
        </p:nvSpPr>
        <p:spPr>
          <a:xfrm>
            <a:off x="1298448" y="1234440"/>
            <a:ext cx="4846320" cy="914400"/>
          </a:xfrm>
          <a:prstGeom prst="rect">
            <a:avLst/>
          </a:prstGeom>
          <a:noFill/>
        </p:spPr>
        <p:txBody>
          <a:bodyPr wrap="square" anchor="t" lIns="0" rIns="0" tIns="0" bIns="0">
            <a:spAutoFit/>
          </a:bodyPr>
          <a:lstStyle/>
          <a:p>
            <a:pPr algn="l">
              <a:spcAft>
                <a:spcPts val="0"/>
              </a:spcAft>
            </a:pPr>
            <a:r>
              <a:rPr sz="1600" b="1" i="0">
                <a:solidFill>
                  <a:srgbClr val="15291C"/>
                </a:solidFill>
                <a:latin typeface="Calibri"/>
              </a:rPr>
              <a:t>The problem</a:t>
            </a:r>
          </a:p>
          <a:p>
            <a:pPr algn="l">
              <a:spcAft>
                <a:spcPts val="0"/>
              </a:spcAft>
            </a:pPr>
            <a:r>
              <a:rPr sz="1400" b="0" i="0">
                <a:solidFill>
                  <a:srgbClr val="1E2420"/>
                </a:solidFill>
                <a:latin typeface="Calibri"/>
              </a:rPr>
              <a:t>Over-grazing, mining, clearing and erosion strip vegetation slowly. When it is obvious, recovery is slow and expensive.</a:t>
            </a:r>
          </a:p>
        </p:txBody>
      </p:sp>
      <p:sp>
        <p:nvSpPr>
          <p:cNvPr id="8" name="Rounded Rectangle 7"/>
          <p:cNvSpPr/>
          <p:nvPr/>
        </p:nvSpPr>
        <p:spPr>
          <a:xfrm>
            <a:off x="502920" y="2359152"/>
            <a:ext cx="5760720" cy="107899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660904"/>
            <a:ext cx="475488" cy="475488"/>
          </a:xfrm>
          <a:prstGeom prst="ellipse">
            <a:avLst/>
          </a:prstGeom>
          <a:solidFill>
            <a:srgbClr val="5E6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2</a:t>
            </a:r>
          </a:p>
        </p:txBody>
      </p:sp>
      <p:sp>
        <p:nvSpPr>
          <p:cNvPr id="10" name="TextBox 9"/>
          <p:cNvSpPr txBox="1"/>
          <p:nvPr/>
        </p:nvSpPr>
        <p:spPr>
          <a:xfrm>
            <a:off x="1298448" y="2450592"/>
            <a:ext cx="4846320" cy="914400"/>
          </a:xfrm>
          <a:prstGeom prst="rect">
            <a:avLst/>
          </a:prstGeom>
          <a:noFill/>
        </p:spPr>
        <p:txBody>
          <a:bodyPr wrap="square" anchor="t" lIns="0" rIns="0" tIns="0" bIns="0">
            <a:spAutoFit/>
          </a:bodyPr>
          <a:lstStyle/>
          <a:p>
            <a:pPr algn="l">
              <a:spcAft>
                <a:spcPts val="0"/>
              </a:spcAft>
            </a:pPr>
            <a:r>
              <a:rPr sz="1600" b="1" i="0">
                <a:solidFill>
                  <a:srgbClr val="15291C"/>
                </a:solidFill>
                <a:latin typeface="Calibri"/>
              </a:rPr>
              <a:t>The gap</a:t>
            </a:r>
          </a:p>
          <a:p>
            <a:pPr algn="l">
              <a:spcAft>
                <a:spcPts val="0"/>
              </a:spcAft>
            </a:pPr>
            <a:r>
              <a:rPr sz="1400" b="0" i="0">
                <a:solidFill>
                  <a:srgbClr val="1E2420"/>
                </a:solidFill>
                <a:latin typeface="Calibri"/>
              </a:rPr>
              <a:t>Common tools (e.g. SDG 15.3.1 trend maps) report damage after it happened, at 250 m–1 km, and struggle to separate drought from human-driven decline.</a:t>
            </a:r>
          </a:p>
        </p:txBody>
      </p:sp>
      <p:sp>
        <p:nvSpPr>
          <p:cNvPr id="11" name="Rounded Rectangle 10"/>
          <p:cNvSpPr/>
          <p:nvPr/>
        </p:nvSpPr>
        <p:spPr>
          <a:xfrm>
            <a:off x="502920" y="3575304"/>
            <a:ext cx="5760720" cy="1078992"/>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3877056"/>
            <a:ext cx="475488" cy="475488"/>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3</a:t>
            </a:r>
          </a:p>
        </p:txBody>
      </p:sp>
      <p:sp>
        <p:nvSpPr>
          <p:cNvPr id="13" name="TextBox 12"/>
          <p:cNvSpPr txBox="1"/>
          <p:nvPr/>
        </p:nvSpPr>
        <p:spPr>
          <a:xfrm>
            <a:off x="1298448" y="3666744"/>
            <a:ext cx="4846320" cy="914400"/>
          </a:xfrm>
          <a:prstGeom prst="rect">
            <a:avLst/>
          </a:prstGeom>
          <a:noFill/>
        </p:spPr>
        <p:txBody>
          <a:bodyPr wrap="square" anchor="t" lIns="0" rIns="0" tIns="0" bIns="0">
            <a:spAutoFit/>
          </a:bodyPr>
          <a:lstStyle/>
          <a:p>
            <a:pPr algn="l">
              <a:spcAft>
                <a:spcPts val="0"/>
              </a:spcAft>
            </a:pPr>
            <a:r>
              <a:rPr sz="1600" b="1" i="0">
                <a:solidFill>
                  <a:srgbClr val="15291C"/>
                </a:solidFill>
                <a:latin typeface="Calibri"/>
              </a:rPr>
              <a:t>Our aim</a:t>
            </a:r>
          </a:p>
          <a:p>
            <a:pPr algn="l">
              <a:spcAft>
                <a:spcPts val="0"/>
              </a:spcAft>
            </a:pPr>
            <a:r>
              <a:rPr sz="1400" b="0" i="0">
                <a:solidFill>
                  <a:srgbClr val="1E2420"/>
                </a:solidFill>
                <a:latin typeface="Calibri"/>
              </a:rPr>
              <a:t>For every 10 m pixel and month, the probability that a persistent decline starts in the next 6 months, after removing what the weather explains, plus an honest “not sure”.</a:t>
            </a:r>
          </a:p>
        </p:txBody>
      </p:sp>
      <p:sp>
        <p:nvSpPr>
          <p:cNvPr id="14" name="Rounded Rectangle 13"/>
          <p:cNvSpPr/>
          <p:nvPr/>
        </p:nvSpPr>
        <p:spPr>
          <a:xfrm>
            <a:off x="502920" y="4846320"/>
            <a:ext cx="5760720" cy="150876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496519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6" name="TextBox 15"/>
          <p:cNvSpPr txBox="1"/>
          <p:nvPr/>
        </p:nvSpPr>
        <p:spPr>
          <a:xfrm>
            <a:off x="1005840" y="4956048"/>
            <a:ext cx="512064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7" name="TextBox 16"/>
          <p:cNvSpPr txBox="1"/>
          <p:nvPr/>
        </p:nvSpPr>
        <p:spPr>
          <a:xfrm>
            <a:off x="640080" y="5349240"/>
            <a:ext cx="5486400" cy="91439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Persistent — </a:t>
            </a:r>
            <a:r>
              <a:rPr sz="1200" b="0" i="0">
                <a:solidFill>
                  <a:srgbClr val="1E2420"/>
                </a:solidFill>
                <a:latin typeface="Calibri"/>
              </a:rPr>
              <a:t>below expectation for ≥ 6 months in a row, not a single bad month</a:t>
            </a:r>
          </a:p>
          <a:p>
            <a:pPr algn="l">
              <a:spcAft>
                <a:spcPts val="500"/>
              </a:spcAft>
            </a:pPr>
            <a:r>
              <a:rPr sz="1200" b="1" i="0">
                <a:solidFill>
                  <a:srgbClr val="2E6B3F"/>
                </a:solidFill>
                <a:latin typeface="Calibri"/>
              </a:rPr>
              <a:t>Early warning — </a:t>
            </a:r>
            <a:r>
              <a:rPr sz="1200" b="0" i="0">
                <a:solidFill>
                  <a:srgbClr val="1E2420"/>
                </a:solidFill>
                <a:latin typeface="Calibri"/>
              </a:rPr>
              <a:t>a forecast issued before the decline starts (here up to 6 months)</a:t>
            </a:r>
          </a:p>
        </p:txBody>
      </p:sp>
      <p:pic>
        <p:nvPicPr>
          <p:cNvPr id="18" name="Picture 17" descr="risk_maps.png"/>
          <p:cNvPicPr>
            <a:picLocks noChangeAspect="1"/>
          </p:cNvPicPr>
          <p:nvPr/>
        </p:nvPicPr>
        <p:blipFill>
          <a:blip r:embed="rId3"/>
          <a:stretch>
            <a:fillRect/>
          </a:stretch>
        </p:blipFill>
        <p:spPr>
          <a:xfrm>
            <a:off x="6583680" y="1105486"/>
            <a:ext cx="5120640" cy="5104227"/>
          </a:xfrm>
          <a:prstGeom prst="rect">
            <a:avLst/>
          </a:prstGeom>
        </p:spPr>
      </p:pic>
      <p:sp>
        <p:nvSpPr>
          <p:cNvPr id="19" name="TextBox 18"/>
          <p:cNvSpPr txBox="1"/>
          <p:nvPr/>
        </p:nvSpPr>
        <p:spPr>
          <a:xfrm>
            <a:off x="6583680" y="6228001"/>
            <a:ext cx="512064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Predicted risk maps, nine study areas, Sept 2026 (red = higher probability)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17 landscapes, 9 countries, 7 open data sources</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5</a:t>
            </a:r>
          </a:p>
        </p:txBody>
      </p:sp>
      <p:pic>
        <p:nvPicPr>
          <p:cNvPr id="5" name="Picture 4" descr="fig01_study_areas.png"/>
          <p:cNvPicPr>
            <a:picLocks noChangeAspect="1"/>
          </p:cNvPicPr>
          <p:nvPr/>
        </p:nvPicPr>
        <p:blipFill>
          <a:blip r:embed="rId3"/>
          <a:stretch>
            <a:fillRect/>
          </a:stretch>
        </p:blipFill>
        <p:spPr>
          <a:xfrm>
            <a:off x="411480" y="1206944"/>
            <a:ext cx="6035040" cy="2981071"/>
          </a:xfrm>
          <a:prstGeom prst="rect">
            <a:avLst/>
          </a:prstGeom>
        </p:spPr>
      </p:pic>
      <p:sp>
        <p:nvSpPr>
          <p:cNvPr id="6" name="TextBox 5"/>
          <p:cNvSpPr txBox="1"/>
          <p:nvPr/>
        </p:nvSpPr>
        <p:spPr>
          <a:xfrm>
            <a:off x="502920" y="4206303"/>
            <a:ext cx="58521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Study areas (Nepal and India hold 9 of the 17 sites)</a:t>
            </a:r>
          </a:p>
        </p:txBody>
      </p:sp>
      <p:graphicFrame>
        <p:nvGraphicFramePr>
          <p:cNvPr id="7" name="Table 6"/>
          <p:cNvGraphicFramePr>
            <a:graphicFrameLocks noGrp="1"/>
          </p:cNvGraphicFramePr>
          <p:nvPr/>
        </p:nvGraphicFramePr>
        <p:xfrm>
          <a:off x="6629400" y="1097280"/>
          <a:ext cx="5074920" cy="2926080"/>
        </p:xfrm>
        <a:graphic>
          <a:graphicData uri="http://schemas.openxmlformats.org/drawingml/2006/table">
            <a:tbl>
              <a:tblPr firstRow="1" bandRow="1">
                <a:tableStyleId>{5C22544A-7EE6-4342-B048-85BDC9FD1C3A}</a:tableStyleId>
              </a:tblPr>
              <a:tblGrid>
                <a:gridCol w="1691640"/>
                <a:gridCol w="2103120"/>
                <a:gridCol w="1280160"/>
              </a:tblGrid>
              <a:tr h="365760">
                <a:tc>
                  <a:txBody>
                    <a:bodyPr/>
                    <a:lstStyle/>
                    <a:p>
                      <a:r>
                        <a:rPr sz="1200" b="1">
                          <a:solidFill>
                            <a:srgbClr val="FFFFFF"/>
                          </a:solidFill>
                          <a:latin typeface="Calibri"/>
                        </a:rPr>
                        <a:t>Source</a:t>
                      </a:r>
                    </a:p>
                  </a:txBody>
                  <a:tcPr marL="54864" marR="54864" marT="18288" marB="18288" anchor="ctr">
                    <a:solidFill>
                      <a:srgbClr val="2E6B3F"/>
                    </a:solidFill>
                  </a:tcPr>
                </a:tc>
                <a:tc>
                  <a:txBody>
                    <a:bodyPr/>
                    <a:lstStyle/>
                    <a:p>
                      <a:r>
                        <a:rPr sz="1200" b="1">
                          <a:solidFill>
                            <a:srgbClr val="FFFFFF"/>
                          </a:solidFill>
                          <a:latin typeface="Calibri"/>
                        </a:rPr>
                        <a:t>What we use</a:t>
                      </a:r>
                    </a:p>
                  </a:txBody>
                  <a:tcPr marL="54864" marR="54864" marT="18288" marB="18288" anchor="ctr">
                    <a:solidFill>
                      <a:srgbClr val="2E6B3F"/>
                    </a:solidFill>
                  </a:tcPr>
                </a:tc>
                <a:tc>
                  <a:txBody>
                    <a:bodyPr/>
                    <a:lstStyle/>
                    <a:p>
                      <a:r>
                        <a:rPr sz="1200" b="1">
                          <a:solidFill>
                            <a:srgbClr val="FFFFFF"/>
                          </a:solidFill>
                          <a:latin typeface="Calibri"/>
                        </a:rPr>
                        <a:t>Detail</a:t>
                      </a:r>
                    </a:p>
                  </a:txBody>
                  <a:tcPr marL="54864" marR="54864" marT="18288" marB="18288" anchor="ctr">
                    <a:solidFill>
                      <a:srgbClr val="2E6B3F"/>
                    </a:solidFill>
                  </a:tcPr>
                </a:tc>
              </a:tr>
              <a:tr h="365760">
                <a:tc>
                  <a:txBody>
                    <a:bodyPr/>
                    <a:lstStyle/>
                    <a:p>
                      <a:r>
                        <a:rPr sz="1200" b="0">
                          <a:solidFill>
                            <a:srgbClr val="1E2420"/>
                          </a:solidFill>
                          <a:latin typeface="Calibri"/>
                        </a:rPr>
                        <a:t>Sentinel-2 L2A</a:t>
                      </a:r>
                    </a:p>
                  </a:txBody>
                  <a:tcPr marL="54864" marR="54864" marT="18288" marB="18288" anchor="ctr">
                    <a:solidFill>
                      <a:srgbClr val="F4F6F5"/>
                    </a:solidFill>
                  </a:tcPr>
                </a:tc>
                <a:tc>
                  <a:txBody>
                    <a:bodyPr/>
                    <a:lstStyle/>
                    <a:p>
                      <a:r>
                        <a:rPr sz="1200" b="0">
                          <a:solidFill>
                            <a:srgbClr val="1E2420"/>
                          </a:solidFill>
                          <a:latin typeface="Calibri"/>
                        </a:rPr>
                        <a:t>NDVI, NDMI, NBR, BSI</a:t>
                      </a:r>
                    </a:p>
                  </a:txBody>
                  <a:tcPr marL="54864" marR="54864" marT="18288" marB="18288" anchor="ctr">
                    <a:solidFill>
                      <a:srgbClr val="F4F6F5"/>
                    </a:solidFill>
                  </a:tcPr>
                </a:tc>
                <a:tc>
                  <a:txBody>
                    <a:bodyPr/>
                    <a:lstStyle/>
                    <a:p>
                      <a:r>
                        <a:rPr sz="1200" b="0">
                          <a:solidFill>
                            <a:srgbClr val="1E2420"/>
                          </a:solidFill>
                          <a:latin typeface="Calibri"/>
                        </a:rPr>
                        <a:t>10 m, 2017–2026</a:t>
                      </a:r>
                    </a:p>
                  </a:txBody>
                  <a:tcPr marL="54864" marR="54864" marT="18288" marB="18288" anchor="ctr">
                    <a:solidFill>
                      <a:srgbClr val="F4F6F5"/>
                    </a:solidFill>
                  </a:tcPr>
                </a:tc>
              </a:tr>
              <a:tr h="365760">
                <a:tc>
                  <a:txBody>
                    <a:bodyPr/>
                    <a:lstStyle/>
                    <a:p>
                      <a:r>
                        <a:rPr sz="1200" b="0">
                          <a:solidFill>
                            <a:srgbClr val="1E2420"/>
                          </a:solidFill>
                          <a:latin typeface="Calibri"/>
                        </a:rPr>
                        <a:t>MODIS MOD13Q1</a:t>
                      </a:r>
                    </a:p>
                  </a:txBody>
                  <a:tcPr marL="54864" marR="54864" marT="18288" marB="18288" anchor="ctr">
                    <a:solidFill>
                      <a:srgbClr val="FFFFFF"/>
                    </a:solidFill>
                  </a:tcPr>
                </a:tc>
                <a:tc>
                  <a:txBody>
                    <a:bodyPr/>
                    <a:lstStyle/>
                    <a:p>
                      <a:r>
                        <a:rPr sz="1200" b="0">
                          <a:solidFill>
                            <a:srgbClr val="1E2420"/>
                          </a:solidFill>
                          <a:latin typeface="Calibri"/>
                        </a:rPr>
                        <a:t>NDVI history</a:t>
                      </a:r>
                    </a:p>
                  </a:txBody>
                  <a:tcPr marL="54864" marR="54864" marT="18288" marB="18288" anchor="ctr">
                    <a:solidFill>
                      <a:srgbClr val="FFFFFF"/>
                    </a:solidFill>
                  </a:tcPr>
                </a:tc>
                <a:tc>
                  <a:txBody>
                    <a:bodyPr/>
                    <a:lstStyle/>
                    <a:p>
                      <a:r>
                        <a:rPr sz="1200" b="0">
                          <a:solidFill>
                            <a:srgbClr val="1E2420"/>
                          </a:solidFill>
                          <a:latin typeface="Calibri"/>
                        </a:rPr>
                        <a:t>250 m, 2000–</a:t>
                      </a:r>
                    </a:p>
                  </a:txBody>
                  <a:tcPr marL="54864" marR="54864" marT="18288" marB="18288" anchor="ctr">
                    <a:solidFill>
                      <a:srgbClr val="FFFFFF"/>
                    </a:solidFill>
                  </a:tcPr>
                </a:tc>
              </a:tr>
              <a:tr h="365760">
                <a:tc>
                  <a:txBody>
                    <a:bodyPr/>
                    <a:lstStyle/>
                    <a:p>
                      <a:r>
                        <a:rPr sz="1200" b="0">
                          <a:solidFill>
                            <a:srgbClr val="1E2420"/>
                          </a:solidFill>
                          <a:latin typeface="Calibri"/>
                        </a:rPr>
                        <a:t>ERA5 / ERA5-Land</a:t>
                      </a:r>
                    </a:p>
                  </a:txBody>
                  <a:tcPr marL="54864" marR="54864" marT="18288" marB="18288" anchor="ctr">
                    <a:solidFill>
                      <a:srgbClr val="F4F6F5"/>
                    </a:solidFill>
                  </a:tcPr>
                </a:tc>
                <a:tc>
                  <a:txBody>
                    <a:bodyPr/>
                    <a:lstStyle/>
                    <a:p>
                      <a:r>
                        <a:rPr sz="1200" b="0">
                          <a:solidFill>
                            <a:srgbClr val="1E2420"/>
                          </a:solidFill>
                          <a:latin typeface="Calibri"/>
                        </a:rPr>
                        <a:t>rain, temperature, soil water</a:t>
                      </a:r>
                    </a:p>
                  </a:txBody>
                  <a:tcPr marL="54864" marR="54864" marT="18288" marB="18288" anchor="ctr">
                    <a:solidFill>
                      <a:srgbClr val="F4F6F5"/>
                    </a:solidFill>
                  </a:tcPr>
                </a:tc>
                <a:tc>
                  <a:txBody>
                    <a:bodyPr/>
                    <a:lstStyle/>
                    <a:p>
                      <a:r>
                        <a:rPr sz="1200" b="0">
                          <a:solidFill>
                            <a:srgbClr val="1E2420"/>
                          </a:solidFill>
                          <a:latin typeface="Calibri"/>
                        </a:rPr>
                        <a:t>9–31 km</a:t>
                      </a:r>
                    </a:p>
                  </a:txBody>
                  <a:tcPr marL="54864" marR="54864" marT="18288" marB="18288" anchor="ctr">
                    <a:solidFill>
                      <a:srgbClr val="F4F6F5"/>
                    </a:solidFill>
                  </a:tcPr>
                </a:tc>
              </a:tr>
              <a:tr h="365760">
                <a:tc>
                  <a:txBody>
                    <a:bodyPr/>
                    <a:lstStyle/>
                    <a:p>
                      <a:r>
                        <a:rPr sz="1200" b="0">
                          <a:solidFill>
                            <a:srgbClr val="1E2420"/>
                          </a:solidFill>
                          <a:latin typeface="Calibri"/>
                        </a:rPr>
                        <a:t>ESA WorldCover</a:t>
                      </a:r>
                    </a:p>
                  </a:txBody>
                  <a:tcPr marL="54864" marR="54864" marT="18288" marB="18288" anchor="ctr">
                    <a:solidFill>
                      <a:srgbClr val="FFFFFF"/>
                    </a:solidFill>
                  </a:tcPr>
                </a:tc>
                <a:tc>
                  <a:txBody>
                    <a:bodyPr/>
                    <a:lstStyle/>
                    <a:p>
                      <a:r>
                        <a:rPr sz="1200" b="0">
                          <a:solidFill>
                            <a:srgbClr val="1E2420"/>
                          </a:solidFill>
                          <a:latin typeface="Calibri"/>
                        </a:rPr>
                        <a:t>land-cover class</a:t>
                      </a:r>
                    </a:p>
                  </a:txBody>
                  <a:tcPr marL="54864" marR="54864" marT="18288" marB="18288" anchor="ctr">
                    <a:solidFill>
                      <a:srgbClr val="FFFFFF"/>
                    </a:solidFill>
                  </a:tcPr>
                </a:tc>
                <a:tc>
                  <a:txBody>
                    <a:bodyPr/>
                    <a:lstStyle/>
                    <a:p>
                      <a:r>
                        <a:rPr sz="1200" b="0">
                          <a:solidFill>
                            <a:srgbClr val="1E2420"/>
                          </a:solidFill>
                          <a:latin typeface="Calibri"/>
                        </a:rPr>
                        <a:t>10 m</a:t>
                      </a:r>
                    </a:p>
                  </a:txBody>
                  <a:tcPr marL="54864" marR="54864" marT="18288" marB="18288" anchor="ctr">
                    <a:solidFill>
                      <a:srgbClr val="FFFFFF"/>
                    </a:solidFill>
                  </a:tcPr>
                </a:tc>
              </a:tr>
              <a:tr h="365760">
                <a:tc>
                  <a:txBody>
                    <a:bodyPr/>
                    <a:lstStyle/>
                    <a:p>
                      <a:r>
                        <a:rPr sz="1200" b="0">
                          <a:solidFill>
                            <a:srgbClr val="1E2420"/>
                          </a:solidFill>
                          <a:latin typeface="Calibri"/>
                        </a:rPr>
                        <a:t>NASADEM</a:t>
                      </a:r>
                    </a:p>
                  </a:txBody>
                  <a:tcPr marL="54864" marR="54864" marT="18288" marB="18288" anchor="ctr">
                    <a:solidFill>
                      <a:srgbClr val="F4F6F5"/>
                    </a:solidFill>
                  </a:tcPr>
                </a:tc>
                <a:tc>
                  <a:txBody>
                    <a:bodyPr/>
                    <a:lstStyle/>
                    <a:p>
                      <a:r>
                        <a:rPr sz="1200" b="0">
                          <a:solidFill>
                            <a:srgbClr val="1E2420"/>
                          </a:solidFill>
                          <a:latin typeface="Calibri"/>
                        </a:rPr>
                        <a:t>elevation, slope</a:t>
                      </a:r>
                    </a:p>
                  </a:txBody>
                  <a:tcPr marL="54864" marR="54864" marT="18288" marB="18288" anchor="ctr">
                    <a:solidFill>
                      <a:srgbClr val="F4F6F5"/>
                    </a:solidFill>
                  </a:tcPr>
                </a:tc>
                <a:tc>
                  <a:txBody>
                    <a:bodyPr/>
                    <a:lstStyle/>
                    <a:p>
                      <a:r>
                        <a:rPr sz="1200" b="0">
                          <a:solidFill>
                            <a:srgbClr val="1E2420"/>
                          </a:solidFill>
                          <a:latin typeface="Calibri"/>
                        </a:rPr>
                        <a:t>30 m</a:t>
                      </a:r>
                    </a:p>
                  </a:txBody>
                  <a:tcPr marL="54864" marR="54864" marT="18288" marB="18288" anchor="ctr">
                    <a:solidFill>
                      <a:srgbClr val="F4F6F5"/>
                    </a:solidFill>
                  </a:tcPr>
                </a:tc>
              </a:tr>
              <a:tr h="365760">
                <a:tc>
                  <a:txBody>
                    <a:bodyPr/>
                    <a:lstStyle/>
                    <a:p>
                      <a:r>
                        <a:rPr sz="1200" b="0">
                          <a:solidFill>
                            <a:srgbClr val="1E2420"/>
                          </a:solidFill>
                          <a:latin typeface="Calibri"/>
                        </a:rPr>
                        <a:t>JRC water · HydroRIVERS</a:t>
                      </a:r>
                    </a:p>
                  </a:txBody>
                  <a:tcPr marL="54864" marR="54864" marT="18288" marB="18288" anchor="ctr">
                    <a:solidFill>
                      <a:srgbClr val="FFFFFF"/>
                    </a:solidFill>
                  </a:tcPr>
                </a:tc>
                <a:tc>
                  <a:txBody>
                    <a:bodyPr/>
                    <a:lstStyle/>
                    <a:p>
                      <a:r>
                        <a:rPr sz="1200" b="0">
                          <a:solidFill>
                            <a:srgbClr val="1E2420"/>
                          </a:solidFill>
                          <a:latin typeface="Calibri"/>
                        </a:rPr>
                        <a:t>distance to water, rivers</a:t>
                      </a:r>
                    </a:p>
                  </a:txBody>
                  <a:tcPr marL="54864" marR="54864" marT="18288" marB="18288" anchor="ctr">
                    <a:solidFill>
                      <a:srgbClr val="FFFFFF"/>
                    </a:solidFill>
                  </a:tcPr>
                </a:tc>
                <a:tc>
                  <a:txBody>
                    <a:bodyPr/>
                    <a:lstStyle/>
                    <a:p>
                      <a:r>
                        <a:rPr sz="1200" b="0">
                          <a:solidFill>
                            <a:srgbClr val="1E2420"/>
                          </a:solidFill>
                          <a:latin typeface="Calibri"/>
                        </a:rPr>
                        <a:t>30 m / vector</a:t>
                      </a:r>
                    </a:p>
                  </a:txBody>
                  <a:tcPr marL="54864" marR="54864" marT="18288" marB="18288" anchor="ctr">
                    <a:solidFill>
                      <a:srgbClr val="FFFFFF"/>
                    </a:solidFill>
                  </a:tcPr>
                </a:tc>
              </a:tr>
              <a:tr h="365760">
                <a:tc>
                  <a:txBody>
                    <a:bodyPr/>
                    <a:lstStyle/>
                    <a:p>
                      <a:r>
                        <a:rPr sz="1200" b="0">
                          <a:solidFill>
                            <a:srgbClr val="1E2420"/>
                          </a:solidFill>
                          <a:latin typeface="Calibri"/>
                        </a:rPr>
                        <a:t>GloFAS</a:t>
                      </a:r>
                    </a:p>
                  </a:txBody>
                  <a:tcPr marL="54864" marR="54864" marT="18288" marB="18288" anchor="ctr">
                    <a:solidFill>
                      <a:srgbClr val="F4F6F5"/>
                    </a:solidFill>
                  </a:tcPr>
                </a:tc>
                <a:tc>
                  <a:txBody>
                    <a:bodyPr/>
                    <a:lstStyle/>
                    <a:p>
                      <a:r>
                        <a:rPr sz="1200" b="0">
                          <a:solidFill>
                            <a:srgbClr val="1E2420"/>
                          </a:solidFill>
                          <a:latin typeface="Calibri"/>
                        </a:rPr>
                        <a:t>river discharge</a:t>
                      </a:r>
                    </a:p>
                  </a:txBody>
                  <a:tcPr marL="54864" marR="54864" marT="18288" marB="18288" anchor="ctr">
                    <a:solidFill>
                      <a:srgbClr val="F4F6F5"/>
                    </a:solidFill>
                  </a:tcPr>
                </a:tc>
                <a:tc>
                  <a:txBody>
                    <a:bodyPr/>
                    <a:lstStyle/>
                    <a:p>
                      <a:r>
                        <a:rPr sz="1200" b="0">
                          <a:solidFill>
                            <a:srgbClr val="1E2420"/>
                          </a:solidFill>
                          <a:latin typeface="Calibri"/>
                        </a:rPr>
                        <a:t>~5 km</a:t>
                      </a:r>
                    </a:p>
                  </a:txBody>
                  <a:tcPr marL="54864" marR="54864" marT="18288" marB="18288" anchor="ctr">
                    <a:solidFill>
                      <a:srgbClr val="F4F6F5"/>
                    </a:solidFill>
                  </a:tcPr>
                </a:tc>
              </a:tr>
            </a:tbl>
          </a:graphicData>
        </a:graphic>
      </p:graphicFrame>
      <p:sp>
        <p:nvSpPr>
          <p:cNvPr id="8" name="Rounded Rectangle 7"/>
          <p:cNvSpPr/>
          <p:nvPr/>
        </p:nvSpPr>
        <p:spPr>
          <a:xfrm>
            <a:off x="502920" y="4754880"/>
            <a:ext cx="1874519" cy="146304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846320"/>
            <a:ext cx="1600199" cy="731520"/>
          </a:xfrm>
          <a:prstGeom prst="rect">
            <a:avLst/>
          </a:prstGeom>
          <a:noFill/>
        </p:spPr>
        <p:txBody>
          <a:bodyPr wrap="square" anchor="b" lIns="0" rIns="0" tIns="0" bIns="0">
            <a:spAutoFit/>
          </a:bodyPr>
          <a:lstStyle/>
          <a:p>
            <a:pPr algn="l">
              <a:spcAft>
                <a:spcPts val="0"/>
              </a:spcAft>
            </a:pPr>
            <a:r>
              <a:rPr sz="3400" b="1" i="0">
                <a:solidFill>
                  <a:srgbClr val="2E6B3F"/>
                </a:solidFill>
                <a:latin typeface="Cambria"/>
              </a:rPr>
              <a:t>4.29 M</a:t>
            </a:r>
          </a:p>
        </p:txBody>
      </p:sp>
      <p:sp>
        <p:nvSpPr>
          <p:cNvPr id="10" name="TextBox 9"/>
          <p:cNvSpPr txBox="1"/>
          <p:nvPr/>
        </p:nvSpPr>
        <p:spPr>
          <a:xfrm>
            <a:off x="640080" y="5596128"/>
            <a:ext cx="1600199" cy="54864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pixel-months</a:t>
            </a:r>
          </a:p>
          <a:p>
            <a:pPr algn="l">
              <a:spcAft>
                <a:spcPts val="0"/>
              </a:spcAft>
            </a:pPr>
            <a:r>
              <a:rPr sz="1100" b="0" i="0">
                <a:solidFill>
                  <a:srgbClr val="5E6A62"/>
                </a:solidFill>
                <a:latin typeface="Calibri"/>
              </a:rPr>
              <a:t>rows in the dataset</a:t>
            </a:r>
          </a:p>
        </p:txBody>
      </p:sp>
      <p:sp>
        <p:nvSpPr>
          <p:cNvPr id="11" name="Rounded Rectangle 10"/>
          <p:cNvSpPr/>
          <p:nvPr/>
        </p:nvSpPr>
        <p:spPr>
          <a:xfrm>
            <a:off x="2514600" y="4754880"/>
            <a:ext cx="1874519" cy="146304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1760" y="4846320"/>
            <a:ext cx="1600199" cy="731520"/>
          </a:xfrm>
          <a:prstGeom prst="rect">
            <a:avLst/>
          </a:prstGeom>
          <a:noFill/>
        </p:spPr>
        <p:txBody>
          <a:bodyPr wrap="square" anchor="b" lIns="0" rIns="0" tIns="0" bIns="0">
            <a:spAutoFit/>
          </a:bodyPr>
          <a:lstStyle/>
          <a:p>
            <a:pPr algn="l">
              <a:spcAft>
                <a:spcPts val="0"/>
              </a:spcAft>
            </a:pPr>
            <a:r>
              <a:rPr sz="3400" b="1" i="0">
                <a:solidFill>
                  <a:srgbClr val="2E6B3F"/>
                </a:solidFill>
                <a:latin typeface="Cambria"/>
              </a:rPr>
              <a:t>64</a:t>
            </a:r>
          </a:p>
        </p:txBody>
      </p:sp>
      <p:sp>
        <p:nvSpPr>
          <p:cNvPr id="13" name="TextBox 12"/>
          <p:cNvSpPr txBox="1"/>
          <p:nvPr/>
        </p:nvSpPr>
        <p:spPr>
          <a:xfrm>
            <a:off x="2651760" y="5596128"/>
            <a:ext cx="1600199" cy="54864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features</a:t>
            </a:r>
          </a:p>
          <a:p>
            <a:pPr algn="l">
              <a:spcAft>
                <a:spcPts val="0"/>
              </a:spcAft>
            </a:pPr>
            <a:r>
              <a:rPr sz="1100" b="0" i="0">
                <a:solidFill>
                  <a:srgbClr val="5E6A62"/>
                </a:solidFill>
                <a:latin typeface="Calibri"/>
              </a:rPr>
              <a:t>per pixel-month</a:t>
            </a:r>
          </a:p>
        </p:txBody>
      </p:sp>
      <p:sp>
        <p:nvSpPr>
          <p:cNvPr id="14" name="Rounded Rectangle 13"/>
          <p:cNvSpPr/>
          <p:nvPr/>
        </p:nvSpPr>
        <p:spPr>
          <a:xfrm>
            <a:off x="4526280" y="4754880"/>
            <a:ext cx="1874519" cy="146304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4846320"/>
            <a:ext cx="1600199" cy="731520"/>
          </a:xfrm>
          <a:prstGeom prst="rect">
            <a:avLst/>
          </a:prstGeom>
          <a:noFill/>
        </p:spPr>
        <p:txBody>
          <a:bodyPr wrap="square" anchor="b" lIns="0" rIns="0" tIns="0" bIns="0">
            <a:spAutoFit/>
          </a:bodyPr>
          <a:lstStyle/>
          <a:p>
            <a:pPr algn="l">
              <a:spcAft>
                <a:spcPts val="0"/>
              </a:spcAft>
            </a:pPr>
            <a:r>
              <a:rPr sz="3400" b="1" i="0">
                <a:solidFill>
                  <a:srgbClr val="2E6B3F"/>
                </a:solidFill>
                <a:latin typeface="Cambria"/>
              </a:rPr>
              <a:t>2.5 %</a:t>
            </a:r>
          </a:p>
        </p:txBody>
      </p:sp>
      <p:sp>
        <p:nvSpPr>
          <p:cNvPr id="16" name="TextBox 15"/>
          <p:cNvSpPr txBox="1"/>
          <p:nvPr/>
        </p:nvSpPr>
        <p:spPr>
          <a:xfrm>
            <a:off x="4663440" y="5596128"/>
            <a:ext cx="1600199" cy="54864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positives</a:t>
            </a:r>
          </a:p>
          <a:p>
            <a:pPr algn="l">
              <a:spcAft>
                <a:spcPts val="0"/>
              </a:spcAft>
            </a:pPr>
            <a:r>
              <a:rPr sz="1100" b="0" i="0">
                <a:solidFill>
                  <a:srgbClr val="5E6A62"/>
                </a:solidFill>
                <a:latin typeface="Calibri"/>
              </a:rPr>
              <a:t>rare-event problem</a:t>
            </a:r>
          </a:p>
        </p:txBody>
      </p:sp>
      <p:sp>
        <p:nvSpPr>
          <p:cNvPr id="17" name="Rounded Rectangle 16"/>
          <p:cNvSpPr/>
          <p:nvPr/>
        </p:nvSpPr>
        <p:spPr>
          <a:xfrm>
            <a:off x="6629400" y="4297680"/>
            <a:ext cx="5074920" cy="205740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66560" y="441655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9" name="TextBox 18"/>
          <p:cNvSpPr txBox="1"/>
          <p:nvPr/>
        </p:nvSpPr>
        <p:spPr>
          <a:xfrm>
            <a:off x="7132320" y="4407408"/>
            <a:ext cx="443484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0" name="TextBox 19"/>
          <p:cNvSpPr txBox="1"/>
          <p:nvPr/>
        </p:nvSpPr>
        <p:spPr>
          <a:xfrm>
            <a:off x="6766560" y="4800600"/>
            <a:ext cx="4800600" cy="146304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L2A — </a:t>
            </a:r>
            <a:r>
              <a:rPr sz="1200" b="0" i="0">
                <a:solidFill>
                  <a:srgbClr val="1E2420"/>
                </a:solidFill>
                <a:latin typeface="Calibri"/>
              </a:rPr>
              <a:t>Sentinel-2 product already corrected for the atmosphere</a:t>
            </a:r>
          </a:p>
          <a:p>
            <a:pPr algn="l">
              <a:spcAft>
                <a:spcPts val="500"/>
              </a:spcAft>
            </a:pPr>
            <a:r>
              <a:rPr sz="1200" b="1" i="0">
                <a:solidFill>
                  <a:srgbClr val="2E6B3F"/>
                </a:solidFill>
                <a:latin typeface="Calibri"/>
              </a:rPr>
              <a:t>Reanalysis — </a:t>
            </a:r>
            <a:r>
              <a:rPr sz="1200" b="0" i="0">
                <a:solidFill>
                  <a:srgbClr val="1E2420"/>
                </a:solidFill>
                <a:latin typeface="Calibri"/>
              </a:rPr>
              <a:t>weather model re-run with past observations to fill every gap</a:t>
            </a:r>
          </a:p>
          <a:p>
            <a:pPr algn="l">
              <a:spcAft>
                <a:spcPts val="500"/>
              </a:spcAft>
            </a:pPr>
            <a:r>
              <a:rPr sz="1200" b="1" i="0">
                <a:solidFill>
                  <a:srgbClr val="2E6B3F"/>
                </a:solidFill>
                <a:latin typeface="Calibri"/>
              </a:rPr>
              <a:t>Discharge — </a:t>
            </a:r>
            <a:r>
              <a:rPr sz="1200" b="0" i="0">
                <a:solidFill>
                  <a:srgbClr val="1E2420"/>
                </a:solidFill>
                <a:latin typeface="Calibri"/>
              </a:rPr>
              <a:t>volume of water flowing in a river, m³/s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From raw images to a warning: the pipeline</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6</a:t>
            </a:r>
          </a:p>
        </p:txBody>
      </p:sp>
      <p:pic>
        <p:nvPicPr>
          <p:cNvPr id="5" name="Picture 4" descr="arch.png"/>
          <p:cNvPicPr>
            <a:picLocks noChangeAspect="1"/>
          </p:cNvPicPr>
          <p:nvPr/>
        </p:nvPicPr>
        <p:blipFill>
          <a:blip r:embed="rId3"/>
          <a:stretch>
            <a:fillRect/>
          </a:stretch>
        </p:blipFill>
        <p:spPr>
          <a:xfrm>
            <a:off x="411480" y="1282921"/>
            <a:ext cx="5852160" cy="4795077"/>
          </a:xfrm>
          <a:prstGeom prst="rect">
            <a:avLst/>
          </a:prstGeom>
        </p:spPr>
      </p:pic>
      <p:sp>
        <p:nvSpPr>
          <p:cNvPr id="6" name="Oval 5"/>
          <p:cNvSpPr/>
          <p:nvPr/>
        </p:nvSpPr>
        <p:spPr>
          <a:xfrm>
            <a:off x="6492240" y="1106424"/>
            <a:ext cx="384048" cy="384048"/>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1</a:t>
            </a:r>
          </a:p>
        </p:txBody>
      </p:sp>
      <p:sp>
        <p:nvSpPr>
          <p:cNvPr id="7" name="TextBox 6"/>
          <p:cNvSpPr txBox="1"/>
          <p:nvPr/>
        </p:nvSpPr>
        <p:spPr>
          <a:xfrm>
            <a:off x="6995160" y="1051560"/>
            <a:ext cx="4754880" cy="566928"/>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Clean  </a:t>
            </a:r>
            <a:r>
              <a:rPr sz="1300" b="0" i="0">
                <a:solidFill>
                  <a:srgbClr val="1E2420"/>
                </a:solidFill>
                <a:latin typeface="Calibri"/>
              </a:rPr>
              <a:t>remove duplicates, fix the +1000 offset, mask cloud, take the monthly median</a:t>
            </a:r>
          </a:p>
        </p:txBody>
      </p:sp>
      <p:sp>
        <p:nvSpPr>
          <p:cNvPr id="8" name="Oval 7"/>
          <p:cNvSpPr/>
          <p:nvPr/>
        </p:nvSpPr>
        <p:spPr>
          <a:xfrm>
            <a:off x="6492240" y="1709928"/>
            <a:ext cx="384048" cy="384048"/>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2</a:t>
            </a:r>
          </a:p>
        </p:txBody>
      </p:sp>
      <p:sp>
        <p:nvSpPr>
          <p:cNvPr id="9" name="TextBox 8"/>
          <p:cNvSpPr txBox="1"/>
          <p:nvPr/>
        </p:nvSpPr>
        <p:spPr>
          <a:xfrm>
            <a:off x="6995160" y="1655064"/>
            <a:ext cx="4754880" cy="566928"/>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Normalise  </a:t>
            </a:r>
            <a:r>
              <a:rPr sz="1300" b="0" i="0">
                <a:solidFill>
                  <a:srgbClr val="1E2420"/>
                </a:solidFill>
                <a:latin typeface="Calibri"/>
              </a:rPr>
              <a:t>compare each month with that pixel's own 2017–2020 normal → z-score</a:t>
            </a:r>
          </a:p>
        </p:txBody>
      </p:sp>
      <p:sp>
        <p:nvSpPr>
          <p:cNvPr id="10" name="Oval 9"/>
          <p:cNvSpPr/>
          <p:nvPr/>
        </p:nvSpPr>
        <p:spPr>
          <a:xfrm>
            <a:off x="6492240" y="2313432"/>
            <a:ext cx="384048" cy="384048"/>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3</a:t>
            </a:r>
          </a:p>
        </p:txBody>
      </p:sp>
      <p:sp>
        <p:nvSpPr>
          <p:cNvPr id="11" name="TextBox 10"/>
          <p:cNvSpPr txBox="1"/>
          <p:nvPr/>
        </p:nvSpPr>
        <p:spPr>
          <a:xfrm>
            <a:off x="6995160" y="2258568"/>
            <a:ext cx="4754880" cy="566928"/>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Remove climate  </a:t>
            </a:r>
            <a:r>
              <a:rPr sz="1300" b="0" i="0">
                <a:solidFill>
                  <a:srgbClr val="1E2420"/>
                </a:solidFill>
                <a:latin typeface="Calibri"/>
              </a:rPr>
              <a:t>ridge model of the weather's effect; subtract it and the neighbours' median → residual R</a:t>
            </a:r>
          </a:p>
        </p:txBody>
      </p:sp>
      <p:sp>
        <p:nvSpPr>
          <p:cNvPr id="12" name="Oval 11"/>
          <p:cNvSpPr/>
          <p:nvPr/>
        </p:nvSpPr>
        <p:spPr>
          <a:xfrm>
            <a:off x="6492240" y="2916936"/>
            <a:ext cx="384048" cy="384048"/>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4</a:t>
            </a:r>
          </a:p>
        </p:txBody>
      </p:sp>
      <p:sp>
        <p:nvSpPr>
          <p:cNvPr id="13" name="TextBox 12"/>
          <p:cNvSpPr txBox="1"/>
          <p:nvPr/>
        </p:nvSpPr>
        <p:spPr>
          <a:xfrm>
            <a:off x="6995160" y="2862072"/>
            <a:ext cx="4754880" cy="566928"/>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Label  </a:t>
            </a:r>
            <a:r>
              <a:rPr sz="1300" b="0" i="0">
                <a:solidFill>
                  <a:srgbClr val="1E2420"/>
                </a:solidFill>
                <a:latin typeface="Calibri"/>
              </a:rPr>
              <a:t>mark where a ≥ 6-month unexplained decline begins; target = onset within 6 months</a:t>
            </a:r>
          </a:p>
        </p:txBody>
      </p:sp>
      <p:sp>
        <p:nvSpPr>
          <p:cNvPr id="14" name="Oval 13"/>
          <p:cNvSpPr/>
          <p:nvPr/>
        </p:nvSpPr>
        <p:spPr>
          <a:xfrm>
            <a:off x="6492240" y="3520440"/>
            <a:ext cx="384048" cy="384048"/>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5</a:t>
            </a:r>
          </a:p>
        </p:txBody>
      </p:sp>
      <p:sp>
        <p:nvSpPr>
          <p:cNvPr id="15" name="TextBox 14"/>
          <p:cNvSpPr txBox="1"/>
          <p:nvPr/>
        </p:nvSpPr>
        <p:spPr>
          <a:xfrm>
            <a:off x="6995160" y="3465576"/>
            <a:ext cx="4754880" cy="566928"/>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Learn  </a:t>
            </a:r>
            <a:r>
              <a:rPr sz="1300" b="0" i="0">
                <a:solidFill>
                  <a:srgbClr val="1E2420"/>
                </a:solidFill>
                <a:latin typeface="Calibri"/>
              </a:rPr>
              <a:t>64 features → LightGBM → isotonic calibration → conformal abstain</a:t>
            </a:r>
          </a:p>
        </p:txBody>
      </p:sp>
      <p:sp>
        <p:nvSpPr>
          <p:cNvPr id="16" name="Oval 15"/>
          <p:cNvSpPr/>
          <p:nvPr/>
        </p:nvSpPr>
        <p:spPr>
          <a:xfrm>
            <a:off x="6492240" y="4123944"/>
            <a:ext cx="384048" cy="38404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6</a:t>
            </a:r>
          </a:p>
        </p:txBody>
      </p:sp>
      <p:sp>
        <p:nvSpPr>
          <p:cNvPr id="17" name="TextBox 16"/>
          <p:cNvSpPr txBox="1"/>
          <p:nvPr/>
        </p:nvSpPr>
        <p:spPr>
          <a:xfrm>
            <a:off x="6995160" y="4069080"/>
            <a:ext cx="4754880" cy="566928"/>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Serve  </a:t>
            </a:r>
            <a:r>
              <a:rPr sz="1300" b="0" i="0">
                <a:solidFill>
                  <a:srgbClr val="1E2420"/>
                </a:solidFill>
                <a:latin typeface="Calibri"/>
              </a:rPr>
              <a:t>monthly risk map, hotspots and explanations in the web console</a:t>
            </a:r>
          </a:p>
        </p:txBody>
      </p:sp>
      <p:sp>
        <p:nvSpPr>
          <p:cNvPr id="18" name="Rounded Rectangle 17"/>
          <p:cNvSpPr/>
          <p:nvPr/>
        </p:nvSpPr>
        <p:spPr>
          <a:xfrm>
            <a:off x="6492240" y="4754880"/>
            <a:ext cx="5212080" cy="160020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29400" y="487375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0" name="TextBox 19"/>
          <p:cNvSpPr txBox="1"/>
          <p:nvPr/>
        </p:nvSpPr>
        <p:spPr>
          <a:xfrm>
            <a:off x="6995159" y="4864608"/>
            <a:ext cx="457200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1" name="TextBox 20"/>
          <p:cNvSpPr txBox="1"/>
          <p:nvPr/>
        </p:nvSpPr>
        <p:spPr>
          <a:xfrm>
            <a:off x="6629400" y="5257800"/>
            <a:ext cx="4937760" cy="100584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Pipeline — </a:t>
            </a:r>
            <a:r>
              <a:rPr sz="1200" b="0" i="0">
                <a:solidFill>
                  <a:srgbClr val="1E2420"/>
                </a:solidFill>
                <a:latin typeface="Calibri"/>
              </a:rPr>
              <a:t>fixed chain of steps run the same way for every area</a:t>
            </a:r>
          </a:p>
          <a:p>
            <a:pPr algn="l">
              <a:spcAft>
                <a:spcPts val="500"/>
              </a:spcAft>
            </a:pPr>
            <a:r>
              <a:rPr sz="1200" b="1" i="0">
                <a:solidFill>
                  <a:srgbClr val="2E6B3F"/>
                </a:solidFill>
                <a:latin typeface="Calibri"/>
              </a:rPr>
              <a:t>Median composite — </a:t>
            </a:r>
            <a:r>
              <a:rPr sz="1200" b="0" i="0">
                <a:solidFill>
                  <a:srgbClr val="1E2420"/>
                </a:solidFill>
                <a:latin typeface="Calibri"/>
              </a:rPr>
              <a:t>middle value of a month's clear images; ignores outliers</a:t>
            </a:r>
          </a:p>
          <a:p>
            <a:pPr algn="l">
              <a:spcAft>
                <a:spcPts val="500"/>
              </a:spcAft>
            </a:pPr>
            <a:r>
              <a:rPr sz="1200" b="1" i="0">
                <a:solidFill>
                  <a:srgbClr val="2E6B3F"/>
                </a:solidFill>
                <a:latin typeface="Calibri"/>
              </a:rPr>
              <a:t>Ridge — </a:t>
            </a:r>
            <a:r>
              <a:rPr sz="1200" b="0" i="0">
                <a:solidFill>
                  <a:srgbClr val="1E2420"/>
                </a:solidFill>
                <a:latin typeface="Calibri"/>
              </a:rPr>
              <a:t>linear regression with a penalty that keeps weights small and stable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Worked example 1 · from a raw pixel to an anomaly</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7</a:t>
            </a:r>
          </a:p>
        </p:txBody>
      </p:sp>
      <p:sp>
        <p:nvSpPr>
          <p:cNvPr id="5" name="Rounded Rectangle 4"/>
          <p:cNvSpPr/>
          <p:nvPr/>
        </p:nvSpPr>
        <p:spPr>
          <a:xfrm>
            <a:off x="502920" y="1143000"/>
            <a:ext cx="2606040" cy="233172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2377440" cy="411480"/>
          </a:xfrm>
          <a:prstGeom prst="rect">
            <a:avLst/>
          </a:prstGeom>
          <a:noFill/>
        </p:spPr>
        <p:txBody>
          <a:bodyPr wrap="square" anchor="t" lIns="0" rIns="0" tIns="0" bIns="0">
            <a:spAutoFit/>
          </a:bodyPr>
          <a:lstStyle/>
          <a:p>
            <a:pPr algn="l">
              <a:spcAft>
                <a:spcPts val="0"/>
              </a:spcAft>
            </a:pPr>
            <a:r>
              <a:rPr sz="1500" b="1" i="0">
                <a:solidFill>
                  <a:srgbClr val="15291C"/>
                </a:solidFill>
                <a:latin typeface="Calibri"/>
              </a:rPr>
              <a:t>1 · Raw → reflectance</a:t>
            </a:r>
          </a:p>
        </p:txBody>
      </p:sp>
      <p:sp>
        <p:nvSpPr>
          <p:cNvPr id="7" name="TextBox 6"/>
          <p:cNvSpPr txBox="1"/>
          <p:nvPr/>
        </p:nvSpPr>
        <p:spPr>
          <a:xfrm>
            <a:off x="640080" y="1737360"/>
            <a:ext cx="2377440" cy="2103120"/>
          </a:xfrm>
          <a:prstGeom prst="rect">
            <a:avLst/>
          </a:prstGeom>
          <a:noFill/>
        </p:spPr>
        <p:txBody>
          <a:bodyPr wrap="square" anchor="t" lIns="0" rIns="0" tIns="0" bIns="0">
            <a:spAutoFit/>
          </a:bodyPr>
          <a:lstStyle/>
          <a:p>
            <a:pPr algn="l">
              <a:spcAft>
                <a:spcPts val="600"/>
              </a:spcAft>
            </a:pPr>
            <a:r>
              <a:rPr sz="1400" b="0" i="0">
                <a:solidFill>
                  <a:srgbClr val="1E2420"/>
                </a:solidFill>
                <a:latin typeface="Calibri"/>
              </a:rPr>
              <a:t>Red band DN = 2 500</a:t>
            </a:r>
          </a:p>
          <a:p>
            <a:pPr algn="l">
              <a:spcAft>
                <a:spcPts val="600"/>
              </a:spcAft>
            </a:pPr>
            <a:r>
              <a:rPr sz="1400" b="0" i="0">
                <a:solidFill>
                  <a:srgbClr val="1E2420"/>
                </a:solidFill>
                <a:latin typeface="Calibri"/>
              </a:rPr>
              <a:t>NIR band DN = 5 000</a:t>
            </a:r>
          </a:p>
          <a:p>
            <a:pPr algn="l">
              <a:spcAft>
                <a:spcPts val="600"/>
              </a:spcAft>
            </a:pPr>
            <a:r>
              <a:rPr sz="1400" b="0" i="0">
                <a:solidFill>
                  <a:srgbClr val="1E2420"/>
                </a:solidFill>
                <a:latin typeface="Calibri"/>
              </a:rPr>
              <a:t>ρ = (DN − 1 000) / 10 000</a:t>
            </a:r>
          </a:p>
          <a:p>
            <a:pPr algn="l">
              <a:spcAft>
                <a:spcPts val="600"/>
              </a:spcAft>
            </a:pPr>
            <a:r>
              <a:rPr sz="1600" b="1" i="0">
                <a:solidFill>
                  <a:srgbClr val="2E6B3F"/>
                </a:solidFill>
                <a:latin typeface="Calibri"/>
              </a:rPr>
              <a:t>Red = 0.15 · NIR = 0.40</a:t>
            </a:r>
          </a:p>
        </p:txBody>
      </p:sp>
      <p:sp>
        <p:nvSpPr>
          <p:cNvPr id="8" name="Right Arrow 7"/>
          <p:cNvSpPr/>
          <p:nvPr/>
        </p:nvSpPr>
        <p:spPr>
          <a:xfrm>
            <a:off x="3136391" y="2148840"/>
            <a:ext cx="201168" cy="292608"/>
          </a:xfrm>
          <a:prstGeom prst="rightArrow">
            <a:avLst/>
          </a:prstGeom>
          <a:solidFill>
            <a:srgbClr val="B55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55848" y="1143000"/>
            <a:ext cx="2606040" cy="233172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008" y="1234440"/>
            <a:ext cx="2377440" cy="411480"/>
          </a:xfrm>
          <a:prstGeom prst="rect">
            <a:avLst/>
          </a:prstGeom>
          <a:noFill/>
        </p:spPr>
        <p:txBody>
          <a:bodyPr wrap="square" anchor="t" lIns="0" rIns="0" tIns="0" bIns="0">
            <a:spAutoFit/>
          </a:bodyPr>
          <a:lstStyle/>
          <a:p>
            <a:pPr algn="l">
              <a:spcAft>
                <a:spcPts val="0"/>
              </a:spcAft>
            </a:pPr>
            <a:r>
              <a:rPr sz="1500" b="1" i="0">
                <a:solidFill>
                  <a:srgbClr val="15291C"/>
                </a:solidFill>
                <a:latin typeface="Calibri"/>
              </a:rPr>
              <a:t>2 · Greenness (NDVI)</a:t>
            </a:r>
          </a:p>
        </p:txBody>
      </p:sp>
      <p:sp>
        <p:nvSpPr>
          <p:cNvPr id="11" name="TextBox 10"/>
          <p:cNvSpPr txBox="1"/>
          <p:nvPr/>
        </p:nvSpPr>
        <p:spPr>
          <a:xfrm>
            <a:off x="3493008" y="1737360"/>
            <a:ext cx="2377440" cy="2103120"/>
          </a:xfrm>
          <a:prstGeom prst="rect">
            <a:avLst/>
          </a:prstGeom>
          <a:noFill/>
        </p:spPr>
        <p:txBody>
          <a:bodyPr wrap="square" anchor="t" lIns="0" rIns="0" tIns="0" bIns="0">
            <a:spAutoFit/>
          </a:bodyPr>
          <a:lstStyle/>
          <a:p>
            <a:pPr algn="l">
              <a:spcAft>
                <a:spcPts val="600"/>
              </a:spcAft>
            </a:pPr>
            <a:r>
              <a:rPr sz="1400" b="0" i="0">
                <a:solidFill>
                  <a:srgbClr val="1E2420"/>
                </a:solidFill>
                <a:latin typeface="Calibri"/>
              </a:rPr>
              <a:t>NDVI = (NIR − Red)/(NIR + Red)</a:t>
            </a:r>
          </a:p>
          <a:p>
            <a:pPr algn="l">
              <a:spcAft>
                <a:spcPts val="600"/>
              </a:spcAft>
            </a:pPr>
            <a:r>
              <a:rPr sz="1400" b="0" i="0">
                <a:solidFill>
                  <a:srgbClr val="1E2420"/>
                </a:solidFill>
                <a:latin typeface="Calibri"/>
              </a:rPr>
              <a:t>= (0.40 − 0.15)/(0.40 + 0.15)</a:t>
            </a:r>
          </a:p>
          <a:p>
            <a:pPr algn="l">
              <a:spcAft>
                <a:spcPts val="600"/>
              </a:spcAft>
            </a:pPr>
            <a:r>
              <a:rPr sz="1400" b="0" i="0">
                <a:solidFill>
                  <a:srgbClr val="1E2420"/>
                </a:solidFill>
                <a:latin typeface="Calibri"/>
              </a:rPr>
              <a:t>= 0.25 / 0.55</a:t>
            </a:r>
          </a:p>
          <a:p>
            <a:pPr algn="l">
              <a:spcAft>
                <a:spcPts val="600"/>
              </a:spcAft>
            </a:pPr>
            <a:r>
              <a:rPr sz="1600" b="1" i="0">
                <a:solidFill>
                  <a:srgbClr val="2E6B3F"/>
                </a:solidFill>
                <a:latin typeface="Calibri"/>
              </a:rPr>
              <a:t>= 0.45</a:t>
            </a:r>
          </a:p>
        </p:txBody>
      </p:sp>
      <p:sp>
        <p:nvSpPr>
          <p:cNvPr id="12" name="Right Arrow 11"/>
          <p:cNvSpPr/>
          <p:nvPr/>
        </p:nvSpPr>
        <p:spPr>
          <a:xfrm>
            <a:off x="5989320" y="2148840"/>
            <a:ext cx="201168" cy="292608"/>
          </a:xfrm>
          <a:prstGeom prst="rightArrow">
            <a:avLst/>
          </a:prstGeom>
          <a:solidFill>
            <a:srgbClr val="B55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08776" y="1143000"/>
            <a:ext cx="2606040" cy="233172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234440"/>
            <a:ext cx="2377440" cy="411480"/>
          </a:xfrm>
          <a:prstGeom prst="rect">
            <a:avLst/>
          </a:prstGeom>
          <a:noFill/>
        </p:spPr>
        <p:txBody>
          <a:bodyPr wrap="square" anchor="t" lIns="0" rIns="0" tIns="0" bIns="0">
            <a:spAutoFit/>
          </a:bodyPr>
          <a:lstStyle/>
          <a:p>
            <a:pPr algn="l">
              <a:spcAft>
                <a:spcPts val="0"/>
              </a:spcAft>
            </a:pPr>
            <a:r>
              <a:rPr sz="1500" b="1" i="0">
                <a:solidFill>
                  <a:srgbClr val="15291C"/>
                </a:solidFill>
                <a:latin typeface="Calibri"/>
              </a:rPr>
              <a:t>3 · Normal for this month</a:t>
            </a:r>
          </a:p>
        </p:txBody>
      </p:sp>
      <p:sp>
        <p:nvSpPr>
          <p:cNvPr id="15" name="TextBox 14"/>
          <p:cNvSpPr txBox="1"/>
          <p:nvPr/>
        </p:nvSpPr>
        <p:spPr>
          <a:xfrm>
            <a:off x="6345936" y="1737360"/>
            <a:ext cx="2377440" cy="2103120"/>
          </a:xfrm>
          <a:prstGeom prst="rect">
            <a:avLst/>
          </a:prstGeom>
          <a:noFill/>
        </p:spPr>
        <p:txBody>
          <a:bodyPr wrap="square" anchor="t" lIns="0" rIns="0" tIns="0" bIns="0">
            <a:spAutoFit/>
          </a:bodyPr>
          <a:lstStyle/>
          <a:p>
            <a:pPr algn="l">
              <a:spcAft>
                <a:spcPts val="600"/>
              </a:spcAft>
            </a:pPr>
            <a:r>
              <a:rPr sz="1400" b="0" i="0">
                <a:solidFill>
                  <a:srgbClr val="1E2420"/>
                </a:solidFill>
                <a:latin typeface="Calibri"/>
              </a:rPr>
              <a:t>μ = median NDVI of all</a:t>
            </a:r>
          </a:p>
          <a:p>
            <a:pPr algn="l">
              <a:spcAft>
                <a:spcPts val="600"/>
              </a:spcAft>
            </a:pPr>
            <a:r>
              <a:rPr sz="1400" b="0" i="0">
                <a:solidFill>
                  <a:srgbClr val="1E2420"/>
                </a:solidFill>
                <a:latin typeface="Calibri"/>
              </a:rPr>
              <a:t>Julys 2017–2020 = 0.60</a:t>
            </a:r>
          </a:p>
          <a:p>
            <a:pPr algn="l">
              <a:spcAft>
                <a:spcPts val="600"/>
              </a:spcAft>
            </a:pPr>
            <a:r>
              <a:rPr sz="1400" b="0" i="0">
                <a:solidFill>
                  <a:srgbClr val="1E2420"/>
                </a:solidFill>
                <a:latin typeface="Calibri"/>
              </a:rPr>
              <a:t>MAD = 0.04</a:t>
            </a:r>
          </a:p>
          <a:p>
            <a:pPr algn="l">
              <a:spcAft>
                <a:spcPts val="600"/>
              </a:spcAft>
            </a:pPr>
            <a:r>
              <a:rPr sz="1600" b="1" i="0">
                <a:solidFill>
                  <a:srgbClr val="2E6B3F"/>
                </a:solidFill>
                <a:latin typeface="Calibri"/>
              </a:rPr>
              <a:t>σ = 1.4826 × 0.04 = 0.059</a:t>
            </a:r>
          </a:p>
        </p:txBody>
      </p:sp>
      <p:sp>
        <p:nvSpPr>
          <p:cNvPr id="16" name="Right Arrow 15"/>
          <p:cNvSpPr/>
          <p:nvPr/>
        </p:nvSpPr>
        <p:spPr>
          <a:xfrm>
            <a:off x="8842248" y="2148840"/>
            <a:ext cx="201168" cy="292608"/>
          </a:xfrm>
          <a:prstGeom prst="rightArrow">
            <a:avLst/>
          </a:prstGeom>
          <a:solidFill>
            <a:srgbClr val="B55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61704" y="1143000"/>
            <a:ext cx="2606040" cy="233172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8864" y="1234440"/>
            <a:ext cx="2377440" cy="411480"/>
          </a:xfrm>
          <a:prstGeom prst="rect">
            <a:avLst/>
          </a:prstGeom>
          <a:noFill/>
        </p:spPr>
        <p:txBody>
          <a:bodyPr wrap="square" anchor="t" lIns="0" rIns="0" tIns="0" bIns="0">
            <a:spAutoFit/>
          </a:bodyPr>
          <a:lstStyle/>
          <a:p>
            <a:pPr algn="l">
              <a:spcAft>
                <a:spcPts val="0"/>
              </a:spcAft>
            </a:pPr>
            <a:r>
              <a:rPr sz="1500" b="1" i="0">
                <a:solidFill>
                  <a:srgbClr val="B5562B"/>
                </a:solidFill>
                <a:latin typeface="Calibri"/>
              </a:rPr>
              <a:t>4 · Anomaly z-score</a:t>
            </a:r>
          </a:p>
        </p:txBody>
      </p:sp>
      <p:sp>
        <p:nvSpPr>
          <p:cNvPr id="19" name="TextBox 18"/>
          <p:cNvSpPr txBox="1"/>
          <p:nvPr/>
        </p:nvSpPr>
        <p:spPr>
          <a:xfrm>
            <a:off x="9198864" y="1737360"/>
            <a:ext cx="2377440" cy="2103120"/>
          </a:xfrm>
          <a:prstGeom prst="rect">
            <a:avLst/>
          </a:prstGeom>
          <a:noFill/>
        </p:spPr>
        <p:txBody>
          <a:bodyPr wrap="square" anchor="t" lIns="0" rIns="0" tIns="0" bIns="0">
            <a:spAutoFit/>
          </a:bodyPr>
          <a:lstStyle/>
          <a:p>
            <a:pPr algn="l">
              <a:spcAft>
                <a:spcPts val="600"/>
              </a:spcAft>
            </a:pPr>
            <a:r>
              <a:rPr sz="1400" b="0" i="0">
                <a:solidFill>
                  <a:srgbClr val="1E2420"/>
                </a:solidFill>
                <a:latin typeface="Calibri"/>
              </a:rPr>
              <a:t>z = (Y − μ) / σ</a:t>
            </a:r>
          </a:p>
          <a:p>
            <a:pPr algn="l">
              <a:spcAft>
                <a:spcPts val="600"/>
              </a:spcAft>
            </a:pPr>
            <a:r>
              <a:rPr sz="1400" b="0" i="0">
                <a:solidFill>
                  <a:srgbClr val="1E2420"/>
                </a:solidFill>
                <a:latin typeface="Calibri"/>
              </a:rPr>
              <a:t>= (0.45 − 0.60) / 0.059</a:t>
            </a:r>
          </a:p>
          <a:p>
            <a:pPr algn="l">
              <a:spcAft>
                <a:spcPts val="600"/>
              </a:spcAft>
            </a:pPr>
            <a:r>
              <a:rPr sz="1400" b="0" i="0">
                <a:solidFill>
                  <a:srgbClr val="1E2420"/>
                </a:solidFill>
                <a:latin typeface="Calibri"/>
              </a:rPr>
              <a:t>= −2.5</a:t>
            </a:r>
          </a:p>
          <a:p>
            <a:pPr algn="l">
              <a:spcAft>
                <a:spcPts val="600"/>
              </a:spcAft>
            </a:pPr>
            <a:r>
              <a:rPr sz="1600" b="1" i="0">
                <a:solidFill>
                  <a:srgbClr val="2E6B3F"/>
                </a:solidFill>
                <a:latin typeface="Calibri"/>
              </a:rPr>
              <a:t>well below normal</a:t>
            </a:r>
          </a:p>
        </p:txBody>
      </p:sp>
      <p:sp>
        <p:nvSpPr>
          <p:cNvPr id="20" name="TextBox 19"/>
          <p:cNvSpPr txBox="1"/>
          <p:nvPr/>
        </p:nvSpPr>
        <p:spPr>
          <a:xfrm>
            <a:off x="502920" y="3749039"/>
            <a:ext cx="11155680" cy="548640"/>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Why this matters: </a:t>
            </a:r>
            <a:r>
              <a:rPr sz="1400" b="0" i="0">
                <a:solidFill>
                  <a:srgbClr val="1E2420"/>
                </a:solidFill>
                <a:latin typeface="Calibri"/>
              </a:rPr>
              <a:t>each pixel is compared with its own past, so a naturally sparse desert pixel and a lush forest pixel are judged on the same scale.</a:t>
            </a:r>
          </a:p>
        </p:txBody>
      </p:sp>
      <p:sp>
        <p:nvSpPr>
          <p:cNvPr id="21" name="Rounded Rectangle 20"/>
          <p:cNvSpPr/>
          <p:nvPr/>
        </p:nvSpPr>
        <p:spPr>
          <a:xfrm>
            <a:off x="502920" y="4434840"/>
            <a:ext cx="5486400" cy="19202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455371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3" name="TextBox 22"/>
          <p:cNvSpPr txBox="1"/>
          <p:nvPr/>
        </p:nvSpPr>
        <p:spPr>
          <a:xfrm>
            <a:off x="1005840" y="4544568"/>
            <a:ext cx="484632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4" name="TextBox 23"/>
          <p:cNvSpPr txBox="1"/>
          <p:nvPr/>
        </p:nvSpPr>
        <p:spPr>
          <a:xfrm>
            <a:off x="640080" y="4937759"/>
            <a:ext cx="5212080" cy="132588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DN — </a:t>
            </a:r>
            <a:r>
              <a:rPr sz="1200" b="0" i="0">
                <a:solidFill>
                  <a:srgbClr val="1E2420"/>
                </a:solidFill>
                <a:latin typeface="Calibri"/>
              </a:rPr>
              <a:t>digital number: the integer the satellite stores</a:t>
            </a:r>
          </a:p>
          <a:p>
            <a:pPr algn="l">
              <a:spcAft>
                <a:spcPts val="500"/>
              </a:spcAft>
            </a:pPr>
            <a:r>
              <a:rPr sz="1200" b="1" i="0">
                <a:solidFill>
                  <a:srgbClr val="2E6B3F"/>
                </a:solidFill>
                <a:latin typeface="Calibri"/>
              </a:rPr>
              <a:t>+1000 offset — </a:t>
            </a:r>
            <a:r>
              <a:rPr sz="1200" b="0" i="0">
                <a:solidFill>
                  <a:srgbClr val="1E2420"/>
                </a:solidFill>
                <a:latin typeface="Calibri"/>
              </a:rPr>
              <a:t>added by ESA to images processed since 2022; we subtract it</a:t>
            </a:r>
          </a:p>
          <a:p>
            <a:pPr algn="l">
              <a:spcAft>
                <a:spcPts val="500"/>
              </a:spcAft>
            </a:pPr>
            <a:r>
              <a:rPr sz="1200" b="1" i="0">
                <a:solidFill>
                  <a:srgbClr val="2E6B3F"/>
                </a:solidFill>
                <a:latin typeface="Calibri"/>
              </a:rPr>
              <a:t>σ floor 0.02 — </a:t>
            </a:r>
            <a:r>
              <a:rPr sz="1200" b="0" i="0">
                <a:solidFill>
                  <a:srgbClr val="1E2420"/>
                </a:solidFill>
                <a:latin typeface="Calibri"/>
              </a:rPr>
              <a:t>σ is never below 0.02 so tiny wobbles do not look extreme</a:t>
            </a:r>
          </a:p>
        </p:txBody>
      </p:sp>
      <p:sp>
        <p:nvSpPr>
          <p:cNvPr id="25" name="Rounded Rectangle 24"/>
          <p:cNvSpPr/>
          <p:nvPr/>
        </p:nvSpPr>
        <p:spPr>
          <a:xfrm>
            <a:off x="6217920" y="4434840"/>
            <a:ext cx="5486400" cy="19202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55080" y="455371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7" name="TextBox 26"/>
          <p:cNvSpPr txBox="1"/>
          <p:nvPr/>
        </p:nvSpPr>
        <p:spPr>
          <a:xfrm>
            <a:off x="6720840" y="4544568"/>
            <a:ext cx="484632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SYMBOLS</a:t>
            </a:r>
          </a:p>
        </p:txBody>
      </p:sp>
      <p:sp>
        <p:nvSpPr>
          <p:cNvPr id="28" name="TextBox 27"/>
          <p:cNvSpPr txBox="1"/>
          <p:nvPr/>
        </p:nvSpPr>
        <p:spPr>
          <a:xfrm>
            <a:off x="6355080" y="4937759"/>
            <a:ext cx="5212080" cy="1325880"/>
          </a:xfrm>
          <a:prstGeom prst="rect">
            <a:avLst/>
          </a:prstGeom>
          <a:noFill/>
        </p:spPr>
        <p:txBody>
          <a:bodyPr wrap="square" anchor="t" lIns="0" rIns="0" tIns="0" bIns="0">
            <a:spAutoFit/>
          </a:bodyPr>
          <a:lstStyle/>
          <a:p>
            <a:pPr algn="l">
              <a:spcAft>
                <a:spcPts val="500"/>
              </a:spcAft>
            </a:pPr>
            <a:r>
              <a:rPr sz="1150" b="1" i="0">
                <a:solidFill>
                  <a:srgbClr val="2E6B3F"/>
                </a:solidFill>
                <a:latin typeface="Calibri"/>
              </a:rPr>
              <a:t>μ (mu) — </a:t>
            </a:r>
            <a:r>
              <a:rPr sz="1150" b="0" i="0">
                <a:solidFill>
                  <a:srgbClr val="1E2420"/>
                </a:solidFill>
                <a:latin typeface="Calibri"/>
              </a:rPr>
              <a:t>the pixel's normal value for that calendar month</a:t>
            </a:r>
          </a:p>
          <a:p>
            <a:pPr algn="l">
              <a:spcAft>
                <a:spcPts val="500"/>
              </a:spcAft>
            </a:pPr>
            <a:r>
              <a:rPr sz="1150" b="1" i="0">
                <a:solidFill>
                  <a:srgbClr val="2E6B3F"/>
                </a:solidFill>
                <a:latin typeface="Calibri"/>
              </a:rPr>
              <a:t>σ (sigma) — </a:t>
            </a:r>
            <a:r>
              <a:rPr sz="1150" b="0" i="0">
                <a:solidFill>
                  <a:srgbClr val="1E2420"/>
                </a:solidFill>
                <a:latin typeface="Calibri"/>
              </a:rPr>
              <a:t>the pixel's typical deviation from normal</a:t>
            </a:r>
          </a:p>
          <a:p>
            <a:pPr algn="l">
              <a:spcAft>
                <a:spcPts val="500"/>
              </a:spcAft>
            </a:pPr>
            <a:r>
              <a:rPr sz="1150" b="1" i="0">
                <a:solidFill>
                  <a:srgbClr val="2E6B3F"/>
                </a:solidFill>
                <a:latin typeface="Calibri"/>
              </a:rPr>
              <a:t>1.4826 — </a:t>
            </a:r>
            <a:r>
              <a:rPr sz="1150" b="0" i="0">
                <a:solidFill>
                  <a:srgbClr val="1E2420"/>
                </a:solidFill>
                <a:latin typeface="Calibri"/>
              </a:rPr>
              <a:t>constant that makes MAD comparable to a standard deviation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Worked example 2 · separating drought from damage</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8</a:t>
            </a:r>
          </a:p>
        </p:txBody>
      </p:sp>
      <p:sp>
        <p:nvSpPr>
          <p:cNvPr id="5" name="Rounded Rectangle 4"/>
          <p:cNvSpPr/>
          <p:nvPr/>
        </p:nvSpPr>
        <p:spPr>
          <a:xfrm>
            <a:off x="502920" y="1097280"/>
            <a:ext cx="5943600" cy="685800"/>
          </a:xfrm>
          <a:prstGeom prst="roundRect">
            <a:avLst>
              <a:gd name="adj" fmla="val 6000"/>
            </a:avLst>
          </a:prstGeom>
          <a:solidFill>
            <a:srgbClr val="15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5669280" cy="685800"/>
          </a:xfrm>
          <a:prstGeom prst="rect">
            <a:avLst/>
          </a:prstGeom>
          <a:noFill/>
        </p:spPr>
        <p:txBody>
          <a:bodyPr wrap="square" anchor="ctr" lIns="0" rIns="0" tIns="0" bIns="0">
            <a:spAutoFit/>
          </a:bodyPr>
          <a:lstStyle/>
          <a:p>
            <a:pPr algn="l">
              <a:spcAft>
                <a:spcPts val="0"/>
              </a:spcAft>
            </a:pPr>
            <a:r>
              <a:rPr sz="1900" b="1" i="0">
                <a:solidFill>
                  <a:srgbClr val="FFFFFF"/>
                </a:solidFill>
                <a:latin typeface="Cambria"/>
              </a:rPr>
              <a:t>R = (z − β·g) − median of same-land-cover peers</a:t>
            </a:r>
          </a:p>
        </p:txBody>
      </p:sp>
      <p:graphicFrame>
        <p:nvGraphicFramePr>
          <p:cNvPr id="7" name="Table 6"/>
          <p:cNvGraphicFramePr>
            <a:graphicFrameLocks noGrp="1"/>
          </p:cNvGraphicFramePr>
          <p:nvPr/>
        </p:nvGraphicFramePr>
        <p:xfrm>
          <a:off x="502920" y="1920240"/>
          <a:ext cx="5943600" cy="2432304"/>
        </p:xfrm>
        <a:graphic>
          <a:graphicData uri="http://schemas.openxmlformats.org/drawingml/2006/table">
            <a:tbl>
              <a:tblPr firstRow="1" bandRow="1">
                <a:tableStyleId>{5C22544A-7EE6-4342-B048-85BDC9FD1C3A}</a:tableStyleId>
              </a:tblPr>
              <a:tblGrid>
                <a:gridCol w="2468880"/>
                <a:gridCol w="1737360"/>
                <a:gridCol w="1737360"/>
              </a:tblGrid>
              <a:tr h="347472">
                <a:tc>
                  <a:txBody>
                    <a:bodyPr/>
                    <a:lstStyle/>
                    <a:p>
                      <a:r>
                        <a:rPr sz="1300" b="1">
                          <a:solidFill>
                            <a:srgbClr val="FFFFFF"/>
                          </a:solidFill>
                          <a:latin typeface="Calibri"/>
                        </a:rPr>
                        <a:t/>
                      </a:r>
                    </a:p>
                  </a:txBody>
                  <a:tcPr marL="54864" marR="54864" marT="18288" marB="18288" anchor="ctr">
                    <a:solidFill>
                      <a:srgbClr val="2E6B3F"/>
                    </a:solidFill>
                  </a:tcPr>
                </a:tc>
                <a:tc>
                  <a:txBody>
                    <a:bodyPr/>
                    <a:lstStyle/>
                    <a:p>
                      <a:r>
                        <a:rPr sz="1300" b="1">
                          <a:solidFill>
                            <a:srgbClr val="FFFFFF"/>
                          </a:solidFill>
                          <a:latin typeface="Calibri"/>
                        </a:rPr>
                        <a:t>Drought year</a:t>
                      </a:r>
                    </a:p>
                  </a:txBody>
                  <a:tcPr marL="54864" marR="54864" marT="18288" marB="18288" anchor="ctr">
                    <a:solidFill>
                      <a:srgbClr val="2E6B3F"/>
                    </a:solidFill>
                  </a:tcPr>
                </a:tc>
                <a:tc>
                  <a:txBody>
                    <a:bodyPr/>
                    <a:lstStyle/>
                    <a:p>
                      <a:r>
                        <a:rPr sz="1300" b="1">
                          <a:solidFill>
                            <a:srgbClr val="FFFFFF"/>
                          </a:solidFill>
                          <a:latin typeface="Calibri"/>
                        </a:rPr>
                        <a:t>Normal-rain year</a:t>
                      </a:r>
                    </a:p>
                  </a:txBody>
                  <a:tcPr marL="54864" marR="54864" marT="18288" marB="18288" anchor="ctr">
                    <a:solidFill>
                      <a:srgbClr val="2E6B3F"/>
                    </a:solidFill>
                  </a:tcPr>
                </a:tc>
              </a:tr>
              <a:tr h="347472">
                <a:tc>
                  <a:txBody>
                    <a:bodyPr/>
                    <a:lstStyle/>
                    <a:p>
                      <a:r>
                        <a:rPr sz="1300" b="0">
                          <a:solidFill>
                            <a:srgbClr val="1E2420"/>
                          </a:solidFill>
                          <a:latin typeface="Calibri"/>
                        </a:rPr>
                        <a:t>Anomaly z</a:t>
                      </a:r>
                    </a:p>
                  </a:txBody>
                  <a:tcPr marL="54864" marR="54864" marT="18288" marB="18288" anchor="ctr">
                    <a:solidFill>
                      <a:srgbClr val="F4F6F5"/>
                    </a:solidFill>
                  </a:tcPr>
                </a:tc>
                <a:tc>
                  <a:txBody>
                    <a:bodyPr/>
                    <a:lstStyle/>
                    <a:p>
                      <a:r>
                        <a:rPr sz="1300" b="0">
                          <a:solidFill>
                            <a:srgbClr val="1E2420"/>
                          </a:solidFill>
                          <a:latin typeface="Calibri"/>
                        </a:rPr>
                        <a:t>−2.5</a:t>
                      </a:r>
                    </a:p>
                  </a:txBody>
                  <a:tcPr marL="54864" marR="54864" marT="18288" marB="18288" anchor="ctr">
                    <a:solidFill>
                      <a:srgbClr val="F4F6F5"/>
                    </a:solidFill>
                  </a:tcPr>
                </a:tc>
                <a:tc>
                  <a:txBody>
                    <a:bodyPr/>
                    <a:lstStyle/>
                    <a:p>
                      <a:r>
                        <a:rPr sz="1300" b="0">
                          <a:solidFill>
                            <a:srgbClr val="1E2420"/>
                          </a:solidFill>
                          <a:latin typeface="Calibri"/>
                        </a:rPr>
                        <a:t>−2.5</a:t>
                      </a:r>
                    </a:p>
                  </a:txBody>
                  <a:tcPr marL="54864" marR="54864" marT="18288" marB="18288" anchor="ctr">
                    <a:solidFill>
                      <a:srgbClr val="F4F6F5"/>
                    </a:solidFill>
                  </a:tcPr>
                </a:tc>
              </a:tr>
              <a:tr h="347472">
                <a:tc>
                  <a:txBody>
                    <a:bodyPr/>
                    <a:lstStyle/>
                    <a:p>
                      <a:r>
                        <a:rPr sz="1300" b="0">
                          <a:solidFill>
                            <a:srgbClr val="1E2420"/>
                          </a:solidFill>
                          <a:latin typeface="Calibri"/>
                        </a:rPr>
                        <a:t>Weather-expected g (β = 1)</a:t>
                      </a:r>
                    </a:p>
                  </a:txBody>
                  <a:tcPr marL="54864" marR="54864" marT="18288" marB="18288" anchor="ctr">
                    <a:solidFill>
                      <a:srgbClr val="FFFFFF"/>
                    </a:solidFill>
                  </a:tcPr>
                </a:tc>
                <a:tc>
                  <a:txBody>
                    <a:bodyPr/>
                    <a:lstStyle/>
                    <a:p>
                      <a:r>
                        <a:rPr sz="1300" b="0">
                          <a:solidFill>
                            <a:srgbClr val="1E2420"/>
                          </a:solidFill>
                          <a:latin typeface="Calibri"/>
                        </a:rPr>
                        <a:t>−2.0</a:t>
                      </a:r>
                    </a:p>
                  </a:txBody>
                  <a:tcPr marL="54864" marR="54864" marT="18288" marB="18288" anchor="ctr">
                    <a:solidFill>
                      <a:srgbClr val="FFFFFF"/>
                    </a:solidFill>
                  </a:tcPr>
                </a:tc>
                <a:tc>
                  <a:txBody>
                    <a:bodyPr/>
                    <a:lstStyle/>
                    <a:p>
                      <a:r>
                        <a:rPr sz="1300" b="0">
                          <a:solidFill>
                            <a:srgbClr val="1E2420"/>
                          </a:solidFill>
                          <a:latin typeface="Calibri"/>
                        </a:rPr>
                        <a:t>0.0</a:t>
                      </a:r>
                    </a:p>
                  </a:txBody>
                  <a:tcPr marL="54864" marR="54864" marT="18288" marB="18288" anchor="ctr">
                    <a:solidFill>
                      <a:srgbClr val="FFFFFF"/>
                    </a:solidFill>
                  </a:tcPr>
                </a:tc>
              </a:tr>
              <a:tr h="347472">
                <a:tc>
                  <a:txBody>
                    <a:bodyPr/>
                    <a:lstStyle/>
                    <a:p>
                      <a:r>
                        <a:rPr sz="1300" b="0">
                          <a:solidFill>
                            <a:srgbClr val="1E2420"/>
                          </a:solidFill>
                          <a:latin typeface="Calibri"/>
                        </a:rPr>
                        <a:t>z − β·g</a:t>
                      </a:r>
                    </a:p>
                  </a:txBody>
                  <a:tcPr marL="54864" marR="54864" marT="18288" marB="18288" anchor="ctr">
                    <a:solidFill>
                      <a:srgbClr val="F4F6F5"/>
                    </a:solidFill>
                  </a:tcPr>
                </a:tc>
                <a:tc>
                  <a:txBody>
                    <a:bodyPr/>
                    <a:lstStyle/>
                    <a:p>
                      <a:r>
                        <a:rPr sz="1300" b="0">
                          <a:solidFill>
                            <a:srgbClr val="1E2420"/>
                          </a:solidFill>
                          <a:latin typeface="Calibri"/>
                        </a:rPr>
                        <a:t>−0.5</a:t>
                      </a:r>
                    </a:p>
                  </a:txBody>
                  <a:tcPr marL="54864" marR="54864" marT="18288" marB="18288" anchor="ctr">
                    <a:solidFill>
                      <a:srgbClr val="F4F6F5"/>
                    </a:solidFill>
                  </a:tcPr>
                </a:tc>
                <a:tc>
                  <a:txBody>
                    <a:bodyPr/>
                    <a:lstStyle/>
                    <a:p>
                      <a:r>
                        <a:rPr sz="1300" b="0">
                          <a:solidFill>
                            <a:srgbClr val="1E2420"/>
                          </a:solidFill>
                          <a:latin typeface="Calibri"/>
                        </a:rPr>
                        <a:t>−2.5</a:t>
                      </a:r>
                    </a:p>
                  </a:txBody>
                  <a:tcPr marL="54864" marR="54864" marT="18288" marB="18288" anchor="ctr">
                    <a:solidFill>
                      <a:srgbClr val="F4F6F5"/>
                    </a:solidFill>
                  </a:tcPr>
                </a:tc>
              </a:tr>
              <a:tr h="347472">
                <a:tc>
                  <a:txBody>
                    <a:bodyPr/>
                    <a:lstStyle/>
                    <a:p>
                      <a:r>
                        <a:rPr sz="1300" b="0">
                          <a:solidFill>
                            <a:srgbClr val="1E2420"/>
                          </a:solidFill>
                          <a:latin typeface="Calibri"/>
                        </a:rPr>
                        <a:t>Peers' median</a:t>
                      </a:r>
                    </a:p>
                  </a:txBody>
                  <a:tcPr marL="54864" marR="54864" marT="18288" marB="18288" anchor="ctr">
                    <a:solidFill>
                      <a:srgbClr val="FFFFFF"/>
                    </a:solidFill>
                  </a:tcPr>
                </a:tc>
                <a:tc>
                  <a:txBody>
                    <a:bodyPr/>
                    <a:lstStyle/>
                    <a:p>
                      <a:r>
                        <a:rPr sz="1300" b="0">
                          <a:solidFill>
                            <a:srgbClr val="1E2420"/>
                          </a:solidFill>
                          <a:latin typeface="Calibri"/>
                        </a:rPr>
                        <a:t>−0.3</a:t>
                      </a:r>
                    </a:p>
                  </a:txBody>
                  <a:tcPr marL="54864" marR="54864" marT="18288" marB="18288" anchor="ctr">
                    <a:solidFill>
                      <a:srgbClr val="FFFFFF"/>
                    </a:solidFill>
                  </a:tcPr>
                </a:tc>
                <a:tc>
                  <a:txBody>
                    <a:bodyPr/>
                    <a:lstStyle/>
                    <a:p>
                      <a:r>
                        <a:rPr sz="1300" b="0">
                          <a:solidFill>
                            <a:srgbClr val="1E2420"/>
                          </a:solidFill>
                          <a:latin typeface="Calibri"/>
                        </a:rPr>
                        <a:t>0.0</a:t>
                      </a:r>
                    </a:p>
                  </a:txBody>
                  <a:tcPr marL="54864" marR="54864" marT="18288" marB="18288" anchor="ctr">
                    <a:solidFill>
                      <a:srgbClr val="FFFFFF"/>
                    </a:solidFill>
                  </a:tcPr>
                </a:tc>
              </a:tr>
              <a:tr h="347472">
                <a:tc>
                  <a:txBody>
                    <a:bodyPr/>
                    <a:lstStyle/>
                    <a:p>
                      <a:r>
                        <a:rPr sz="1300" b="0">
                          <a:solidFill>
                            <a:srgbClr val="1E2420"/>
                          </a:solidFill>
                          <a:latin typeface="Calibri"/>
                        </a:rPr>
                        <a:t>Residual R</a:t>
                      </a:r>
                    </a:p>
                  </a:txBody>
                  <a:tcPr marL="54864" marR="54864" marT="18288" marB="18288" anchor="ctr">
                    <a:solidFill>
                      <a:srgbClr val="F4F6F5"/>
                    </a:solidFill>
                  </a:tcPr>
                </a:tc>
                <a:tc>
                  <a:txBody>
                    <a:bodyPr/>
                    <a:lstStyle/>
                    <a:p>
                      <a:r>
                        <a:rPr sz="1300" b="0">
                          <a:solidFill>
                            <a:srgbClr val="1E2420"/>
                          </a:solidFill>
                          <a:latin typeface="Calibri"/>
                        </a:rPr>
                        <a:t>−0.2</a:t>
                      </a:r>
                    </a:p>
                  </a:txBody>
                  <a:tcPr marL="54864" marR="54864" marT="18288" marB="18288" anchor="ctr">
                    <a:solidFill>
                      <a:srgbClr val="F4F6F5"/>
                    </a:solidFill>
                  </a:tcPr>
                </a:tc>
                <a:tc>
                  <a:txBody>
                    <a:bodyPr/>
                    <a:lstStyle/>
                    <a:p>
                      <a:r>
                        <a:rPr sz="1300" b="0">
                          <a:solidFill>
                            <a:srgbClr val="1E2420"/>
                          </a:solidFill>
                          <a:latin typeface="Calibri"/>
                        </a:rPr>
                        <a:t>−2.5</a:t>
                      </a:r>
                    </a:p>
                  </a:txBody>
                  <a:tcPr marL="54864" marR="54864" marT="18288" marB="18288" anchor="ctr">
                    <a:solidFill>
                      <a:srgbClr val="F4F6F5"/>
                    </a:solidFill>
                  </a:tcPr>
                </a:tc>
              </a:tr>
              <a:tr h="347472">
                <a:tc>
                  <a:txBody>
                    <a:bodyPr/>
                    <a:lstStyle/>
                    <a:p>
                      <a:r>
                        <a:rPr sz="1300" b="0">
                          <a:solidFill>
                            <a:srgbClr val="1E2420"/>
                          </a:solidFill>
                          <a:latin typeface="Calibri"/>
                        </a:rPr>
                        <a:t>Below expectation? (R ≤ −1)</a:t>
                      </a:r>
                    </a:p>
                  </a:txBody>
                  <a:tcPr marL="54864" marR="54864" marT="18288" marB="18288" anchor="ctr">
                    <a:solidFill>
                      <a:srgbClr val="FFFFFF"/>
                    </a:solidFill>
                  </a:tcPr>
                </a:tc>
                <a:tc>
                  <a:txBody>
                    <a:bodyPr/>
                    <a:lstStyle/>
                    <a:p>
                      <a:r>
                        <a:rPr sz="1300" b="0">
                          <a:solidFill>
                            <a:srgbClr val="1E2420"/>
                          </a:solidFill>
                          <a:latin typeface="Calibri"/>
                        </a:rPr>
                        <a:t>No: weather explains it</a:t>
                      </a:r>
                    </a:p>
                  </a:txBody>
                  <a:tcPr marL="54864" marR="54864" marT="18288" marB="18288" anchor="ctr">
                    <a:solidFill>
                      <a:srgbClr val="FFFFFF"/>
                    </a:solidFill>
                  </a:tcPr>
                </a:tc>
                <a:tc>
                  <a:txBody>
                    <a:bodyPr/>
                    <a:lstStyle/>
                    <a:p>
                      <a:r>
                        <a:rPr sz="1300" b="0">
                          <a:solidFill>
                            <a:srgbClr val="1E2420"/>
                          </a:solidFill>
                          <a:latin typeface="Calibri"/>
                        </a:rPr>
                        <a:t>Yes</a:t>
                      </a:r>
                    </a:p>
                  </a:txBody>
                  <a:tcPr marL="54864" marR="54864" marT="18288" marB="18288" anchor="ctr">
                    <a:solidFill>
                      <a:srgbClr val="FFFFFF"/>
                    </a:solidFill>
                  </a:tcPr>
                </a:tc>
              </a:tr>
            </a:tbl>
          </a:graphicData>
        </a:graphic>
      </p:graphicFrame>
      <p:sp>
        <p:nvSpPr>
          <p:cNvPr id="8" name="TextBox 7"/>
          <p:cNvSpPr txBox="1"/>
          <p:nvPr/>
        </p:nvSpPr>
        <p:spPr>
          <a:xfrm>
            <a:off x="502920" y="4389120"/>
            <a:ext cx="5943600" cy="777240"/>
          </a:xfrm>
          <a:prstGeom prst="rect">
            <a:avLst/>
          </a:prstGeom>
          <a:noFill/>
        </p:spPr>
        <p:txBody>
          <a:bodyPr wrap="square" anchor="t" lIns="0" rIns="0" tIns="0" bIns="0">
            <a:spAutoFit/>
          </a:bodyPr>
          <a:lstStyle/>
          <a:p>
            <a:pPr algn="l">
              <a:spcAft>
                <a:spcPts val="0"/>
              </a:spcAft>
            </a:pPr>
            <a:r>
              <a:rPr sz="1350" b="1" i="0">
                <a:solidFill>
                  <a:srgbClr val="15291C"/>
                </a:solidFill>
                <a:latin typeface="Calibri"/>
              </a:rPr>
              <a:t>Label rule: </a:t>
            </a:r>
            <a:r>
              <a:rPr sz="1350" b="0" i="0">
                <a:solidFill>
                  <a:srgbClr val="1E2420"/>
                </a:solidFill>
                <a:latin typeface="Calibri"/>
              </a:rPr>
              <a:t>onset = ≥ 6 months in a row below expectation (and ≥ 0.02 NDVI under peers), ≥ 75 % of months observed, mean loss ≥ 0.05 NDVI. Target yₜ = 1 if an onset falls in months t+1 … t+6.</a:t>
            </a:r>
          </a:p>
        </p:txBody>
      </p:sp>
      <p:sp>
        <p:nvSpPr>
          <p:cNvPr id="9" name="Rounded Rectangle 8"/>
          <p:cNvSpPr/>
          <p:nvPr/>
        </p:nvSpPr>
        <p:spPr>
          <a:xfrm>
            <a:off x="502920" y="5166360"/>
            <a:ext cx="5943600" cy="12344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528523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1" name="TextBox 10"/>
          <p:cNvSpPr txBox="1"/>
          <p:nvPr/>
        </p:nvSpPr>
        <p:spPr>
          <a:xfrm>
            <a:off x="1005840" y="5276088"/>
            <a:ext cx="530352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2" name="TextBox 11"/>
          <p:cNvSpPr txBox="1"/>
          <p:nvPr/>
        </p:nvSpPr>
        <p:spPr>
          <a:xfrm>
            <a:off x="640080" y="5669280"/>
            <a:ext cx="5669280" cy="640080"/>
          </a:xfrm>
          <a:prstGeom prst="rect">
            <a:avLst/>
          </a:prstGeom>
          <a:noFill/>
        </p:spPr>
        <p:txBody>
          <a:bodyPr wrap="square" anchor="t" lIns="0" rIns="0" tIns="0" bIns="0">
            <a:spAutoFit/>
          </a:bodyPr>
          <a:lstStyle/>
          <a:p>
            <a:pPr algn="l">
              <a:spcAft>
                <a:spcPts val="500"/>
              </a:spcAft>
            </a:pPr>
            <a:r>
              <a:rPr sz="1100" b="1" i="0">
                <a:solidFill>
                  <a:srgbClr val="2E6B3F"/>
                </a:solidFill>
                <a:latin typeface="Calibri"/>
              </a:rPr>
              <a:t>g, β — </a:t>
            </a:r>
            <a:r>
              <a:rPr sz="1100" b="0" i="0">
                <a:solidFill>
                  <a:srgbClr val="1E2420"/>
                </a:solidFill>
                <a:latin typeface="Calibri"/>
              </a:rPr>
              <a:t>g = weather-predicted anomaly from rain, temperature, soil water; β = how strongly this pixel follows it (0–3)</a:t>
            </a:r>
          </a:p>
          <a:p>
            <a:pPr algn="l">
              <a:spcAft>
                <a:spcPts val="500"/>
              </a:spcAft>
            </a:pPr>
            <a:r>
              <a:rPr sz="1100" b="1" i="0">
                <a:solidFill>
                  <a:srgbClr val="2E6B3F"/>
                </a:solidFill>
                <a:latin typeface="Calibri"/>
              </a:rPr>
              <a:t>Peers — </a:t>
            </a:r>
            <a:r>
              <a:rPr sz="1100" b="0" i="0">
                <a:solidFill>
                  <a:srgbClr val="1E2420"/>
                </a:solidFill>
                <a:latin typeface="Calibri"/>
              </a:rPr>
              <a:t>pixels of the same land cover in the same area</a:t>
            </a:r>
          </a:p>
        </p:txBody>
      </p:sp>
      <p:pic>
        <p:nvPicPr>
          <p:cNvPr id="13" name="Picture 12" descr="fig03_method_example.png"/>
          <p:cNvPicPr>
            <a:picLocks noChangeAspect="1"/>
          </p:cNvPicPr>
          <p:nvPr/>
        </p:nvPicPr>
        <p:blipFill>
          <a:blip r:embed="rId3"/>
          <a:stretch>
            <a:fillRect/>
          </a:stretch>
        </p:blipFill>
        <p:spPr>
          <a:xfrm>
            <a:off x="6675120" y="1757871"/>
            <a:ext cx="5029200" cy="3616576"/>
          </a:xfrm>
          <a:prstGeom prst="rect">
            <a:avLst/>
          </a:prstGeom>
        </p:spPr>
      </p:pic>
      <p:sp>
        <p:nvSpPr>
          <p:cNvPr id="14" name="TextBox 13"/>
          <p:cNvSpPr txBox="1"/>
          <p:nvPr/>
        </p:nvSpPr>
        <p:spPr>
          <a:xfrm>
            <a:off x="6675120" y="5392736"/>
            <a:ext cx="502920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Real pixel (Spain): observation, climate-expected, residual, labelled onsets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What the model sees and how it learns</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9</a:t>
            </a:r>
          </a:p>
        </p:txBody>
      </p:sp>
      <p:sp>
        <p:nvSpPr>
          <p:cNvPr id="5" name="Rounded Rectangle 4"/>
          <p:cNvSpPr/>
          <p:nvPr/>
        </p:nvSpPr>
        <p:spPr>
          <a:xfrm>
            <a:off x="502920" y="1097280"/>
            <a:ext cx="2743200" cy="82296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8" y="1298448"/>
            <a:ext cx="420624" cy="420624"/>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mbria"/>
              </a:rPr>
              <a:t>A1</a:t>
            </a:r>
          </a:p>
        </p:txBody>
      </p:sp>
      <p:sp>
        <p:nvSpPr>
          <p:cNvPr id="7" name="TextBox 6"/>
          <p:cNvSpPr txBox="1"/>
          <p:nvPr/>
        </p:nvSpPr>
        <p:spPr>
          <a:xfrm>
            <a:off x="1124712" y="1170432"/>
            <a:ext cx="2057400" cy="731520"/>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State</a:t>
            </a:r>
          </a:p>
          <a:p>
            <a:pPr algn="l">
              <a:spcAft>
                <a:spcPts val="0"/>
              </a:spcAft>
            </a:pPr>
            <a:r>
              <a:rPr sz="1200" b="0" i="0">
                <a:solidFill>
                  <a:srgbClr val="1E2420"/>
                </a:solidFill>
                <a:latin typeface="Calibri"/>
              </a:rPr>
              <a:t>current NDVI, σ, land cover</a:t>
            </a:r>
          </a:p>
        </p:txBody>
      </p:sp>
      <p:sp>
        <p:nvSpPr>
          <p:cNvPr id="8" name="Rounded Rectangle 7"/>
          <p:cNvSpPr/>
          <p:nvPr/>
        </p:nvSpPr>
        <p:spPr>
          <a:xfrm>
            <a:off x="3383280" y="1097280"/>
            <a:ext cx="2743200" cy="82296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493008" y="1298448"/>
            <a:ext cx="420624" cy="420624"/>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mbria"/>
              </a:rPr>
              <a:t>A2</a:t>
            </a:r>
          </a:p>
        </p:txBody>
      </p:sp>
      <p:sp>
        <p:nvSpPr>
          <p:cNvPr id="10" name="TextBox 9"/>
          <p:cNvSpPr txBox="1"/>
          <p:nvPr/>
        </p:nvSpPr>
        <p:spPr>
          <a:xfrm>
            <a:off x="4005072" y="1170432"/>
            <a:ext cx="2057400" cy="731520"/>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Change</a:t>
            </a:r>
          </a:p>
          <a:p>
            <a:pPr algn="l">
              <a:spcAft>
                <a:spcPts val="0"/>
              </a:spcAft>
            </a:pPr>
            <a:r>
              <a:rPr sz="1200" b="0" i="0">
                <a:solidFill>
                  <a:srgbClr val="1E2420"/>
                </a:solidFill>
                <a:latin typeface="Calibri"/>
              </a:rPr>
              <a:t>NDVI change over 3, 12, 36 months</a:t>
            </a:r>
          </a:p>
        </p:txBody>
      </p:sp>
      <p:sp>
        <p:nvSpPr>
          <p:cNvPr id="11" name="Rounded Rectangle 10"/>
          <p:cNvSpPr/>
          <p:nvPr/>
        </p:nvSpPr>
        <p:spPr>
          <a:xfrm>
            <a:off x="502920" y="2029967"/>
            <a:ext cx="2743200" cy="82296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8" y="2231136"/>
            <a:ext cx="420624" cy="420624"/>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mbria"/>
              </a:rPr>
              <a:t>A3</a:t>
            </a:r>
          </a:p>
        </p:txBody>
      </p:sp>
      <p:sp>
        <p:nvSpPr>
          <p:cNvPr id="13" name="TextBox 12"/>
          <p:cNvSpPr txBox="1"/>
          <p:nvPr/>
        </p:nvSpPr>
        <p:spPr>
          <a:xfrm>
            <a:off x="1124712" y="2103120"/>
            <a:ext cx="2057400" cy="731520"/>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Climate</a:t>
            </a:r>
          </a:p>
          <a:p>
            <a:pPr algn="l">
              <a:spcAft>
                <a:spcPts val="0"/>
              </a:spcAft>
            </a:pPr>
            <a:r>
              <a:rPr sz="1200" b="0" i="0">
                <a:solidFill>
                  <a:srgbClr val="1E2420"/>
                </a:solidFill>
                <a:latin typeface="Calibri"/>
              </a:rPr>
              <a:t>rain, temperature, soil-water anomalies</a:t>
            </a:r>
          </a:p>
        </p:txBody>
      </p:sp>
      <p:sp>
        <p:nvSpPr>
          <p:cNvPr id="14" name="Rounded Rectangle 13"/>
          <p:cNvSpPr/>
          <p:nvPr/>
        </p:nvSpPr>
        <p:spPr>
          <a:xfrm>
            <a:off x="3383280" y="2029967"/>
            <a:ext cx="2743200" cy="82296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93008" y="2231136"/>
            <a:ext cx="420624" cy="420624"/>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mbria"/>
              </a:rPr>
              <a:t>A4</a:t>
            </a:r>
          </a:p>
        </p:txBody>
      </p:sp>
      <p:sp>
        <p:nvSpPr>
          <p:cNvPr id="16" name="TextBox 15"/>
          <p:cNvSpPr txBox="1"/>
          <p:nvPr/>
        </p:nvSpPr>
        <p:spPr>
          <a:xfrm>
            <a:off x="4005072" y="2103120"/>
            <a:ext cx="2057400" cy="731520"/>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Residual</a:t>
            </a:r>
          </a:p>
          <a:p>
            <a:pPr algn="l">
              <a:spcAft>
                <a:spcPts val="0"/>
              </a:spcAft>
            </a:pPr>
            <a:r>
              <a:rPr sz="1200" b="0" i="0">
                <a:solidFill>
                  <a:srgbClr val="1E2420"/>
                </a:solidFill>
                <a:latin typeface="Calibri"/>
              </a:rPr>
              <a:t>R mean, minimum, months below, run length</a:t>
            </a:r>
          </a:p>
        </p:txBody>
      </p:sp>
      <p:sp>
        <p:nvSpPr>
          <p:cNvPr id="17" name="Rounded Rectangle 16"/>
          <p:cNvSpPr/>
          <p:nvPr/>
        </p:nvSpPr>
        <p:spPr>
          <a:xfrm>
            <a:off x="502920" y="2962656"/>
            <a:ext cx="2743200" cy="82296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8" y="3163824"/>
            <a:ext cx="420624" cy="420624"/>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mbria"/>
              </a:rPr>
              <a:t>A5</a:t>
            </a:r>
          </a:p>
        </p:txBody>
      </p:sp>
      <p:sp>
        <p:nvSpPr>
          <p:cNvPr id="19" name="TextBox 18"/>
          <p:cNvSpPr txBox="1"/>
          <p:nvPr/>
        </p:nvSpPr>
        <p:spPr>
          <a:xfrm>
            <a:off x="1124712" y="3035808"/>
            <a:ext cx="2057400" cy="731520"/>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Resilience</a:t>
            </a:r>
          </a:p>
          <a:p>
            <a:pPr algn="l">
              <a:spcAft>
                <a:spcPts val="0"/>
              </a:spcAft>
            </a:pPr>
            <a:r>
              <a:rPr sz="1200" b="0" i="0">
                <a:solidFill>
                  <a:srgbClr val="1E2420"/>
                </a:solidFill>
                <a:latin typeface="Calibri"/>
              </a:rPr>
              <a:t>AC1, variance (24 mo), MODIS 5-year signals</a:t>
            </a:r>
          </a:p>
        </p:txBody>
      </p:sp>
      <p:sp>
        <p:nvSpPr>
          <p:cNvPr id="20" name="Rounded Rectangle 19"/>
          <p:cNvSpPr/>
          <p:nvPr/>
        </p:nvSpPr>
        <p:spPr>
          <a:xfrm>
            <a:off x="3383280" y="2962656"/>
            <a:ext cx="2743200" cy="82296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493008" y="3163824"/>
            <a:ext cx="420624" cy="420624"/>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mbria"/>
              </a:rPr>
              <a:t>A6</a:t>
            </a:r>
          </a:p>
        </p:txBody>
      </p:sp>
      <p:sp>
        <p:nvSpPr>
          <p:cNvPr id="22" name="TextBox 21"/>
          <p:cNvSpPr txBox="1"/>
          <p:nvPr/>
        </p:nvSpPr>
        <p:spPr>
          <a:xfrm>
            <a:off x="4005072" y="3035808"/>
            <a:ext cx="2057400" cy="731520"/>
          </a:xfrm>
          <a:prstGeom prst="rect">
            <a:avLst/>
          </a:prstGeom>
          <a:noFill/>
        </p:spPr>
        <p:txBody>
          <a:bodyPr wrap="square" anchor="t" lIns="0" rIns="0" tIns="0" bIns="0">
            <a:spAutoFit/>
          </a:bodyPr>
          <a:lstStyle/>
          <a:p>
            <a:pPr algn="l">
              <a:spcAft>
                <a:spcPts val="0"/>
              </a:spcAft>
            </a:pPr>
            <a:r>
              <a:rPr sz="1400" b="1" i="0">
                <a:solidFill>
                  <a:srgbClr val="15291C"/>
                </a:solidFill>
                <a:latin typeface="Calibri"/>
              </a:rPr>
              <a:t>Context</a:t>
            </a:r>
          </a:p>
          <a:p>
            <a:pPr algn="l">
              <a:spcAft>
                <a:spcPts val="0"/>
              </a:spcAft>
            </a:pPr>
            <a:r>
              <a:rPr sz="1200" b="0" i="0">
                <a:solidFill>
                  <a:srgbClr val="1E2420"/>
                </a:solidFill>
                <a:latin typeface="Calibri"/>
              </a:rPr>
              <a:t>distance to river, slope, elevation, water</a:t>
            </a:r>
          </a:p>
        </p:txBody>
      </p:sp>
      <p:graphicFrame>
        <p:nvGraphicFramePr>
          <p:cNvPr id="23" name="Table 22"/>
          <p:cNvGraphicFramePr>
            <a:graphicFrameLocks noGrp="1"/>
          </p:cNvGraphicFramePr>
          <p:nvPr/>
        </p:nvGraphicFramePr>
        <p:xfrm>
          <a:off x="6400800" y="1097280"/>
          <a:ext cx="5303520" cy="2688336"/>
        </p:xfrm>
        <a:graphic>
          <a:graphicData uri="http://schemas.openxmlformats.org/drawingml/2006/table">
            <a:tbl>
              <a:tblPr firstRow="1" bandRow="1">
                <a:tableStyleId>{5C22544A-7EE6-4342-B048-85BDC9FD1C3A}</a:tableStyleId>
              </a:tblPr>
              <a:tblGrid>
                <a:gridCol w="2194560"/>
                <a:gridCol w="3108960"/>
              </a:tblGrid>
              <a:tr h="384048">
                <a:tc>
                  <a:txBody>
                    <a:bodyPr/>
                    <a:lstStyle/>
                    <a:p>
                      <a:r>
                        <a:rPr sz="1200" b="1">
                          <a:solidFill>
                            <a:srgbClr val="FFFFFF"/>
                          </a:solidFill>
                          <a:latin typeface="Calibri"/>
                        </a:rPr>
                        <a:t>LightGBM setting</a:t>
                      </a:r>
                    </a:p>
                  </a:txBody>
                  <a:tcPr marL="54864" marR="54864" marT="18288" marB="18288" anchor="ctr">
                    <a:solidFill>
                      <a:srgbClr val="2E6B3F"/>
                    </a:solidFill>
                  </a:tcPr>
                </a:tc>
                <a:tc>
                  <a:txBody>
                    <a:bodyPr/>
                    <a:lstStyle/>
                    <a:p>
                      <a:r>
                        <a:rPr sz="1200" b="1">
                          <a:solidFill>
                            <a:srgbClr val="FFFFFF"/>
                          </a:solidFill>
                          <a:latin typeface="Calibri"/>
                        </a:rPr>
                        <a:t>Plain meaning</a:t>
                      </a:r>
                    </a:p>
                  </a:txBody>
                  <a:tcPr marL="54864" marR="54864" marT="18288" marB="18288" anchor="ctr">
                    <a:solidFill>
                      <a:srgbClr val="2E6B3F"/>
                    </a:solidFill>
                  </a:tcPr>
                </a:tc>
              </a:tr>
              <a:tr h="384048">
                <a:tc>
                  <a:txBody>
                    <a:bodyPr/>
                    <a:lstStyle/>
                    <a:p>
                      <a:r>
                        <a:rPr sz="1200" b="0">
                          <a:solidFill>
                            <a:srgbClr val="1E2420"/>
                          </a:solidFill>
                          <a:latin typeface="Calibri"/>
                        </a:rPr>
                        <a:t>7 leaves per tree</a:t>
                      </a:r>
                    </a:p>
                  </a:txBody>
                  <a:tcPr marL="54864" marR="54864" marT="18288" marB="18288" anchor="ctr">
                    <a:solidFill>
                      <a:srgbClr val="F4F6F5"/>
                    </a:solidFill>
                  </a:tcPr>
                </a:tc>
                <a:tc>
                  <a:txBody>
                    <a:bodyPr/>
                    <a:lstStyle/>
                    <a:p>
                      <a:r>
                        <a:rPr sz="1200" b="0">
                          <a:solidFill>
                            <a:srgbClr val="1E2420"/>
                          </a:solidFill>
                          <a:latin typeface="Calibri"/>
                        </a:rPr>
                        <a:t>each tree is a tiny rule set → less memorising</a:t>
                      </a:r>
                    </a:p>
                  </a:txBody>
                  <a:tcPr marL="54864" marR="54864" marT="18288" marB="18288" anchor="ctr">
                    <a:solidFill>
                      <a:srgbClr val="F4F6F5"/>
                    </a:solidFill>
                  </a:tcPr>
                </a:tc>
              </a:tr>
              <a:tr h="384048">
                <a:tc>
                  <a:txBody>
                    <a:bodyPr/>
                    <a:lstStyle/>
                    <a:p>
                      <a:r>
                        <a:rPr sz="1200" b="0">
                          <a:solidFill>
                            <a:srgbClr val="1E2420"/>
                          </a:solidFill>
                          <a:latin typeface="Calibri"/>
                        </a:rPr>
                        <a:t>≥ 4 000 pixels per leaf</a:t>
                      </a:r>
                    </a:p>
                  </a:txBody>
                  <a:tcPr marL="54864" marR="54864" marT="18288" marB="18288" anchor="ctr">
                    <a:solidFill>
                      <a:srgbClr val="FFFFFF"/>
                    </a:solidFill>
                  </a:tcPr>
                </a:tc>
                <a:tc>
                  <a:txBody>
                    <a:bodyPr/>
                    <a:lstStyle/>
                    <a:p>
                      <a:r>
                        <a:rPr sz="1200" b="0">
                          <a:solidFill>
                            <a:srgbClr val="1E2420"/>
                          </a:solidFill>
                          <a:latin typeface="Calibri"/>
                        </a:rPr>
                        <a:t>no rule may rest on a handful of pixels</a:t>
                      </a:r>
                    </a:p>
                  </a:txBody>
                  <a:tcPr marL="54864" marR="54864" marT="18288" marB="18288" anchor="ctr">
                    <a:solidFill>
                      <a:srgbClr val="FFFFFF"/>
                    </a:solidFill>
                  </a:tcPr>
                </a:tc>
              </a:tr>
              <a:tr h="384048">
                <a:tc>
                  <a:txBody>
                    <a:bodyPr/>
                    <a:lstStyle/>
                    <a:p>
                      <a:r>
                        <a:rPr sz="1200" b="0">
                          <a:solidFill>
                            <a:srgbClr val="1E2420"/>
                          </a:solidFill>
                          <a:latin typeface="Calibri"/>
                        </a:rPr>
                        <a:t>40 % features · 70 % rows</a:t>
                      </a:r>
                    </a:p>
                  </a:txBody>
                  <a:tcPr marL="54864" marR="54864" marT="18288" marB="18288" anchor="ctr">
                    <a:solidFill>
                      <a:srgbClr val="F4F6F5"/>
                    </a:solidFill>
                  </a:tcPr>
                </a:tc>
                <a:tc>
                  <a:txBody>
                    <a:bodyPr/>
                    <a:lstStyle/>
                    <a:p>
                      <a:r>
                        <a:rPr sz="1200" b="0">
                          <a:solidFill>
                            <a:srgbClr val="1E2420"/>
                          </a:solidFill>
                          <a:latin typeface="Calibri"/>
                        </a:rPr>
                        <a:t>each tree sees a random subset → diversity</a:t>
                      </a:r>
                    </a:p>
                  </a:txBody>
                  <a:tcPr marL="54864" marR="54864" marT="18288" marB="18288" anchor="ctr">
                    <a:solidFill>
                      <a:srgbClr val="F4F6F5"/>
                    </a:solidFill>
                  </a:tcPr>
                </a:tc>
              </a:tr>
              <a:tr h="384048">
                <a:tc>
                  <a:txBody>
                    <a:bodyPr/>
                    <a:lstStyle/>
                    <a:p>
                      <a:r>
                        <a:rPr sz="1200" b="0">
                          <a:solidFill>
                            <a:srgbClr val="1E2420"/>
                          </a:solidFill>
                          <a:latin typeface="Calibri"/>
                        </a:rPr>
                        <a:t>L2 = 50 · extra-trees</a:t>
                      </a:r>
                    </a:p>
                  </a:txBody>
                  <a:tcPr marL="54864" marR="54864" marT="18288" marB="18288" anchor="ctr">
                    <a:solidFill>
                      <a:srgbClr val="FFFFFF"/>
                    </a:solidFill>
                  </a:tcPr>
                </a:tc>
                <a:tc>
                  <a:txBody>
                    <a:bodyPr/>
                    <a:lstStyle/>
                    <a:p>
                      <a:r>
                        <a:rPr sz="1200" b="0">
                          <a:solidFill>
                            <a:srgbClr val="1E2420"/>
                          </a:solidFill>
                          <a:latin typeface="Calibri"/>
                        </a:rPr>
                        <a:t>strong penalty, random split points → smooth</a:t>
                      </a:r>
                    </a:p>
                  </a:txBody>
                  <a:tcPr marL="54864" marR="54864" marT="18288" marB="18288" anchor="ctr">
                    <a:solidFill>
                      <a:srgbClr val="FFFFFF"/>
                    </a:solidFill>
                  </a:tcPr>
                </a:tc>
              </a:tr>
              <a:tr h="384048">
                <a:tc>
                  <a:txBody>
                    <a:bodyPr/>
                    <a:lstStyle/>
                    <a:p>
                      <a:r>
                        <a:rPr sz="1200" b="0">
                          <a:solidFill>
                            <a:srgbClr val="1E2420"/>
                          </a:solidFill>
                          <a:latin typeface="Calibri"/>
                        </a:rPr>
                        <a:t>learning rate 0.03</a:t>
                      </a:r>
                    </a:p>
                  </a:txBody>
                  <a:tcPr marL="54864" marR="54864" marT="18288" marB="18288" anchor="ctr">
                    <a:solidFill>
                      <a:srgbClr val="F4F6F5"/>
                    </a:solidFill>
                  </a:tcPr>
                </a:tc>
                <a:tc>
                  <a:txBody>
                    <a:bodyPr/>
                    <a:lstStyle/>
                    <a:p>
                      <a:r>
                        <a:rPr sz="1200" b="0">
                          <a:solidFill>
                            <a:srgbClr val="1E2420"/>
                          </a:solidFill>
                          <a:latin typeface="Calibri"/>
                        </a:rPr>
                        <a:t>small steps; many trees add up slowly</a:t>
                      </a:r>
                    </a:p>
                  </a:txBody>
                  <a:tcPr marL="54864" marR="54864" marT="18288" marB="18288" anchor="ctr">
                    <a:solidFill>
                      <a:srgbClr val="F4F6F5"/>
                    </a:solidFill>
                  </a:tcPr>
                </a:tc>
              </a:tr>
              <a:tr h="384048">
                <a:tc>
                  <a:txBody>
                    <a:bodyPr/>
                    <a:lstStyle/>
                    <a:p>
                      <a:r>
                        <a:rPr sz="1200" b="0">
                          <a:solidFill>
                            <a:srgbClr val="1E2420"/>
                          </a:solidFill>
                          <a:latin typeface="Calibri"/>
                        </a:rPr>
                        <a:t>early stop on PR-AUC</a:t>
                      </a:r>
                    </a:p>
                  </a:txBody>
                  <a:tcPr marL="54864" marR="54864" marT="18288" marB="18288" anchor="ctr">
                    <a:solidFill>
                      <a:srgbClr val="FFFFFF"/>
                    </a:solidFill>
                  </a:tcPr>
                </a:tc>
                <a:tc>
                  <a:txBody>
                    <a:bodyPr/>
                    <a:lstStyle/>
                    <a:p>
                      <a:r>
                        <a:rPr sz="1200" b="0">
                          <a:solidFill>
                            <a:srgbClr val="1E2420"/>
                          </a:solidFill>
                          <a:latin typeface="Calibri"/>
                        </a:rPr>
                        <a:t>stop when validation score stops improving</a:t>
                      </a:r>
                    </a:p>
                  </a:txBody>
                  <a:tcPr marL="54864" marR="54864" marT="18288" marB="18288" anchor="ctr">
                    <a:solidFill>
                      <a:srgbClr val="FFFFFF"/>
                    </a:solidFill>
                  </a:tcPr>
                </a:tc>
              </a:tr>
            </a:tbl>
          </a:graphicData>
        </a:graphic>
      </p:graphicFrame>
      <p:sp>
        <p:nvSpPr>
          <p:cNvPr id="24" name="TextBox 23"/>
          <p:cNvSpPr txBox="1"/>
          <p:nvPr/>
        </p:nvSpPr>
        <p:spPr>
          <a:xfrm>
            <a:off x="6400800" y="3886200"/>
            <a:ext cx="5303520" cy="457200"/>
          </a:xfrm>
          <a:prstGeom prst="rect">
            <a:avLst/>
          </a:prstGeom>
          <a:noFill/>
        </p:spPr>
        <p:txBody>
          <a:bodyPr wrap="square" anchor="t" lIns="0" rIns="0" tIns="0" bIns="0">
            <a:spAutoFit/>
          </a:bodyPr>
          <a:lstStyle/>
          <a:p>
            <a:pPr algn="l">
              <a:spcAft>
                <a:spcPts val="0"/>
              </a:spcAft>
            </a:pPr>
            <a:r>
              <a:rPr sz="1350" b="1" i="0">
                <a:solidFill>
                  <a:srgbClr val="15291C"/>
                </a:solidFill>
                <a:latin typeface="Calibri"/>
              </a:rPr>
              <a:t>Training: </a:t>
            </a:r>
            <a:r>
              <a:rPr sz="1350" b="0" i="0">
                <a:solidFill>
                  <a:srgbClr val="1E2420"/>
                </a:solidFill>
                <a:latin typeface="Calibri"/>
              </a:rPr>
              <a:t>800,784 rows, 14 s on a laptop CPU (Core 5 210H).</a:t>
            </a:r>
          </a:p>
        </p:txBody>
      </p:sp>
      <p:sp>
        <p:nvSpPr>
          <p:cNvPr id="25" name="Rounded Rectangle 24"/>
          <p:cNvSpPr/>
          <p:nvPr/>
        </p:nvSpPr>
        <p:spPr>
          <a:xfrm>
            <a:off x="502920" y="3977639"/>
            <a:ext cx="5669280" cy="23774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 y="4096511"/>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7" name="TextBox 26"/>
          <p:cNvSpPr txBox="1"/>
          <p:nvPr/>
        </p:nvSpPr>
        <p:spPr>
          <a:xfrm>
            <a:off x="1005840" y="4087368"/>
            <a:ext cx="502920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8" name="TextBox 27"/>
          <p:cNvSpPr txBox="1"/>
          <p:nvPr/>
        </p:nvSpPr>
        <p:spPr>
          <a:xfrm>
            <a:off x="640080" y="4480559"/>
            <a:ext cx="5394960" cy="178308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Decision tree — </a:t>
            </a:r>
            <a:r>
              <a:rPr sz="1200" b="0" i="0">
                <a:solidFill>
                  <a:srgbClr val="1E2420"/>
                </a:solidFill>
                <a:latin typeface="Calibri"/>
              </a:rPr>
              <a:t>a flowchart of yes/no questions on features ending in a score</a:t>
            </a:r>
          </a:p>
          <a:p>
            <a:pPr algn="l">
              <a:spcAft>
                <a:spcPts val="500"/>
              </a:spcAft>
            </a:pPr>
            <a:r>
              <a:rPr sz="1200" b="1" i="0">
                <a:solidFill>
                  <a:srgbClr val="2E6B3F"/>
                </a:solidFill>
                <a:latin typeface="Calibri"/>
              </a:rPr>
              <a:t>Gradient boosting — </a:t>
            </a:r>
            <a:r>
              <a:rPr sz="1200" b="0" i="0">
                <a:solidFill>
                  <a:srgbClr val="1E2420"/>
                </a:solidFill>
                <a:latin typeface="Calibri"/>
              </a:rPr>
              <a:t>add trees one by one, each fixing the errors left so far</a:t>
            </a:r>
          </a:p>
          <a:p>
            <a:pPr algn="l">
              <a:spcAft>
                <a:spcPts val="500"/>
              </a:spcAft>
            </a:pPr>
            <a:r>
              <a:rPr sz="1200" b="1" i="0">
                <a:solidFill>
                  <a:srgbClr val="2E6B3F"/>
                </a:solidFill>
                <a:latin typeface="Calibri"/>
              </a:rPr>
              <a:t>AC1 — </a:t>
            </a:r>
            <a:r>
              <a:rPr sz="1200" b="0" i="0">
                <a:solidFill>
                  <a:srgbClr val="1E2420"/>
                </a:solidFill>
                <a:latin typeface="Calibri"/>
              </a:rPr>
              <a:t>correlation of a month with the month before; near 1 = slow recovery</a:t>
            </a:r>
          </a:p>
          <a:p>
            <a:pPr algn="l">
              <a:spcAft>
                <a:spcPts val="500"/>
              </a:spcAft>
            </a:pPr>
            <a:r>
              <a:rPr sz="1200" b="1" i="0">
                <a:solidFill>
                  <a:srgbClr val="2E6B3F"/>
                </a:solidFill>
                <a:latin typeface="Calibri"/>
              </a:rPr>
              <a:t>Regularisation — </a:t>
            </a:r>
            <a:r>
              <a:rPr sz="1200" b="0" i="0">
                <a:solidFill>
                  <a:srgbClr val="1E2420"/>
                </a:solidFill>
                <a:latin typeface="Calibri"/>
              </a:rPr>
              <a:t>rules that stop a model from becoming too complex</a:t>
            </a:r>
          </a:p>
        </p:txBody>
      </p:sp>
      <p:sp>
        <p:nvSpPr>
          <p:cNvPr id="29" name="Rounded Rectangle 28"/>
          <p:cNvSpPr/>
          <p:nvPr/>
        </p:nvSpPr>
        <p:spPr>
          <a:xfrm>
            <a:off x="6400800" y="4434840"/>
            <a:ext cx="5303520" cy="19202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37960" y="455371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31" name="TextBox 30"/>
          <p:cNvSpPr txBox="1"/>
          <p:nvPr/>
        </p:nvSpPr>
        <p:spPr>
          <a:xfrm>
            <a:off x="6903720" y="4544568"/>
            <a:ext cx="466344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32" name="TextBox 31"/>
          <p:cNvSpPr txBox="1"/>
          <p:nvPr/>
        </p:nvSpPr>
        <p:spPr>
          <a:xfrm>
            <a:off x="6537960" y="4937759"/>
            <a:ext cx="5029200" cy="132588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Leaf — </a:t>
            </a:r>
            <a:r>
              <a:rPr sz="1200" b="0" i="0">
                <a:solidFill>
                  <a:srgbClr val="1E2420"/>
                </a:solidFill>
                <a:latin typeface="Calibri"/>
              </a:rPr>
              <a:t>end point of a tree, holding one score</a:t>
            </a:r>
          </a:p>
          <a:p>
            <a:pPr algn="l">
              <a:spcAft>
                <a:spcPts val="500"/>
              </a:spcAft>
            </a:pPr>
            <a:r>
              <a:rPr sz="1200" b="1" i="0">
                <a:solidFill>
                  <a:srgbClr val="2E6B3F"/>
                </a:solidFill>
                <a:latin typeface="Calibri"/>
              </a:rPr>
              <a:t>Early stopping — </a:t>
            </a:r>
            <a:r>
              <a:rPr sz="1200" b="0" i="0">
                <a:solidFill>
                  <a:srgbClr val="1E2420"/>
                </a:solidFill>
                <a:latin typeface="Calibri"/>
              </a:rPr>
              <a:t>halting training at the best validation score</a:t>
            </a:r>
          </a:p>
          <a:p>
            <a:pPr algn="l">
              <a:spcAft>
                <a:spcPts val="500"/>
              </a:spcAft>
            </a:pPr>
            <a:r>
              <a:rPr sz="1200" b="1" i="0">
                <a:solidFill>
                  <a:srgbClr val="2E6B3F"/>
                </a:solidFill>
                <a:latin typeface="Calibri"/>
              </a:rPr>
              <a:t>Validation set — </a:t>
            </a:r>
            <a:r>
              <a:rPr sz="1200" b="0" i="0">
                <a:solidFill>
                  <a:srgbClr val="1E2420"/>
                </a:solidFill>
                <a:latin typeface="Calibri"/>
              </a:rPr>
              <a:t>held-out data used only to tune, never to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Honest probabilities and honest testing</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10</a:t>
            </a:r>
          </a:p>
        </p:txBody>
      </p:sp>
      <p:graphicFrame>
        <p:nvGraphicFramePr>
          <p:cNvPr id="5" name="Table 4"/>
          <p:cNvGraphicFramePr>
            <a:graphicFrameLocks noGrp="1"/>
          </p:cNvGraphicFramePr>
          <p:nvPr/>
        </p:nvGraphicFramePr>
        <p:xfrm>
          <a:off x="502920" y="1097280"/>
          <a:ext cx="6126480" cy="1920240"/>
        </p:xfrm>
        <a:graphic>
          <a:graphicData uri="http://schemas.openxmlformats.org/drawingml/2006/table">
            <a:tbl>
              <a:tblPr firstRow="1" bandRow="1">
                <a:tableStyleId>{5C22544A-7EE6-4342-B048-85BDC9FD1C3A}</a:tableStyleId>
              </a:tblPr>
              <a:tblGrid>
                <a:gridCol w="1234440"/>
                <a:gridCol w="1828800"/>
                <a:gridCol w="1417320"/>
                <a:gridCol w="1645920"/>
              </a:tblGrid>
              <a:tr h="384048">
                <a:tc>
                  <a:txBody>
                    <a:bodyPr/>
                    <a:lstStyle/>
                    <a:p>
                      <a:r>
                        <a:rPr sz="1250" b="1">
                          <a:solidFill>
                            <a:srgbClr val="FFFFFF"/>
                          </a:solidFill>
                          <a:latin typeface="Calibri"/>
                        </a:rPr>
                        <a:t>Set</a:t>
                      </a:r>
                    </a:p>
                  </a:txBody>
                  <a:tcPr marL="54864" marR="54864" marT="18288" marB="18288" anchor="ctr">
                    <a:solidFill>
                      <a:srgbClr val="2E6B3F"/>
                    </a:solidFill>
                  </a:tcPr>
                </a:tc>
                <a:tc>
                  <a:txBody>
                    <a:bodyPr/>
                    <a:lstStyle/>
                    <a:p>
                      <a:r>
                        <a:rPr sz="1250" b="1">
                          <a:solidFill>
                            <a:srgbClr val="FFFFFF"/>
                          </a:solidFill>
                          <a:latin typeface="Calibri"/>
                        </a:rPr>
                        <a:t>Months</a:t>
                      </a:r>
                    </a:p>
                  </a:txBody>
                  <a:tcPr marL="54864" marR="54864" marT="18288" marB="18288" anchor="ctr">
                    <a:solidFill>
                      <a:srgbClr val="2E6B3F"/>
                    </a:solidFill>
                  </a:tcPr>
                </a:tc>
                <a:tc>
                  <a:txBody>
                    <a:bodyPr/>
                    <a:lstStyle/>
                    <a:p>
                      <a:r>
                        <a:rPr sz="1250" b="1">
                          <a:solidFill>
                            <a:srgbClr val="FFFFFF"/>
                          </a:solidFill>
                          <a:latin typeface="Calibri"/>
                        </a:rPr>
                        <a:t>Pixel-months</a:t>
                      </a:r>
                    </a:p>
                  </a:txBody>
                  <a:tcPr marL="54864" marR="54864" marT="18288" marB="18288" anchor="ctr">
                    <a:solidFill>
                      <a:srgbClr val="2E6B3F"/>
                    </a:solidFill>
                  </a:tcPr>
                </a:tc>
                <a:tc>
                  <a:txBody>
                    <a:bodyPr/>
                    <a:lstStyle/>
                    <a:p>
                      <a:r>
                        <a:rPr sz="1250" b="1">
                          <a:solidFill>
                            <a:srgbClr val="FFFFFF"/>
                          </a:solidFill>
                          <a:latin typeface="Calibri"/>
                        </a:rPr>
                        <a:t>Used for</a:t>
                      </a:r>
                    </a:p>
                  </a:txBody>
                  <a:tcPr marL="54864" marR="54864" marT="18288" marB="18288" anchor="ctr">
                    <a:solidFill>
                      <a:srgbClr val="2E6B3F"/>
                    </a:solidFill>
                  </a:tcPr>
                </a:tc>
              </a:tr>
              <a:tr h="384048">
                <a:tc>
                  <a:txBody>
                    <a:bodyPr/>
                    <a:lstStyle/>
                    <a:p>
                      <a:r>
                        <a:rPr sz="1250" b="0">
                          <a:solidFill>
                            <a:srgbClr val="1E2420"/>
                          </a:solidFill>
                          <a:latin typeface="Calibri"/>
                        </a:rPr>
                        <a:t>Train</a:t>
                      </a:r>
                    </a:p>
                  </a:txBody>
                  <a:tcPr marL="54864" marR="54864" marT="18288" marB="18288" anchor="ctr">
                    <a:solidFill>
                      <a:srgbClr val="F4F6F5"/>
                    </a:solidFill>
                  </a:tcPr>
                </a:tc>
                <a:tc>
                  <a:txBody>
                    <a:bodyPr/>
                    <a:lstStyle/>
                    <a:p>
                      <a:r>
                        <a:rPr sz="1250" b="0">
                          <a:solidFill>
                            <a:srgbClr val="1E2420"/>
                          </a:solidFill>
                          <a:latin typeface="Calibri"/>
                        </a:rPr>
                        <a:t>≤ 2022-03</a:t>
                      </a:r>
                    </a:p>
                  </a:txBody>
                  <a:tcPr marL="54864" marR="54864" marT="18288" marB="18288" anchor="ctr">
                    <a:solidFill>
                      <a:srgbClr val="F4F6F5"/>
                    </a:solidFill>
                  </a:tcPr>
                </a:tc>
                <a:tc>
                  <a:txBody>
                    <a:bodyPr/>
                    <a:lstStyle/>
                    <a:p>
                      <a:r>
                        <a:rPr sz="1250" b="0">
                          <a:solidFill>
                            <a:srgbClr val="1E2420"/>
                          </a:solidFill>
                          <a:latin typeface="Calibri"/>
                        </a:rPr>
                        <a:t>800,784</a:t>
                      </a:r>
                    </a:p>
                  </a:txBody>
                  <a:tcPr marL="54864" marR="54864" marT="18288" marB="18288" anchor="ctr">
                    <a:solidFill>
                      <a:srgbClr val="F4F6F5"/>
                    </a:solidFill>
                  </a:tcPr>
                </a:tc>
                <a:tc>
                  <a:txBody>
                    <a:bodyPr/>
                    <a:lstStyle/>
                    <a:p>
                      <a:r>
                        <a:rPr sz="1250" b="0">
                          <a:solidFill>
                            <a:srgbClr val="1E2420"/>
                          </a:solidFill>
                          <a:latin typeface="Calibri"/>
                        </a:rPr>
                        <a:t>fit the trees</a:t>
                      </a:r>
                    </a:p>
                  </a:txBody>
                  <a:tcPr marL="54864" marR="54864" marT="18288" marB="18288" anchor="ctr">
                    <a:solidFill>
                      <a:srgbClr val="F4F6F5"/>
                    </a:solidFill>
                  </a:tcPr>
                </a:tc>
              </a:tr>
              <a:tr h="384048">
                <a:tc>
                  <a:txBody>
                    <a:bodyPr/>
                    <a:lstStyle/>
                    <a:p>
                      <a:r>
                        <a:rPr sz="1250" b="0">
                          <a:solidFill>
                            <a:srgbClr val="1E2420"/>
                          </a:solidFill>
                          <a:latin typeface="Calibri"/>
                        </a:rPr>
                        <a:t>Early stop</a:t>
                      </a:r>
                    </a:p>
                  </a:txBody>
                  <a:tcPr marL="54864" marR="54864" marT="18288" marB="18288" anchor="ctr">
                    <a:solidFill>
                      <a:srgbClr val="FFFFFF"/>
                    </a:solidFill>
                  </a:tcPr>
                </a:tc>
                <a:tc>
                  <a:txBody>
                    <a:bodyPr/>
                    <a:lstStyle/>
                    <a:p>
                      <a:r>
                        <a:rPr sz="1250" b="0">
                          <a:solidFill>
                            <a:srgbClr val="1E2420"/>
                          </a:solidFill>
                          <a:latin typeface="Calibri"/>
                        </a:rPr>
                        <a:t>2023-03 … 12</a:t>
                      </a:r>
                    </a:p>
                  </a:txBody>
                  <a:tcPr marL="54864" marR="54864" marT="18288" marB="18288" anchor="ctr">
                    <a:solidFill>
                      <a:srgbClr val="FFFFFF"/>
                    </a:solidFill>
                  </a:tcPr>
                </a:tc>
                <a:tc>
                  <a:txBody>
                    <a:bodyPr/>
                    <a:lstStyle/>
                    <a:p>
                      <a:r>
                        <a:rPr sz="1250" b="0">
                          <a:solidFill>
                            <a:srgbClr val="1E2420"/>
                          </a:solidFill>
                          <a:latin typeface="Calibri"/>
                        </a:rPr>
                        <a:t>169,049</a:t>
                      </a:r>
                    </a:p>
                  </a:txBody>
                  <a:tcPr marL="54864" marR="54864" marT="18288" marB="18288" anchor="ctr">
                    <a:solidFill>
                      <a:srgbClr val="FFFFFF"/>
                    </a:solidFill>
                  </a:tcPr>
                </a:tc>
                <a:tc>
                  <a:txBody>
                    <a:bodyPr/>
                    <a:lstStyle/>
                    <a:p>
                      <a:r>
                        <a:rPr sz="1250" b="0">
                          <a:solidFill>
                            <a:srgbClr val="1E2420"/>
                          </a:solidFill>
                          <a:latin typeface="Calibri"/>
                        </a:rPr>
                        <a:t>when to stop</a:t>
                      </a:r>
                    </a:p>
                  </a:txBody>
                  <a:tcPr marL="54864" marR="54864" marT="18288" marB="18288" anchor="ctr">
                    <a:solidFill>
                      <a:srgbClr val="FFFFFF"/>
                    </a:solidFill>
                  </a:tcPr>
                </a:tc>
              </a:tr>
              <a:tr h="384048">
                <a:tc>
                  <a:txBody>
                    <a:bodyPr/>
                    <a:lstStyle/>
                    <a:p>
                      <a:r>
                        <a:rPr sz="1250" b="0">
                          <a:solidFill>
                            <a:srgbClr val="1E2420"/>
                          </a:solidFill>
                          <a:latin typeface="Calibri"/>
                        </a:rPr>
                        <a:t>Calibration</a:t>
                      </a:r>
                    </a:p>
                  </a:txBody>
                  <a:tcPr marL="54864" marR="54864" marT="18288" marB="18288" anchor="ctr">
                    <a:solidFill>
                      <a:srgbClr val="F4F6F5"/>
                    </a:solidFill>
                  </a:tcPr>
                </a:tc>
                <a:tc>
                  <a:txBody>
                    <a:bodyPr/>
                    <a:lstStyle/>
                    <a:p>
                      <a:r>
                        <a:rPr sz="1250" b="0">
                          <a:solidFill>
                            <a:srgbClr val="1E2420"/>
                          </a:solidFill>
                          <a:latin typeface="Calibri"/>
                        </a:rPr>
                        <a:t>2023-03 … 12</a:t>
                      </a:r>
                    </a:p>
                  </a:txBody>
                  <a:tcPr marL="54864" marR="54864" marT="18288" marB="18288" anchor="ctr">
                    <a:solidFill>
                      <a:srgbClr val="F4F6F5"/>
                    </a:solidFill>
                  </a:tcPr>
                </a:tc>
                <a:tc>
                  <a:txBody>
                    <a:bodyPr/>
                    <a:lstStyle/>
                    <a:p>
                      <a:r>
                        <a:rPr sz="1250" b="0">
                          <a:solidFill>
                            <a:srgbClr val="1E2420"/>
                          </a:solidFill>
                          <a:latin typeface="Calibri"/>
                        </a:rPr>
                        <a:t>378,057</a:t>
                      </a:r>
                    </a:p>
                  </a:txBody>
                  <a:tcPr marL="54864" marR="54864" marT="18288" marB="18288" anchor="ctr">
                    <a:solidFill>
                      <a:srgbClr val="F4F6F5"/>
                    </a:solidFill>
                  </a:tcPr>
                </a:tc>
                <a:tc>
                  <a:txBody>
                    <a:bodyPr/>
                    <a:lstStyle/>
                    <a:p>
                      <a:r>
                        <a:rPr sz="1250" b="0">
                          <a:solidFill>
                            <a:srgbClr val="1E2420"/>
                          </a:solidFill>
                          <a:latin typeface="Calibri"/>
                        </a:rPr>
                        <a:t>isotonic + conformal</a:t>
                      </a:r>
                    </a:p>
                  </a:txBody>
                  <a:tcPr marL="54864" marR="54864" marT="18288" marB="18288" anchor="ctr">
                    <a:solidFill>
                      <a:srgbClr val="F4F6F5"/>
                    </a:solidFill>
                  </a:tcPr>
                </a:tc>
              </a:tr>
              <a:tr h="384048">
                <a:tc>
                  <a:txBody>
                    <a:bodyPr/>
                    <a:lstStyle/>
                    <a:p>
                      <a:r>
                        <a:rPr sz="1250" b="0">
                          <a:solidFill>
                            <a:srgbClr val="1E2420"/>
                          </a:solidFill>
                          <a:latin typeface="Calibri"/>
                        </a:rPr>
                        <a:t>Test</a:t>
                      </a:r>
                    </a:p>
                  </a:txBody>
                  <a:tcPr marL="54864" marR="54864" marT="18288" marB="18288" anchor="ctr">
                    <a:solidFill>
                      <a:srgbClr val="FFFFFF"/>
                    </a:solidFill>
                  </a:tcPr>
                </a:tc>
                <a:tc>
                  <a:txBody>
                    <a:bodyPr/>
                    <a:lstStyle/>
                    <a:p>
                      <a:r>
                        <a:rPr sz="1250" b="0">
                          <a:solidFill>
                            <a:srgbClr val="1E2420"/>
                          </a:solidFill>
                          <a:latin typeface="Calibri"/>
                        </a:rPr>
                        <a:t>≥ 2024-12, test blocks</a:t>
                      </a:r>
                    </a:p>
                  </a:txBody>
                  <a:tcPr marL="54864" marR="54864" marT="18288" marB="18288" anchor="ctr">
                    <a:solidFill>
                      <a:srgbClr val="FFFFFF"/>
                    </a:solidFill>
                  </a:tcPr>
                </a:tc>
                <a:tc>
                  <a:txBody>
                    <a:bodyPr/>
                    <a:lstStyle/>
                    <a:p>
                      <a:r>
                        <a:rPr sz="1250" b="0">
                          <a:solidFill>
                            <a:srgbClr val="1E2420"/>
                          </a:solidFill>
                          <a:latin typeface="Calibri"/>
                        </a:rPr>
                        <a:t>132,230</a:t>
                      </a:r>
                    </a:p>
                  </a:txBody>
                  <a:tcPr marL="54864" marR="54864" marT="18288" marB="18288" anchor="ctr">
                    <a:solidFill>
                      <a:srgbClr val="FFFFFF"/>
                    </a:solidFill>
                  </a:tcPr>
                </a:tc>
                <a:tc>
                  <a:txBody>
                    <a:bodyPr/>
                    <a:lstStyle/>
                    <a:p>
                      <a:r>
                        <a:rPr sz="1250" b="0">
                          <a:solidFill>
                            <a:srgbClr val="1E2420"/>
                          </a:solidFill>
                          <a:latin typeface="Calibri"/>
                        </a:rPr>
                        <a:t>every reported number</a:t>
                      </a:r>
                    </a:p>
                  </a:txBody>
                  <a:tcPr marL="54864" marR="54864" marT="18288" marB="18288" anchor="ctr">
                    <a:solidFill>
                      <a:srgbClr val="FFFFFF"/>
                    </a:solidFill>
                  </a:tcPr>
                </a:tc>
              </a:tr>
            </a:tbl>
          </a:graphicData>
        </a:graphic>
      </p:graphicFrame>
      <p:sp>
        <p:nvSpPr>
          <p:cNvPr id="6" name="TextBox 5"/>
          <p:cNvSpPr txBox="1"/>
          <p:nvPr/>
        </p:nvSpPr>
        <p:spPr>
          <a:xfrm>
            <a:off x="502920" y="3154680"/>
            <a:ext cx="6126480" cy="640080"/>
          </a:xfrm>
          <a:prstGeom prst="rect">
            <a:avLst/>
          </a:prstGeom>
          <a:noFill/>
        </p:spPr>
        <p:txBody>
          <a:bodyPr wrap="square" anchor="t" lIns="0" rIns="0" tIns="0" bIns="0">
            <a:spAutoFit/>
          </a:bodyPr>
          <a:lstStyle/>
          <a:p>
            <a:pPr algn="l">
              <a:spcAft>
                <a:spcPts val="0"/>
              </a:spcAft>
            </a:pPr>
            <a:r>
              <a:rPr sz="1350" b="1" i="0">
                <a:solidFill>
                  <a:srgbClr val="15291C"/>
                </a:solidFill>
                <a:latin typeface="Calibri"/>
              </a:rPr>
              <a:t>1 km blocks </a:t>
            </a:r>
            <a:r>
              <a:rPr sz="1350" b="0" i="0">
                <a:solidFill>
                  <a:srgbClr val="1E2420"/>
                </a:solidFill>
                <a:latin typeface="Calibri"/>
              </a:rPr>
              <a:t>are split 60/20/20, so neighbouring pixels never sit on both sides of the train/test line.</a:t>
            </a:r>
          </a:p>
        </p:txBody>
      </p:sp>
      <p:sp>
        <p:nvSpPr>
          <p:cNvPr id="7" name="Rounded Rectangle 6"/>
          <p:cNvSpPr/>
          <p:nvPr/>
        </p:nvSpPr>
        <p:spPr>
          <a:xfrm>
            <a:off x="6858000" y="1097280"/>
            <a:ext cx="4846320" cy="77724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967728" y="1207007"/>
            <a:ext cx="548640" cy="548640"/>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a:t>
            </a:r>
          </a:p>
        </p:txBody>
      </p:sp>
      <p:sp>
        <p:nvSpPr>
          <p:cNvPr id="9" name="TextBox 8"/>
          <p:cNvSpPr txBox="1"/>
          <p:nvPr/>
        </p:nvSpPr>
        <p:spPr>
          <a:xfrm>
            <a:off x="7635240" y="1152144"/>
            <a:ext cx="3977639" cy="685800"/>
          </a:xfrm>
          <a:prstGeom prst="rect">
            <a:avLst/>
          </a:prstGeom>
          <a:noFill/>
        </p:spPr>
        <p:txBody>
          <a:bodyPr wrap="square" anchor="t" lIns="0" rIns="0" tIns="0" bIns="0">
            <a:spAutoFit/>
          </a:bodyPr>
          <a:lstStyle/>
          <a:p>
            <a:pPr algn="l">
              <a:spcAft>
                <a:spcPts val="0"/>
              </a:spcAft>
            </a:pPr>
            <a:r>
              <a:rPr sz="1500" b="1" i="0">
                <a:solidFill>
                  <a:srgbClr val="B5562B"/>
                </a:solidFill>
                <a:latin typeface="Calibri"/>
              </a:rPr>
              <a:t>WARNING</a:t>
            </a:r>
            <a:r>
              <a:rPr sz="1200" b="0" i="0">
                <a:solidFill>
                  <a:srgbClr val="5E6A62"/>
                </a:solidFill>
                <a:latin typeface="Calibri"/>
              </a:rPr>
              <a:t>   p ≥ 0.129</a:t>
            </a:r>
          </a:p>
          <a:p>
            <a:pPr algn="l">
              <a:spcAft>
                <a:spcPts val="0"/>
              </a:spcAft>
            </a:pPr>
            <a:r>
              <a:rPr sz="1300" b="0" i="0">
                <a:solidFill>
                  <a:srgbClr val="1E2420"/>
                </a:solidFill>
                <a:latin typeface="Calibri"/>
              </a:rPr>
              <a:t>≈ 5× the 2.5 % base rate</a:t>
            </a:r>
          </a:p>
        </p:txBody>
      </p:sp>
      <p:sp>
        <p:nvSpPr>
          <p:cNvPr id="10" name="Rounded Rectangle 9"/>
          <p:cNvSpPr/>
          <p:nvPr/>
        </p:nvSpPr>
        <p:spPr>
          <a:xfrm>
            <a:off x="6858000" y="2011680"/>
            <a:ext cx="4846320" cy="77724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67728" y="2121408"/>
            <a:ext cx="548640" cy="548640"/>
          </a:xfrm>
          <a:prstGeom prst="ellipse">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a:t>
            </a:r>
          </a:p>
        </p:txBody>
      </p:sp>
      <p:sp>
        <p:nvSpPr>
          <p:cNvPr id="12" name="TextBox 11"/>
          <p:cNvSpPr txBox="1"/>
          <p:nvPr/>
        </p:nvSpPr>
        <p:spPr>
          <a:xfrm>
            <a:off x="7635240" y="2066544"/>
            <a:ext cx="3977639" cy="685800"/>
          </a:xfrm>
          <a:prstGeom prst="rect">
            <a:avLst/>
          </a:prstGeom>
          <a:noFill/>
        </p:spPr>
        <p:txBody>
          <a:bodyPr wrap="square" anchor="t" lIns="0" rIns="0" tIns="0" bIns="0">
            <a:spAutoFit/>
          </a:bodyPr>
          <a:lstStyle/>
          <a:p>
            <a:pPr algn="l">
              <a:spcAft>
                <a:spcPts val="0"/>
              </a:spcAft>
            </a:pPr>
            <a:r>
              <a:rPr sz="1500" b="1" i="0">
                <a:solidFill>
                  <a:srgbClr val="2E6B3F"/>
                </a:solidFill>
                <a:latin typeface="Calibri"/>
              </a:rPr>
              <a:t>NO EVENT</a:t>
            </a:r>
            <a:r>
              <a:rPr sz="1200" b="0" i="0">
                <a:solidFill>
                  <a:srgbClr val="5E6A62"/>
                </a:solidFill>
                <a:latin typeface="Calibri"/>
              </a:rPr>
              <a:t>   conformal: no event</a:t>
            </a:r>
          </a:p>
          <a:p>
            <a:pPr algn="l">
              <a:spcAft>
                <a:spcPts val="0"/>
              </a:spcAft>
            </a:pPr>
            <a:r>
              <a:rPr sz="1300" b="0" i="0">
                <a:solidFill>
                  <a:srgbClr val="1E2420"/>
                </a:solidFill>
                <a:latin typeface="Calibri"/>
              </a:rPr>
              <a:t>NPV 99.6 %</a:t>
            </a:r>
          </a:p>
        </p:txBody>
      </p:sp>
      <p:sp>
        <p:nvSpPr>
          <p:cNvPr id="13" name="Rounded Rectangle 12"/>
          <p:cNvSpPr/>
          <p:nvPr/>
        </p:nvSpPr>
        <p:spPr>
          <a:xfrm>
            <a:off x="6858000" y="2926080"/>
            <a:ext cx="4846320" cy="77724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967728" y="3035808"/>
            <a:ext cx="548640" cy="548640"/>
          </a:xfrm>
          <a:prstGeom prst="ellipse">
            <a:avLst/>
          </a:prstGeom>
          <a:solidFill>
            <a:srgbClr val="5E6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a:t>
            </a:r>
          </a:p>
        </p:txBody>
      </p:sp>
      <p:sp>
        <p:nvSpPr>
          <p:cNvPr id="15" name="TextBox 14"/>
          <p:cNvSpPr txBox="1"/>
          <p:nvPr/>
        </p:nvSpPr>
        <p:spPr>
          <a:xfrm>
            <a:off x="7635240" y="2980944"/>
            <a:ext cx="3977639" cy="685800"/>
          </a:xfrm>
          <a:prstGeom prst="rect">
            <a:avLst/>
          </a:prstGeom>
          <a:noFill/>
        </p:spPr>
        <p:txBody>
          <a:bodyPr wrap="square" anchor="t" lIns="0" rIns="0" tIns="0" bIns="0">
            <a:spAutoFit/>
          </a:bodyPr>
          <a:lstStyle/>
          <a:p>
            <a:pPr algn="l">
              <a:spcAft>
                <a:spcPts val="0"/>
              </a:spcAft>
            </a:pPr>
            <a:r>
              <a:rPr sz="1500" b="1" i="0">
                <a:solidFill>
                  <a:srgbClr val="5E6A62"/>
                </a:solidFill>
                <a:latin typeface="Calibri"/>
              </a:rPr>
              <a:t>ABSTAIN</a:t>
            </a:r>
            <a:r>
              <a:rPr sz="1200" b="0" i="0">
                <a:solidFill>
                  <a:srgbClr val="5E6A62"/>
                </a:solidFill>
                <a:latin typeface="Calibri"/>
              </a:rPr>
              <a:t>   conformal: both possible</a:t>
            </a:r>
          </a:p>
          <a:p>
            <a:pPr algn="l">
              <a:spcAft>
                <a:spcPts val="0"/>
              </a:spcAft>
            </a:pPr>
            <a:r>
              <a:rPr sz="1300" b="0" i="0">
                <a:solidFill>
                  <a:srgbClr val="1E2420"/>
                </a:solidFill>
                <a:latin typeface="Calibri"/>
              </a:rPr>
              <a:t>52 % of pixel-months → inspect</a:t>
            </a:r>
          </a:p>
        </p:txBody>
      </p:sp>
      <p:sp>
        <p:nvSpPr>
          <p:cNvPr id="16" name="Rounded Rectangle 15"/>
          <p:cNvSpPr/>
          <p:nvPr/>
        </p:nvSpPr>
        <p:spPr>
          <a:xfrm>
            <a:off x="502920" y="3931920"/>
            <a:ext cx="6126480" cy="242316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050791"/>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8" name="TextBox 17"/>
          <p:cNvSpPr txBox="1"/>
          <p:nvPr/>
        </p:nvSpPr>
        <p:spPr>
          <a:xfrm>
            <a:off x="1005840" y="4041648"/>
            <a:ext cx="548640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9" name="TextBox 18"/>
          <p:cNvSpPr txBox="1"/>
          <p:nvPr/>
        </p:nvSpPr>
        <p:spPr>
          <a:xfrm>
            <a:off x="640080" y="4434840"/>
            <a:ext cx="5852160" cy="182880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Isotonic calibration — </a:t>
            </a:r>
            <a:r>
              <a:rPr sz="1200" b="0" i="0">
                <a:solidFill>
                  <a:srgbClr val="1E2420"/>
                </a:solidFill>
                <a:latin typeface="Calibri"/>
              </a:rPr>
              <a:t>step-wise mapping from raw score to observed frequency, learnt on the calibration set</a:t>
            </a:r>
          </a:p>
          <a:p>
            <a:pPr algn="l">
              <a:spcAft>
                <a:spcPts val="500"/>
              </a:spcAft>
            </a:pPr>
            <a:r>
              <a:rPr sz="1200" b="1" i="0">
                <a:solidFill>
                  <a:srgbClr val="2E6B3F"/>
                </a:solidFill>
                <a:latin typeface="Calibri"/>
              </a:rPr>
              <a:t>Conformal, α = 0.10 — </a:t>
            </a:r>
            <a:r>
              <a:rPr sz="1200" b="0" i="0">
                <a:solidFill>
                  <a:srgbClr val="1E2420"/>
                </a:solidFill>
                <a:latin typeface="Calibri"/>
              </a:rPr>
              <a:t>sets of answers that contain the truth ≥ 90 % of the time; a two-answer set means “abstain”</a:t>
            </a:r>
          </a:p>
          <a:p>
            <a:pPr algn="l">
              <a:spcAft>
                <a:spcPts val="500"/>
              </a:spcAft>
            </a:pPr>
            <a:r>
              <a:rPr sz="1200" b="1" i="0">
                <a:solidFill>
                  <a:srgbClr val="2E6B3F"/>
                </a:solidFill>
                <a:latin typeface="Calibri"/>
              </a:rPr>
              <a:t>Data leakage — </a:t>
            </a:r>
            <a:r>
              <a:rPr sz="1200" b="0" i="0">
                <a:solidFill>
                  <a:srgbClr val="1E2420"/>
                </a:solidFill>
                <a:latin typeface="Calibri"/>
              </a:rPr>
              <a:t>test information sneaking into training; inflates scores</a:t>
            </a:r>
          </a:p>
          <a:p>
            <a:pPr algn="l">
              <a:spcAft>
                <a:spcPts val="500"/>
              </a:spcAft>
            </a:pPr>
            <a:r>
              <a:rPr sz="1200" b="1" i="0">
                <a:solidFill>
                  <a:srgbClr val="2E6B3F"/>
                </a:solidFill>
                <a:latin typeface="Calibri"/>
              </a:rPr>
              <a:t>NPV — </a:t>
            </a:r>
            <a:r>
              <a:rPr sz="1200" b="0" i="0">
                <a:solidFill>
                  <a:srgbClr val="1E2420"/>
                </a:solidFill>
                <a:latin typeface="Calibri"/>
              </a:rPr>
              <a:t>of the “no event” calls, the share that were right</a:t>
            </a:r>
          </a:p>
        </p:txBody>
      </p:sp>
      <p:sp>
        <p:nvSpPr>
          <p:cNvPr id="20" name="Rounded Rectangle 19"/>
          <p:cNvSpPr/>
          <p:nvPr/>
        </p:nvSpPr>
        <p:spPr>
          <a:xfrm>
            <a:off x="6858000" y="3931920"/>
            <a:ext cx="4846320" cy="242316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95160" y="4050791"/>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2" name="TextBox 21"/>
          <p:cNvSpPr txBox="1"/>
          <p:nvPr/>
        </p:nvSpPr>
        <p:spPr>
          <a:xfrm>
            <a:off x="7360920" y="4041648"/>
            <a:ext cx="420624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3" name="TextBox 22"/>
          <p:cNvSpPr txBox="1"/>
          <p:nvPr/>
        </p:nvSpPr>
        <p:spPr>
          <a:xfrm>
            <a:off x="6995160" y="4434840"/>
            <a:ext cx="4572000" cy="182880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Threshold 0.129 — </a:t>
            </a:r>
            <a:r>
              <a:rPr sz="1200" b="0" i="0">
                <a:solidFill>
                  <a:srgbClr val="1E2420"/>
                </a:solidFill>
                <a:latin typeface="Calibri"/>
              </a:rPr>
              <a:t>the cut-off that maximises F1 on the calibration set</a:t>
            </a:r>
          </a:p>
          <a:p>
            <a:pPr algn="l">
              <a:spcAft>
                <a:spcPts val="500"/>
              </a:spcAft>
            </a:pPr>
            <a:r>
              <a:rPr sz="1200" b="1" i="0">
                <a:solidFill>
                  <a:srgbClr val="2E6B3F"/>
                </a:solidFill>
                <a:latin typeface="Calibri"/>
              </a:rPr>
              <a:t>Abstain — </a:t>
            </a:r>
            <a:r>
              <a:rPr sz="1200" b="0" i="0">
                <a:solidFill>
                  <a:srgbClr val="1E2420"/>
                </a:solidFill>
                <a:latin typeface="Calibri"/>
              </a:rPr>
              <a:t>the model says “inspect in the field” instead of guessing</a:t>
            </a:r>
          </a:p>
          <a:p>
            <a:pPr algn="l">
              <a:spcAft>
                <a:spcPts val="500"/>
              </a:spcAft>
            </a:pPr>
            <a:r>
              <a:rPr sz="1200" b="1" i="0">
                <a:solidFill>
                  <a:srgbClr val="2E6B3F"/>
                </a:solidFill>
                <a:latin typeface="Calibri"/>
              </a:rPr>
              <a:t>Base rate — </a:t>
            </a:r>
            <a:r>
              <a:rPr sz="1200" b="0" i="0">
                <a:solidFill>
                  <a:srgbClr val="1E2420"/>
                </a:solidFill>
                <a:latin typeface="Calibri"/>
              </a:rPr>
              <a:t>share of pixel-months that truly had an onset ahead (2.5 %)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Headline results on 132,230 unseen test pixel-months</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11</a:t>
            </a:r>
          </a:p>
        </p:txBody>
      </p:sp>
      <p:sp>
        <p:nvSpPr>
          <p:cNvPr id="5" name="Rounded Rectangle 4"/>
          <p:cNvSpPr/>
          <p:nvPr/>
        </p:nvSpPr>
        <p:spPr>
          <a:xfrm>
            <a:off x="502920" y="1143000"/>
            <a:ext cx="2651760" cy="160020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2377440" cy="800100"/>
          </a:xfrm>
          <a:prstGeom prst="rect">
            <a:avLst/>
          </a:prstGeom>
          <a:noFill/>
        </p:spPr>
        <p:txBody>
          <a:bodyPr wrap="square" anchor="b" lIns="0" rIns="0" tIns="0" bIns="0">
            <a:spAutoFit/>
          </a:bodyPr>
          <a:lstStyle/>
          <a:p>
            <a:pPr algn="l">
              <a:spcAft>
                <a:spcPts val="0"/>
              </a:spcAft>
            </a:pPr>
            <a:r>
              <a:rPr sz="3400" b="1" i="0">
                <a:solidFill>
                  <a:srgbClr val="2E6B3F"/>
                </a:solidFill>
                <a:latin typeface="Cambria"/>
              </a:rPr>
              <a:t>0.805</a:t>
            </a:r>
          </a:p>
        </p:txBody>
      </p:sp>
      <p:sp>
        <p:nvSpPr>
          <p:cNvPr id="7" name="TextBox 6"/>
          <p:cNvSpPr txBox="1"/>
          <p:nvPr/>
        </p:nvSpPr>
        <p:spPr>
          <a:xfrm>
            <a:off x="640080" y="2052828"/>
            <a:ext cx="2377440" cy="61722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ROC-AUC</a:t>
            </a:r>
          </a:p>
          <a:p>
            <a:pPr algn="l">
              <a:spcAft>
                <a:spcPts val="0"/>
              </a:spcAft>
            </a:pPr>
            <a:r>
              <a:rPr sz="1100" b="0" i="0">
                <a:solidFill>
                  <a:srgbClr val="5E6A62"/>
                </a:solidFill>
                <a:latin typeface="Calibri"/>
              </a:rPr>
              <a:t>95 % CI 0.766–0.838</a:t>
            </a:r>
          </a:p>
        </p:txBody>
      </p:sp>
      <p:sp>
        <p:nvSpPr>
          <p:cNvPr id="8" name="Rounded Rectangle 7"/>
          <p:cNvSpPr/>
          <p:nvPr/>
        </p:nvSpPr>
        <p:spPr>
          <a:xfrm>
            <a:off x="3291840" y="1143000"/>
            <a:ext cx="2651760" cy="160020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234440"/>
            <a:ext cx="2377440" cy="800100"/>
          </a:xfrm>
          <a:prstGeom prst="rect">
            <a:avLst/>
          </a:prstGeom>
          <a:noFill/>
        </p:spPr>
        <p:txBody>
          <a:bodyPr wrap="square" anchor="b" lIns="0" rIns="0" tIns="0" bIns="0">
            <a:spAutoFit/>
          </a:bodyPr>
          <a:lstStyle/>
          <a:p>
            <a:pPr algn="l">
              <a:spcAft>
                <a:spcPts val="0"/>
              </a:spcAft>
            </a:pPr>
            <a:r>
              <a:rPr sz="3400" b="1" i="0">
                <a:solidFill>
                  <a:srgbClr val="2E6B3F"/>
                </a:solidFill>
                <a:latin typeface="Cambria"/>
              </a:rPr>
              <a:t>0.144</a:t>
            </a:r>
          </a:p>
        </p:txBody>
      </p:sp>
      <p:sp>
        <p:nvSpPr>
          <p:cNvPr id="10" name="TextBox 9"/>
          <p:cNvSpPr txBox="1"/>
          <p:nvPr/>
        </p:nvSpPr>
        <p:spPr>
          <a:xfrm>
            <a:off x="3429000" y="2052828"/>
            <a:ext cx="2377440" cy="61722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PR-AUC</a:t>
            </a:r>
          </a:p>
          <a:p>
            <a:pPr algn="l">
              <a:spcAft>
                <a:spcPts val="0"/>
              </a:spcAft>
            </a:pPr>
            <a:r>
              <a:rPr sz="1100" b="0" i="0">
                <a:solidFill>
                  <a:srgbClr val="5E6A62"/>
                </a:solidFill>
                <a:latin typeface="Calibri"/>
              </a:rPr>
              <a:t>95 % CI 0.112–0.184</a:t>
            </a:r>
          </a:p>
        </p:txBody>
      </p:sp>
      <p:sp>
        <p:nvSpPr>
          <p:cNvPr id="11" name="Rounded Rectangle 10"/>
          <p:cNvSpPr/>
          <p:nvPr/>
        </p:nvSpPr>
        <p:spPr>
          <a:xfrm>
            <a:off x="502920" y="2880360"/>
            <a:ext cx="2651760" cy="160020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71800"/>
            <a:ext cx="2377440" cy="800100"/>
          </a:xfrm>
          <a:prstGeom prst="rect">
            <a:avLst/>
          </a:prstGeom>
          <a:noFill/>
        </p:spPr>
        <p:txBody>
          <a:bodyPr wrap="square" anchor="b" lIns="0" rIns="0" tIns="0" bIns="0">
            <a:spAutoFit/>
          </a:bodyPr>
          <a:lstStyle/>
          <a:p>
            <a:pPr algn="l">
              <a:spcAft>
                <a:spcPts val="0"/>
              </a:spcAft>
            </a:pPr>
            <a:r>
              <a:rPr sz="3400" b="1" i="0">
                <a:solidFill>
                  <a:srgbClr val="B5562B"/>
                </a:solidFill>
                <a:latin typeface="Cambria"/>
              </a:rPr>
              <a:t>5.7×</a:t>
            </a:r>
          </a:p>
        </p:txBody>
      </p:sp>
      <p:sp>
        <p:nvSpPr>
          <p:cNvPr id="13" name="TextBox 12"/>
          <p:cNvSpPr txBox="1"/>
          <p:nvPr/>
        </p:nvSpPr>
        <p:spPr>
          <a:xfrm>
            <a:off x="640080" y="3790188"/>
            <a:ext cx="2377440" cy="61722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better than chance</a:t>
            </a:r>
          </a:p>
          <a:p>
            <a:pPr algn="l">
              <a:spcAft>
                <a:spcPts val="0"/>
              </a:spcAft>
            </a:pPr>
            <a:r>
              <a:rPr sz="1100" b="0" i="0">
                <a:solidFill>
                  <a:srgbClr val="5E6A62"/>
                </a:solidFill>
                <a:latin typeface="Calibri"/>
              </a:rPr>
              <a:t>lift = 0.144 ÷ 0.025</a:t>
            </a:r>
          </a:p>
        </p:txBody>
      </p:sp>
      <p:sp>
        <p:nvSpPr>
          <p:cNvPr id="14" name="Rounded Rectangle 13"/>
          <p:cNvSpPr/>
          <p:nvPr/>
        </p:nvSpPr>
        <p:spPr>
          <a:xfrm>
            <a:off x="3291840" y="2880360"/>
            <a:ext cx="2651760" cy="160020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2971800"/>
            <a:ext cx="2377440" cy="800100"/>
          </a:xfrm>
          <a:prstGeom prst="rect">
            <a:avLst/>
          </a:prstGeom>
          <a:noFill/>
        </p:spPr>
        <p:txBody>
          <a:bodyPr wrap="square" anchor="b" lIns="0" rIns="0" tIns="0" bIns="0">
            <a:spAutoFit/>
          </a:bodyPr>
          <a:lstStyle/>
          <a:p>
            <a:pPr algn="l">
              <a:spcAft>
                <a:spcPts val="0"/>
              </a:spcAft>
            </a:pPr>
            <a:r>
              <a:rPr sz="3400" b="1" i="0">
                <a:solidFill>
                  <a:srgbClr val="2E6B3F"/>
                </a:solidFill>
                <a:latin typeface="Cambria"/>
              </a:rPr>
              <a:t>0.0025</a:t>
            </a:r>
          </a:p>
        </p:txBody>
      </p:sp>
      <p:sp>
        <p:nvSpPr>
          <p:cNvPr id="16" name="TextBox 15"/>
          <p:cNvSpPr txBox="1"/>
          <p:nvPr/>
        </p:nvSpPr>
        <p:spPr>
          <a:xfrm>
            <a:off x="3429000" y="3790188"/>
            <a:ext cx="2377440" cy="61722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calibration error (ECE)</a:t>
            </a:r>
          </a:p>
          <a:p>
            <a:pPr algn="l">
              <a:spcAft>
                <a:spcPts val="0"/>
              </a:spcAft>
            </a:pPr>
            <a:r>
              <a:rPr sz="1100" b="0" i="0">
                <a:solidFill>
                  <a:srgbClr val="5E6A62"/>
                </a:solidFill>
                <a:latin typeface="Calibri"/>
              </a:rPr>
              <a:t>Brier score 0.0228</a:t>
            </a:r>
          </a:p>
        </p:txBody>
      </p:sp>
      <p:graphicFrame>
        <p:nvGraphicFramePr>
          <p:cNvPr id="17" name="Chart 16"/>
          <p:cNvGraphicFramePr>
            <a:graphicFrameLocks noGrp="1"/>
          </p:cNvGraphicFramePr>
          <p:nvPr/>
        </p:nvGraphicFramePr>
        <p:xfrm>
          <a:off x="6263640" y="1051560"/>
          <a:ext cx="5440680" cy="3520440"/>
        </p:xfrm>
        <a:graphic>
          <a:graphicData uri="http://schemas.openxmlformats.org/drawingml/2006/chart">
            <c:chart xmlns:c="http://schemas.openxmlformats.org/drawingml/2006/chart" r:id="rId3"/>
          </a:graphicData>
        </a:graphic>
      </p:graphicFrame>
      <p:sp>
        <p:nvSpPr>
          <p:cNvPr id="18" name="Rounded Rectangle 17"/>
          <p:cNvSpPr/>
          <p:nvPr/>
        </p:nvSpPr>
        <p:spPr>
          <a:xfrm>
            <a:off x="502920" y="4663440"/>
            <a:ext cx="5486400" cy="16916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478231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0" name="TextBox 19"/>
          <p:cNvSpPr txBox="1"/>
          <p:nvPr/>
        </p:nvSpPr>
        <p:spPr>
          <a:xfrm>
            <a:off x="1005840" y="4773168"/>
            <a:ext cx="484632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1" name="TextBox 20"/>
          <p:cNvSpPr txBox="1"/>
          <p:nvPr/>
        </p:nvSpPr>
        <p:spPr>
          <a:xfrm>
            <a:off x="640080" y="5166359"/>
            <a:ext cx="5212080" cy="109728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95 % CI — </a:t>
            </a:r>
            <a:r>
              <a:rPr sz="1200" b="0" i="0">
                <a:solidFill>
                  <a:srgbClr val="1E2420"/>
                </a:solidFill>
                <a:latin typeface="Calibri"/>
              </a:rPr>
              <a:t>range from bootstrap resamples of the test blocks</a:t>
            </a:r>
          </a:p>
          <a:p>
            <a:pPr algn="l">
              <a:spcAft>
                <a:spcPts val="500"/>
              </a:spcAft>
            </a:pPr>
            <a:r>
              <a:rPr sz="1200" b="1" i="0">
                <a:solidFill>
                  <a:srgbClr val="2E6B3F"/>
                </a:solidFill>
                <a:latin typeface="Calibri"/>
              </a:rPr>
              <a:t>ECE — </a:t>
            </a:r>
            <a:r>
              <a:rPr sz="1200" b="0" i="0">
                <a:solidFill>
                  <a:srgbClr val="1E2420"/>
                </a:solidFill>
                <a:latin typeface="Calibri"/>
              </a:rPr>
              <a:t>average gap between predicted and observed frequency (0 = perfect)</a:t>
            </a:r>
          </a:p>
          <a:p>
            <a:pPr algn="l">
              <a:spcAft>
                <a:spcPts val="500"/>
              </a:spcAft>
            </a:pPr>
            <a:r>
              <a:rPr sz="1200" b="1" i="0">
                <a:solidFill>
                  <a:srgbClr val="2E6B3F"/>
                </a:solidFill>
                <a:latin typeface="Calibri"/>
              </a:rPr>
              <a:t>Brier — </a:t>
            </a:r>
            <a:r>
              <a:rPr sz="1200" b="0" i="0">
                <a:solidFill>
                  <a:srgbClr val="1E2420"/>
                </a:solidFill>
                <a:latin typeface="Calibri"/>
              </a:rPr>
              <a:t>mean squared error of the probability (lower = better)</a:t>
            </a:r>
          </a:p>
        </p:txBody>
      </p:sp>
      <p:sp>
        <p:nvSpPr>
          <p:cNvPr id="22" name="Rounded Rectangle 21"/>
          <p:cNvSpPr/>
          <p:nvPr/>
        </p:nvSpPr>
        <p:spPr>
          <a:xfrm>
            <a:off x="6263640" y="4663440"/>
            <a:ext cx="5440680" cy="16916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0" y="478231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4" name="TextBox 23"/>
          <p:cNvSpPr txBox="1"/>
          <p:nvPr/>
        </p:nvSpPr>
        <p:spPr>
          <a:xfrm>
            <a:off x="6766559" y="4773168"/>
            <a:ext cx="480060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BASELINES</a:t>
            </a:r>
          </a:p>
        </p:txBody>
      </p:sp>
      <p:sp>
        <p:nvSpPr>
          <p:cNvPr id="25" name="TextBox 24"/>
          <p:cNvSpPr txBox="1"/>
          <p:nvPr/>
        </p:nvSpPr>
        <p:spPr>
          <a:xfrm>
            <a:off x="6400800" y="5166359"/>
            <a:ext cx="5166360" cy="1097280"/>
          </a:xfrm>
          <a:prstGeom prst="rect">
            <a:avLst/>
          </a:prstGeom>
          <a:noFill/>
        </p:spPr>
        <p:txBody>
          <a:bodyPr wrap="square" anchor="t" lIns="0" rIns="0" tIns="0" bIns="0">
            <a:spAutoFit/>
          </a:bodyPr>
          <a:lstStyle/>
          <a:p>
            <a:pPr algn="l">
              <a:spcAft>
                <a:spcPts val="500"/>
              </a:spcAft>
            </a:pPr>
            <a:r>
              <a:rPr sz="1150" b="1" i="0">
                <a:solidFill>
                  <a:srgbClr val="2E6B3F"/>
                </a:solidFill>
                <a:latin typeface="Calibri"/>
              </a:rPr>
              <a:t>Persistence — </a:t>
            </a:r>
            <a:r>
              <a:rPr sz="1150" b="0" i="0">
                <a:solidFill>
                  <a:srgbClr val="1E2420"/>
                </a:solidFill>
                <a:latin typeface="Calibri"/>
              </a:rPr>
              <a:t>“what was bad stays bad”: recent anomaly as the score</a:t>
            </a:r>
          </a:p>
          <a:p>
            <a:pPr algn="l">
              <a:spcAft>
                <a:spcPts val="500"/>
              </a:spcAft>
            </a:pPr>
            <a:r>
              <a:rPr sz="1150" b="1" i="0">
                <a:solidFill>
                  <a:srgbClr val="2E6B3F"/>
                </a:solidFill>
                <a:latin typeface="Calibri"/>
              </a:rPr>
              <a:t>Residual rule — </a:t>
            </a:r>
            <a:r>
              <a:rPr sz="1150" b="0" i="0">
                <a:solidFill>
                  <a:srgbClr val="1E2420"/>
                </a:solidFill>
                <a:latin typeface="Calibri"/>
              </a:rPr>
              <a:t>hand-made score from the recent residual R, no ML</a:t>
            </a:r>
          </a:p>
          <a:p>
            <a:pPr algn="l">
              <a:spcAft>
                <a:spcPts val="500"/>
              </a:spcAft>
            </a:pPr>
            <a:r>
              <a:rPr sz="1150" b="1" i="0">
                <a:solidFill>
                  <a:srgbClr val="2E6B3F"/>
                </a:solidFill>
                <a:latin typeface="Calibri"/>
              </a:rPr>
              <a:t>RF, S2-only — </a:t>
            </a:r>
            <a:r>
              <a:rPr sz="1150" b="0" i="0">
                <a:solidFill>
                  <a:srgbClr val="1E2420"/>
                </a:solidFill>
                <a:latin typeface="Calibri"/>
              </a:rPr>
              <a:t>random forest on Sentinel-2 features 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Confusion matrix at the warning threshold (p ≥ 0.129)</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12</a:t>
            </a:r>
          </a:p>
        </p:txBody>
      </p:sp>
      <p:sp>
        <p:nvSpPr>
          <p:cNvPr id="5" name="TextBox 4"/>
          <p:cNvSpPr txBox="1"/>
          <p:nvPr/>
        </p:nvSpPr>
        <p:spPr>
          <a:xfrm>
            <a:off x="1600200" y="1051560"/>
            <a:ext cx="4389120" cy="320040"/>
          </a:xfrm>
          <a:prstGeom prst="rect">
            <a:avLst/>
          </a:prstGeom>
          <a:noFill/>
        </p:spPr>
        <p:txBody>
          <a:bodyPr wrap="square" anchor="t" lIns="0" rIns="0" tIns="0" bIns="0">
            <a:spAutoFit/>
          </a:bodyPr>
          <a:lstStyle/>
          <a:p>
            <a:pPr algn="ctr">
              <a:spcAft>
                <a:spcPts val="0"/>
              </a:spcAft>
            </a:pPr>
            <a:r>
              <a:rPr sz="1300" b="1" i="0">
                <a:solidFill>
                  <a:srgbClr val="5E6A62"/>
                </a:solidFill>
                <a:latin typeface="Calibri"/>
              </a:rPr>
              <a:t>Actual outcome in next 6 months</a:t>
            </a:r>
          </a:p>
        </p:txBody>
      </p:sp>
      <p:sp>
        <p:nvSpPr>
          <p:cNvPr id="6" name="TextBox 5"/>
          <p:cNvSpPr txBox="1"/>
          <p:nvPr/>
        </p:nvSpPr>
        <p:spPr>
          <a:xfrm>
            <a:off x="1600200" y="1325880"/>
            <a:ext cx="2148840" cy="274320"/>
          </a:xfrm>
          <a:prstGeom prst="rect">
            <a:avLst/>
          </a:prstGeom>
          <a:noFill/>
        </p:spPr>
        <p:txBody>
          <a:bodyPr wrap="square" anchor="t" lIns="0" rIns="0" tIns="0" bIns="0">
            <a:spAutoFit/>
          </a:bodyPr>
          <a:lstStyle/>
          <a:p>
            <a:pPr algn="ctr">
              <a:spcAft>
                <a:spcPts val="0"/>
              </a:spcAft>
            </a:pPr>
            <a:r>
              <a:rPr sz="1300" b="1" i="0">
                <a:solidFill>
                  <a:srgbClr val="1E2420"/>
                </a:solidFill>
                <a:latin typeface="Calibri"/>
              </a:rPr>
              <a:t>Onset</a:t>
            </a:r>
          </a:p>
        </p:txBody>
      </p:sp>
      <p:sp>
        <p:nvSpPr>
          <p:cNvPr id="7" name="TextBox 6"/>
          <p:cNvSpPr txBox="1"/>
          <p:nvPr/>
        </p:nvSpPr>
        <p:spPr>
          <a:xfrm>
            <a:off x="3840479" y="1325880"/>
            <a:ext cx="2148840" cy="274320"/>
          </a:xfrm>
          <a:prstGeom prst="rect">
            <a:avLst/>
          </a:prstGeom>
          <a:noFill/>
        </p:spPr>
        <p:txBody>
          <a:bodyPr wrap="square" anchor="t" lIns="0" rIns="0" tIns="0" bIns="0">
            <a:spAutoFit/>
          </a:bodyPr>
          <a:lstStyle/>
          <a:p>
            <a:pPr algn="ctr">
              <a:spcAft>
                <a:spcPts val="0"/>
              </a:spcAft>
            </a:pPr>
            <a:r>
              <a:rPr sz="1300" b="1" i="0">
                <a:solidFill>
                  <a:srgbClr val="1E2420"/>
                </a:solidFill>
                <a:latin typeface="Calibri"/>
              </a:rPr>
              <a:t>No onset</a:t>
            </a:r>
          </a:p>
        </p:txBody>
      </p:sp>
      <p:sp>
        <p:nvSpPr>
          <p:cNvPr id="8" name="TextBox 7"/>
          <p:cNvSpPr txBox="1"/>
          <p:nvPr/>
        </p:nvSpPr>
        <p:spPr>
          <a:xfrm>
            <a:off x="411480" y="2103120"/>
            <a:ext cx="1143000" cy="457200"/>
          </a:xfrm>
          <a:prstGeom prst="rect">
            <a:avLst/>
          </a:prstGeom>
          <a:noFill/>
        </p:spPr>
        <p:txBody>
          <a:bodyPr wrap="square" anchor="t" lIns="0" rIns="0" tIns="0" bIns="0">
            <a:spAutoFit/>
          </a:bodyPr>
          <a:lstStyle/>
          <a:p>
            <a:pPr algn="r">
              <a:spcAft>
                <a:spcPts val="0"/>
              </a:spcAft>
            </a:pPr>
            <a:r>
              <a:rPr sz="1300" b="1" i="0">
                <a:solidFill>
                  <a:srgbClr val="1E2420"/>
                </a:solidFill>
                <a:latin typeface="Calibri"/>
              </a:rPr>
              <a:t>Warned</a:t>
            </a:r>
          </a:p>
        </p:txBody>
      </p:sp>
      <p:sp>
        <p:nvSpPr>
          <p:cNvPr id="9" name="TextBox 8"/>
          <p:cNvSpPr txBox="1"/>
          <p:nvPr/>
        </p:nvSpPr>
        <p:spPr>
          <a:xfrm>
            <a:off x="411480" y="3611879"/>
            <a:ext cx="1143000" cy="457200"/>
          </a:xfrm>
          <a:prstGeom prst="rect">
            <a:avLst/>
          </a:prstGeom>
          <a:noFill/>
        </p:spPr>
        <p:txBody>
          <a:bodyPr wrap="square" anchor="t" lIns="0" rIns="0" tIns="0" bIns="0">
            <a:spAutoFit/>
          </a:bodyPr>
          <a:lstStyle/>
          <a:p>
            <a:pPr algn="r">
              <a:spcAft>
                <a:spcPts val="0"/>
              </a:spcAft>
            </a:pPr>
            <a:r>
              <a:rPr sz="1300" b="1" i="0">
                <a:solidFill>
                  <a:srgbClr val="1E2420"/>
                </a:solidFill>
                <a:latin typeface="Calibri"/>
              </a:rPr>
              <a:t>Not warned</a:t>
            </a:r>
          </a:p>
        </p:txBody>
      </p:sp>
      <p:sp>
        <p:nvSpPr>
          <p:cNvPr id="10" name="Rounded Rectangle 9"/>
          <p:cNvSpPr/>
          <p:nvPr/>
        </p:nvSpPr>
        <p:spPr>
          <a:xfrm>
            <a:off x="1600200" y="1600200"/>
            <a:ext cx="2148840" cy="1417320"/>
          </a:xfrm>
          <a:prstGeom prst="roundRect">
            <a:avLst>
              <a:gd name="adj" fmla="val 6000"/>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1709928"/>
            <a:ext cx="2148840" cy="1188720"/>
          </a:xfrm>
          <a:prstGeom prst="rect">
            <a:avLst/>
          </a:prstGeom>
          <a:noFill/>
        </p:spPr>
        <p:txBody>
          <a:bodyPr wrap="square" anchor="t" lIns="0" rIns="0" tIns="0" bIns="0">
            <a:spAutoFit/>
          </a:bodyPr>
          <a:lstStyle/>
          <a:p>
            <a:pPr algn="ctr">
              <a:spcAft>
                <a:spcPts val="0"/>
              </a:spcAft>
            </a:pPr>
            <a:r>
              <a:rPr sz="3000" b="1" i="0">
                <a:solidFill>
                  <a:srgbClr val="FFFFFF"/>
                </a:solidFill>
                <a:latin typeface="Cambria"/>
              </a:rPr>
              <a:t>963</a:t>
            </a:r>
          </a:p>
          <a:p>
            <a:pPr algn="ctr">
              <a:spcAft>
                <a:spcPts val="0"/>
              </a:spcAft>
            </a:pPr>
            <a:r>
              <a:rPr sz="1300" b="0" i="0">
                <a:solidFill>
                  <a:srgbClr val="FFFFFF"/>
                </a:solidFill>
                <a:latin typeface="Calibri"/>
              </a:rPr>
              <a:t>TP · hits</a:t>
            </a:r>
          </a:p>
        </p:txBody>
      </p:sp>
      <p:sp>
        <p:nvSpPr>
          <p:cNvPr id="12" name="Rounded Rectangle 11"/>
          <p:cNvSpPr/>
          <p:nvPr/>
        </p:nvSpPr>
        <p:spPr>
          <a:xfrm>
            <a:off x="3840480" y="1600200"/>
            <a:ext cx="2148840" cy="1417320"/>
          </a:xfrm>
          <a:prstGeom prst="roundRect">
            <a:avLst>
              <a:gd name="adj" fmla="val 6000"/>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1709928"/>
            <a:ext cx="2148840" cy="1188720"/>
          </a:xfrm>
          <a:prstGeom prst="rect">
            <a:avLst/>
          </a:prstGeom>
          <a:noFill/>
        </p:spPr>
        <p:txBody>
          <a:bodyPr wrap="square" anchor="t" lIns="0" rIns="0" tIns="0" bIns="0">
            <a:spAutoFit/>
          </a:bodyPr>
          <a:lstStyle/>
          <a:p>
            <a:pPr algn="ctr">
              <a:spcAft>
                <a:spcPts val="0"/>
              </a:spcAft>
            </a:pPr>
            <a:r>
              <a:rPr sz="3000" b="1" i="0">
                <a:solidFill>
                  <a:srgbClr val="FFFFFF"/>
                </a:solidFill>
                <a:latin typeface="Cambria"/>
              </a:rPr>
              <a:t>3,468</a:t>
            </a:r>
          </a:p>
          <a:p>
            <a:pPr algn="ctr">
              <a:spcAft>
                <a:spcPts val="0"/>
              </a:spcAft>
            </a:pPr>
            <a:r>
              <a:rPr sz="1300" b="0" i="0">
                <a:solidFill>
                  <a:srgbClr val="FFFFFF"/>
                </a:solidFill>
                <a:latin typeface="Calibri"/>
              </a:rPr>
              <a:t>FP · false alarms</a:t>
            </a:r>
          </a:p>
        </p:txBody>
      </p:sp>
      <p:sp>
        <p:nvSpPr>
          <p:cNvPr id="14" name="Rounded Rectangle 13"/>
          <p:cNvSpPr/>
          <p:nvPr/>
        </p:nvSpPr>
        <p:spPr>
          <a:xfrm>
            <a:off x="1600200" y="3108960"/>
            <a:ext cx="2148840" cy="1417320"/>
          </a:xfrm>
          <a:prstGeom prst="roundRect">
            <a:avLst>
              <a:gd name="adj" fmla="val 6000"/>
            </a:avLst>
          </a:prstGeom>
          <a:solidFill>
            <a:srgbClr val="8A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3218688"/>
            <a:ext cx="2148840" cy="1188720"/>
          </a:xfrm>
          <a:prstGeom prst="rect">
            <a:avLst/>
          </a:prstGeom>
          <a:noFill/>
        </p:spPr>
        <p:txBody>
          <a:bodyPr wrap="square" anchor="t" lIns="0" rIns="0" tIns="0" bIns="0">
            <a:spAutoFit/>
          </a:bodyPr>
          <a:lstStyle/>
          <a:p>
            <a:pPr algn="ctr">
              <a:spcAft>
                <a:spcPts val="0"/>
              </a:spcAft>
            </a:pPr>
            <a:r>
              <a:rPr sz="3000" b="1" i="0">
                <a:solidFill>
                  <a:srgbClr val="FFFFFF"/>
                </a:solidFill>
                <a:latin typeface="Cambria"/>
              </a:rPr>
              <a:t>2,364</a:t>
            </a:r>
          </a:p>
          <a:p>
            <a:pPr algn="ctr">
              <a:spcAft>
                <a:spcPts val="0"/>
              </a:spcAft>
            </a:pPr>
            <a:r>
              <a:rPr sz="1300" b="0" i="0">
                <a:solidFill>
                  <a:srgbClr val="FFFFFF"/>
                </a:solidFill>
                <a:latin typeface="Calibri"/>
              </a:rPr>
              <a:t>FN · misses</a:t>
            </a:r>
          </a:p>
        </p:txBody>
      </p:sp>
      <p:sp>
        <p:nvSpPr>
          <p:cNvPr id="16" name="Rounded Rectangle 15"/>
          <p:cNvSpPr/>
          <p:nvPr/>
        </p:nvSpPr>
        <p:spPr>
          <a:xfrm>
            <a:off x="3840480" y="3108960"/>
            <a:ext cx="2148840" cy="1417320"/>
          </a:xfrm>
          <a:prstGeom prst="roundRect">
            <a:avLst>
              <a:gd name="adj" fmla="val 6000"/>
            </a:avLst>
          </a:prstGeom>
          <a:solidFill>
            <a:srgbClr val="4F7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0" y="3218688"/>
            <a:ext cx="2148840" cy="1188720"/>
          </a:xfrm>
          <a:prstGeom prst="rect">
            <a:avLst/>
          </a:prstGeom>
          <a:noFill/>
        </p:spPr>
        <p:txBody>
          <a:bodyPr wrap="square" anchor="t" lIns="0" rIns="0" tIns="0" bIns="0">
            <a:spAutoFit/>
          </a:bodyPr>
          <a:lstStyle/>
          <a:p>
            <a:pPr algn="ctr">
              <a:spcAft>
                <a:spcPts val="0"/>
              </a:spcAft>
            </a:pPr>
            <a:r>
              <a:rPr sz="3000" b="1" i="0">
                <a:solidFill>
                  <a:srgbClr val="FFFFFF"/>
                </a:solidFill>
                <a:latin typeface="Cambria"/>
              </a:rPr>
              <a:t>125,435</a:t>
            </a:r>
          </a:p>
          <a:p>
            <a:pPr algn="ctr">
              <a:spcAft>
                <a:spcPts val="0"/>
              </a:spcAft>
            </a:pPr>
            <a:r>
              <a:rPr sz="1300" b="0" i="0">
                <a:solidFill>
                  <a:srgbClr val="FFFFFF"/>
                </a:solidFill>
                <a:latin typeface="Calibri"/>
              </a:rPr>
              <a:t>TN · correct no's</a:t>
            </a:r>
          </a:p>
        </p:txBody>
      </p:sp>
      <p:graphicFrame>
        <p:nvGraphicFramePr>
          <p:cNvPr id="18" name="Table 17"/>
          <p:cNvGraphicFramePr>
            <a:graphicFrameLocks noGrp="1"/>
          </p:cNvGraphicFramePr>
          <p:nvPr/>
        </p:nvGraphicFramePr>
        <p:xfrm>
          <a:off x="6400800" y="1097280"/>
          <a:ext cx="5303520" cy="2926080"/>
        </p:xfrm>
        <a:graphic>
          <a:graphicData uri="http://schemas.openxmlformats.org/drawingml/2006/table">
            <a:tbl>
              <a:tblPr firstRow="1" bandRow="1">
                <a:tableStyleId>{5C22544A-7EE6-4342-B048-85BDC9FD1C3A}</a:tableStyleId>
              </a:tblPr>
              <a:tblGrid>
                <a:gridCol w="1737360"/>
                <a:gridCol w="2514600"/>
                <a:gridCol w="1051560"/>
              </a:tblGrid>
              <a:tr h="365760">
                <a:tc>
                  <a:txBody>
                    <a:bodyPr/>
                    <a:lstStyle/>
                    <a:p>
                      <a:r>
                        <a:rPr sz="1250" b="1">
                          <a:solidFill>
                            <a:srgbClr val="FFFFFF"/>
                          </a:solidFill>
                          <a:latin typeface="Calibri"/>
                        </a:rPr>
                        <a:t>Metric</a:t>
                      </a:r>
                    </a:p>
                  </a:txBody>
                  <a:tcPr marL="54864" marR="54864" marT="18288" marB="18288" anchor="ctr">
                    <a:solidFill>
                      <a:srgbClr val="2E6B3F"/>
                    </a:solidFill>
                  </a:tcPr>
                </a:tc>
                <a:tc>
                  <a:txBody>
                    <a:bodyPr/>
                    <a:lstStyle/>
                    <a:p>
                      <a:r>
                        <a:rPr sz="1250" b="1">
                          <a:solidFill>
                            <a:srgbClr val="FFFFFF"/>
                          </a:solidFill>
                          <a:latin typeface="Calibri"/>
                        </a:rPr>
                        <a:t>Formula</a:t>
                      </a:r>
                    </a:p>
                  </a:txBody>
                  <a:tcPr marL="54864" marR="54864" marT="18288" marB="18288" anchor="ctr">
                    <a:solidFill>
                      <a:srgbClr val="2E6B3F"/>
                    </a:solidFill>
                  </a:tcPr>
                </a:tc>
                <a:tc>
                  <a:txBody>
                    <a:bodyPr/>
                    <a:lstStyle/>
                    <a:p>
                      <a:r>
                        <a:rPr sz="1250" b="1">
                          <a:solidFill>
                            <a:srgbClr val="FFFFFF"/>
                          </a:solidFill>
                          <a:latin typeface="Calibri"/>
                        </a:rPr>
                        <a:t>Value</a:t>
                      </a:r>
                    </a:p>
                  </a:txBody>
                  <a:tcPr marL="54864" marR="54864" marT="18288" marB="18288" anchor="ctr">
                    <a:solidFill>
                      <a:srgbClr val="2E6B3F"/>
                    </a:solidFill>
                  </a:tcPr>
                </a:tc>
              </a:tr>
              <a:tr h="365760">
                <a:tc>
                  <a:txBody>
                    <a:bodyPr/>
                    <a:lstStyle/>
                    <a:p>
                      <a:r>
                        <a:rPr sz="1250" b="0">
                          <a:solidFill>
                            <a:srgbClr val="1E2420"/>
                          </a:solidFill>
                          <a:latin typeface="Calibri"/>
                        </a:rPr>
                        <a:t>Precision</a:t>
                      </a:r>
                    </a:p>
                  </a:txBody>
                  <a:tcPr marL="54864" marR="54864" marT="18288" marB="18288" anchor="ctr">
                    <a:solidFill>
                      <a:srgbClr val="F4F6F5"/>
                    </a:solidFill>
                  </a:tcPr>
                </a:tc>
                <a:tc>
                  <a:txBody>
                    <a:bodyPr/>
                    <a:lstStyle/>
                    <a:p>
                      <a:r>
                        <a:rPr sz="1250" b="0">
                          <a:solidFill>
                            <a:srgbClr val="1E2420"/>
                          </a:solidFill>
                          <a:latin typeface="Calibri"/>
                        </a:rPr>
                        <a:t>TP/(TP+FP) = 963/4,431</a:t>
                      </a:r>
                    </a:p>
                  </a:txBody>
                  <a:tcPr marL="54864" marR="54864" marT="18288" marB="18288" anchor="ctr">
                    <a:solidFill>
                      <a:srgbClr val="F4F6F5"/>
                    </a:solidFill>
                  </a:tcPr>
                </a:tc>
                <a:tc>
                  <a:txBody>
                    <a:bodyPr/>
                    <a:lstStyle/>
                    <a:p>
                      <a:r>
                        <a:rPr sz="1250" b="0">
                          <a:solidFill>
                            <a:srgbClr val="1E2420"/>
                          </a:solidFill>
                          <a:latin typeface="Calibri"/>
                        </a:rPr>
                        <a:t>0.217</a:t>
                      </a:r>
                    </a:p>
                  </a:txBody>
                  <a:tcPr marL="54864" marR="54864" marT="18288" marB="18288" anchor="ctr">
                    <a:solidFill>
                      <a:srgbClr val="F4F6F5"/>
                    </a:solidFill>
                  </a:tcPr>
                </a:tc>
              </a:tr>
              <a:tr h="365760">
                <a:tc>
                  <a:txBody>
                    <a:bodyPr/>
                    <a:lstStyle/>
                    <a:p>
                      <a:r>
                        <a:rPr sz="1250" b="0">
                          <a:solidFill>
                            <a:srgbClr val="1E2420"/>
                          </a:solidFill>
                          <a:latin typeface="Calibri"/>
                        </a:rPr>
                        <a:t>Recall</a:t>
                      </a:r>
                    </a:p>
                  </a:txBody>
                  <a:tcPr marL="54864" marR="54864" marT="18288" marB="18288" anchor="ctr">
                    <a:solidFill>
                      <a:srgbClr val="FFFFFF"/>
                    </a:solidFill>
                  </a:tcPr>
                </a:tc>
                <a:tc>
                  <a:txBody>
                    <a:bodyPr/>
                    <a:lstStyle/>
                    <a:p>
                      <a:r>
                        <a:rPr sz="1250" b="0">
                          <a:solidFill>
                            <a:srgbClr val="1E2420"/>
                          </a:solidFill>
                          <a:latin typeface="Calibri"/>
                        </a:rPr>
                        <a:t>TP/(TP+FN) = 963/3,327</a:t>
                      </a:r>
                    </a:p>
                  </a:txBody>
                  <a:tcPr marL="54864" marR="54864" marT="18288" marB="18288" anchor="ctr">
                    <a:solidFill>
                      <a:srgbClr val="FFFFFF"/>
                    </a:solidFill>
                  </a:tcPr>
                </a:tc>
                <a:tc>
                  <a:txBody>
                    <a:bodyPr/>
                    <a:lstStyle/>
                    <a:p>
                      <a:r>
                        <a:rPr sz="1250" b="0">
                          <a:solidFill>
                            <a:srgbClr val="1E2420"/>
                          </a:solidFill>
                          <a:latin typeface="Calibri"/>
                        </a:rPr>
                        <a:t>0.289</a:t>
                      </a:r>
                    </a:p>
                  </a:txBody>
                  <a:tcPr marL="54864" marR="54864" marT="18288" marB="18288" anchor="ctr">
                    <a:solidFill>
                      <a:srgbClr val="FFFFFF"/>
                    </a:solidFill>
                  </a:tcPr>
                </a:tc>
              </a:tr>
              <a:tr h="365760">
                <a:tc>
                  <a:txBody>
                    <a:bodyPr/>
                    <a:lstStyle/>
                    <a:p>
                      <a:r>
                        <a:rPr sz="1250" b="0">
                          <a:solidFill>
                            <a:srgbClr val="1E2420"/>
                          </a:solidFill>
                          <a:latin typeface="Calibri"/>
                        </a:rPr>
                        <a:t>F1</a:t>
                      </a:r>
                    </a:p>
                  </a:txBody>
                  <a:tcPr marL="54864" marR="54864" marT="18288" marB="18288" anchor="ctr">
                    <a:solidFill>
                      <a:srgbClr val="F4F6F5"/>
                    </a:solidFill>
                  </a:tcPr>
                </a:tc>
                <a:tc>
                  <a:txBody>
                    <a:bodyPr/>
                    <a:lstStyle/>
                    <a:p>
                      <a:r>
                        <a:rPr sz="1250" b="0">
                          <a:solidFill>
                            <a:srgbClr val="1E2420"/>
                          </a:solidFill>
                          <a:latin typeface="Calibri"/>
                        </a:rPr>
                        <a:t>2·P·R/(P+R)</a:t>
                      </a:r>
                    </a:p>
                  </a:txBody>
                  <a:tcPr marL="54864" marR="54864" marT="18288" marB="18288" anchor="ctr">
                    <a:solidFill>
                      <a:srgbClr val="F4F6F5"/>
                    </a:solidFill>
                  </a:tcPr>
                </a:tc>
                <a:tc>
                  <a:txBody>
                    <a:bodyPr/>
                    <a:lstStyle/>
                    <a:p>
                      <a:r>
                        <a:rPr sz="1250" b="0">
                          <a:solidFill>
                            <a:srgbClr val="1E2420"/>
                          </a:solidFill>
                          <a:latin typeface="Calibri"/>
                        </a:rPr>
                        <a:t>0.248</a:t>
                      </a:r>
                    </a:p>
                  </a:txBody>
                  <a:tcPr marL="54864" marR="54864" marT="18288" marB="18288" anchor="ctr">
                    <a:solidFill>
                      <a:srgbClr val="F4F6F5"/>
                    </a:solidFill>
                  </a:tcPr>
                </a:tc>
              </a:tr>
              <a:tr h="365760">
                <a:tc>
                  <a:txBody>
                    <a:bodyPr/>
                    <a:lstStyle/>
                    <a:p>
                      <a:r>
                        <a:rPr sz="1250" b="0">
                          <a:solidFill>
                            <a:srgbClr val="1E2420"/>
                          </a:solidFill>
                          <a:latin typeface="Calibri"/>
                        </a:rPr>
                        <a:t>Specificity</a:t>
                      </a:r>
                    </a:p>
                  </a:txBody>
                  <a:tcPr marL="54864" marR="54864" marT="18288" marB="18288" anchor="ctr">
                    <a:solidFill>
                      <a:srgbClr val="FFFFFF"/>
                    </a:solidFill>
                  </a:tcPr>
                </a:tc>
                <a:tc>
                  <a:txBody>
                    <a:bodyPr/>
                    <a:lstStyle/>
                    <a:p>
                      <a:r>
                        <a:rPr sz="1250" b="0">
                          <a:solidFill>
                            <a:srgbClr val="1E2420"/>
                          </a:solidFill>
                          <a:latin typeface="Calibri"/>
                        </a:rPr>
                        <a:t>TN/(TN+FP)</a:t>
                      </a:r>
                    </a:p>
                  </a:txBody>
                  <a:tcPr marL="54864" marR="54864" marT="18288" marB="18288" anchor="ctr">
                    <a:solidFill>
                      <a:srgbClr val="FFFFFF"/>
                    </a:solidFill>
                  </a:tcPr>
                </a:tc>
                <a:tc>
                  <a:txBody>
                    <a:bodyPr/>
                    <a:lstStyle/>
                    <a:p>
                      <a:r>
                        <a:rPr sz="1250" b="0">
                          <a:solidFill>
                            <a:srgbClr val="1E2420"/>
                          </a:solidFill>
                          <a:latin typeface="Calibri"/>
                        </a:rPr>
                        <a:t>0.973</a:t>
                      </a:r>
                    </a:p>
                  </a:txBody>
                  <a:tcPr marL="54864" marR="54864" marT="18288" marB="18288" anchor="ctr">
                    <a:solidFill>
                      <a:srgbClr val="FFFFFF"/>
                    </a:solidFill>
                  </a:tcPr>
                </a:tc>
              </a:tr>
              <a:tr h="365760">
                <a:tc>
                  <a:txBody>
                    <a:bodyPr/>
                    <a:lstStyle/>
                    <a:p>
                      <a:r>
                        <a:rPr sz="1250" b="0">
                          <a:solidFill>
                            <a:srgbClr val="1E2420"/>
                          </a:solidFill>
                          <a:latin typeface="Calibri"/>
                        </a:rPr>
                        <a:t>False-alarm rate</a:t>
                      </a:r>
                    </a:p>
                  </a:txBody>
                  <a:tcPr marL="54864" marR="54864" marT="18288" marB="18288" anchor="ctr">
                    <a:solidFill>
                      <a:srgbClr val="F4F6F5"/>
                    </a:solidFill>
                  </a:tcPr>
                </a:tc>
                <a:tc>
                  <a:txBody>
                    <a:bodyPr/>
                    <a:lstStyle/>
                    <a:p>
                      <a:r>
                        <a:rPr sz="1250" b="0">
                          <a:solidFill>
                            <a:srgbClr val="1E2420"/>
                          </a:solidFill>
                          <a:latin typeface="Calibri"/>
                        </a:rPr>
                        <a:t>FP/(FP+TN)</a:t>
                      </a:r>
                    </a:p>
                  </a:txBody>
                  <a:tcPr marL="54864" marR="54864" marT="18288" marB="18288" anchor="ctr">
                    <a:solidFill>
                      <a:srgbClr val="F4F6F5"/>
                    </a:solidFill>
                  </a:tcPr>
                </a:tc>
                <a:tc>
                  <a:txBody>
                    <a:bodyPr/>
                    <a:lstStyle/>
                    <a:p>
                      <a:r>
                        <a:rPr sz="1250" b="0">
                          <a:solidFill>
                            <a:srgbClr val="1E2420"/>
                          </a:solidFill>
                          <a:latin typeface="Calibri"/>
                        </a:rPr>
                        <a:t>0.027</a:t>
                      </a:r>
                    </a:p>
                  </a:txBody>
                  <a:tcPr marL="54864" marR="54864" marT="18288" marB="18288" anchor="ctr">
                    <a:solidFill>
                      <a:srgbClr val="F4F6F5"/>
                    </a:solidFill>
                  </a:tcPr>
                </a:tc>
              </a:tr>
              <a:tr h="365760">
                <a:tc>
                  <a:txBody>
                    <a:bodyPr/>
                    <a:lstStyle/>
                    <a:p>
                      <a:r>
                        <a:rPr sz="1250" b="0">
                          <a:solidFill>
                            <a:srgbClr val="1E2420"/>
                          </a:solidFill>
                          <a:latin typeface="Calibri"/>
                        </a:rPr>
                        <a:t>Accuracy</a:t>
                      </a:r>
                    </a:p>
                  </a:txBody>
                  <a:tcPr marL="54864" marR="54864" marT="18288" marB="18288" anchor="ctr">
                    <a:solidFill>
                      <a:srgbClr val="FFFFFF"/>
                    </a:solidFill>
                  </a:tcPr>
                </a:tc>
                <a:tc>
                  <a:txBody>
                    <a:bodyPr/>
                    <a:lstStyle/>
                    <a:p>
                      <a:r>
                        <a:rPr sz="1250" b="0">
                          <a:solidFill>
                            <a:srgbClr val="1E2420"/>
                          </a:solidFill>
                          <a:latin typeface="Calibri"/>
                        </a:rPr>
                        <a:t>(TP+TN)/132,230</a:t>
                      </a:r>
                    </a:p>
                  </a:txBody>
                  <a:tcPr marL="54864" marR="54864" marT="18288" marB="18288" anchor="ctr">
                    <a:solidFill>
                      <a:srgbClr val="FFFFFF"/>
                    </a:solidFill>
                  </a:tcPr>
                </a:tc>
                <a:tc>
                  <a:txBody>
                    <a:bodyPr/>
                    <a:lstStyle/>
                    <a:p>
                      <a:r>
                        <a:rPr sz="1250" b="0">
                          <a:solidFill>
                            <a:srgbClr val="1E2420"/>
                          </a:solidFill>
                          <a:latin typeface="Calibri"/>
                        </a:rPr>
                        <a:t>0.956</a:t>
                      </a:r>
                    </a:p>
                  </a:txBody>
                  <a:tcPr marL="54864" marR="54864" marT="18288" marB="18288" anchor="ctr">
                    <a:solidFill>
                      <a:srgbClr val="FFFFFF"/>
                    </a:solidFill>
                  </a:tcPr>
                </a:tc>
              </a:tr>
              <a:tr h="365760">
                <a:tc>
                  <a:txBody>
                    <a:bodyPr/>
                    <a:lstStyle/>
                    <a:p>
                      <a:r>
                        <a:rPr sz="1250" b="0">
                          <a:solidFill>
                            <a:srgbClr val="1E2420"/>
                          </a:solidFill>
                          <a:latin typeface="Calibri"/>
                        </a:rPr>
                        <a:t>“Always no” accuracy</a:t>
                      </a:r>
                    </a:p>
                  </a:txBody>
                  <a:tcPr marL="54864" marR="54864" marT="18288" marB="18288" anchor="ctr">
                    <a:solidFill>
                      <a:srgbClr val="F4F6F5"/>
                    </a:solidFill>
                  </a:tcPr>
                </a:tc>
                <a:tc>
                  <a:txBody>
                    <a:bodyPr/>
                    <a:lstStyle/>
                    <a:p>
                      <a:r>
                        <a:rPr sz="1250" b="0">
                          <a:solidFill>
                            <a:srgbClr val="1E2420"/>
                          </a:solidFill>
                          <a:latin typeface="Calibri"/>
                        </a:rPr>
                        <a:t>128,903/132,230</a:t>
                      </a:r>
                    </a:p>
                  </a:txBody>
                  <a:tcPr marL="54864" marR="54864" marT="18288" marB="18288" anchor="ctr">
                    <a:solidFill>
                      <a:srgbClr val="F4F6F5"/>
                    </a:solidFill>
                  </a:tcPr>
                </a:tc>
                <a:tc>
                  <a:txBody>
                    <a:bodyPr/>
                    <a:lstStyle/>
                    <a:p>
                      <a:r>
                        <a:rPr sz="1250" b="0">
                          <a:solidFill>
                            <a:srgbClr val="1E2420"/>
                          </a:solidFill>
                          <a:latin typeface="Calibri"/>
                        </a:rPr>
                        <a:t>0.975</a:t>
                      </a:r>
                    </a:p>
                  </a:txBody>
                  <a:tcPr marL="54864" marR="54864" marT="18288" marB="18288" anchor="ctr">
                    <a:solidFill>
                      <a:srgbClr val="F4F6F5"/>
                    </a:solidFill>
                  </a:tcPr>
                </a:tc>
              </a:tr>
            </a:tbl>
          </a:graphicData>
        </a:graphic>
      </p:graphicFrame>
      <p:sp>
        <p:nvSpPr>
          <p:cNvPr id="19" name="Rounded Rectangle 18"/>
          <p:cNvSpPr/>
          <p:nvPr/>
        </p:nvSpPr>
        <p:spPr>
          <a:xfrm>
            <a:off x="502920" y="4800600"/>
            <a:ext cx="5669280" cy="155448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 y="491947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1" name="TextBox 20"/>
          <p:cNvSpPr txBox="1"/>
          <p:nvPr/>
        </p:nvSpPr>
        <p:spPr>
          <a:xfrm>
            <a:off x="1005840" y="4910328"/>
            <a:ext cx="502920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2" name="TextBox 21"/>
          <p:cNvSpPr txBox="1"/>
          <p:nvPr/>
        </p:nvSpPr>
        <p:spPr>
          <a:xfrm>
            <a:off x="640080" y="5303520"/>
            <a:ext cx="5394960" cy="96011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Why not accuracy? — </a:t>
            </a:r>
            <a:r>
              <a:rPr sz="1200" b="0" i="0">
                <a:solidFill>
                  <a:srgbClr val="1E2420"/>
                </a:solidFill>
                <a:latin typeface="Calibri"/>
              </a:rPr>
              <a:t>with 2.5 % positives, saying “no” to everything already scores 97.5 %</a:t>
            </a:r>
          </a:p>
          <a:p>
            <a:pPr algn="l">
              <a:spcAft>
                <a:spcPts val="500"/>
              </a:spcAft>
            </a:pPr>
            <a:r>
              <a:rPr sz="1200" b="1" i="0">
                <a:solidFill>
                  <a:srgbClr val="2E6B3F"/>
                </a:solidFill>
                <a:latin typeface="Calibri"/>
              </a:rPr>
              <a:t>Precision 0.217 — </a:t>
            </a:r>
            <a:r>
              <a:rPr sz="1200" b="0" i="0">
                <a:solidFill>
                  <a:srgbClr val="1E2420"/>
                </a:solidFill>
                <a:latin typeface="Calibri"/>
              </a:rPr>
              <a:t>1 in 5 warnings is right, vs 1 in 40 by chance</a:t>
            </a:r>
          </a:p>
        </p:txBody>
      </p:sp>
      <p:sp>
        <p:nvSpPr>
          <p:cNvPr id="23" name="Rounded Rectangle 22"/>
          <p:cNvSpPr/>
          <p:nvPr/>
        </p:nvSpPr>
        <p:spPr>
          <a:xfrm>
            <a:off x="6400800" y="4251960"/>
            <a:ext cx="5303520" cy="210312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37960" y="437083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5" name="TextBox 24"/>
          <p:cNvSpPr txBox="1"/>
          <p:nvPr/>
        </p:nvSpPr>
        <p:spPr>
          <a:xfrm>
            <a:off x="6903720" y="4361688"/>
            <a:ext cx="466344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6" name="TextBox 25"/>
          <p:cNvSpPr txBox="1"/>
          <p:nvPr/>
        </p:nvSpPr>
        <p:spPr>
          <a:xfrm>
            <a:off x="6537960" y="4754880"/>
            <a:ext cx="5029200" cy="150876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Specificity — </a:t>
            </a:r>
            <a:r>
              <a:rPr sz="1200" b="0" i="0">
                <a:solidFill>
                  <a:srgbClr val="1E2420"/>
                </a:solidFill>
                <a:latin typeface="Calibri"/>
              </a:rPr>
              <a:t>share of non-events correctly left unwarned</a:t>
            </a:r>
          </a:p>
          <a:p>
            <a:pPr algn="l">
              <a:spcAft>
                <a:spcPts val="500"/>
              </a:spcAft>
            </a:pPr>
            <a:r>
              <a:rPr sz="1200" b="1" i="0">
                <a:solidFill>
                  <a:srgbClr val="2E6B3F"/>
                </a:solidFill>
                <a:latin typeface="Calibri"/>
              </a:rPr>
              <a:t>False-alarm rate — </a:t>
            </a:r>
            <a:r>
              <a:rPr sz="1200" b="0" i="0">
                <a:solidFill>
                  <a:srgbClr val="1E2420"/>
                </a:solidFill>
                <a:latin typeface="Calibri"/>
              </a:rPr>
              <a:t>share of non-events wrongly warned (2.7 %)</a:t>
            </a:r>
          </a:p>
          <a:p>
            <a:pPr algn="l">
              <a:spcAft>
                <a:spcPts val="500"/>
              </a:spcAft>
            </a:pPr>
            <a:r>
              <a:rPr sz="1200" b="1" i="0">
                <a:solidFill>
                  <a:srgbClr val="2E6B3F"/>
                </a:solidFill>
                <a:latin typeface="Calibri"/>
              </a:rPr>
              <a:t>F1 — </a:t>
            </a:r>
            <a:r>
              <a:rPr sz="1200" b="0" i="0">
                <a:solidFill>
                  <a:srgbClr val="1E2420"/>
                </a:solidFill>
                <a:latin typeface="Calibri"/>
              </a:rPr>
              <a:t>one number balancing precision and recall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Which ingredients matter · curves and ablation</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13</a:t>
            </a:r>
          </a:p>
        </p:txBody>
      </p:sp>
      <p:pic>
        <p:nvPicPr>
          <p:cNvPr id="5" name="Picture 4" descr="roc_pr.png"/>
          <p:cNvPicPr>
            <a:picLocks noChangeAspect="1"/>
          </p:cNvPicPr>
          <p:nvPr/>
        </p:nvPicPr>
        <p:blipFill>
          <a:blip r:embed="rId3"/>
          <a:stretch>
            <a:fillRect/>
          </a:stretch>
        </p:blipFill>
        <p:spPr>
          <a:xfrm>
            <a:off x="412496" y="1051560"/>
            <a:ext cx="5941568" cy="3931920"/>
          </a:xfrm>
          <a:prstGeom prst="rect">
            <a:avLst/>
          </a:prstGeom>
        </p:spPr>
      </p:pic>
      <p:sp>
        <p:nvSpPr>
          <p:cNvPr id="6" name="TextBox 5"/>
          <p:cNvSpPr txBox="1"/>
          <p:nvPr/>
        </p:nvSpPr>
        <p:spPr>
          <a:xfrm>
            <a:off x="502920" y="5001767"/>
            <a:ext cx="58521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(a) ROC and (b) precision–recall curves on the test set</a:t>
            </a:r>
          </a:p>
        </p:txBody>
      </p:sp>
      <p:graphicFrame>
        <p:nvGraphicFramePr>
          <p:cNvPr id="7" name="Chart 6"/>
          <p:cNvGraphicFramePr>
            <a:graphicFrameLocks noGrp="1"/>
          </p:cNvGraphicFramePr>
          <p:nvPr/>
        </p:nvGraphicFramePr>
        <p:xfrm>
          <a:off x="6537960" y="1051560"/>
          <a:ext cx="5166360" cy="3931920"/>
        </p:xfrm>
        <a:graphic>
          <a:graphicData uri="http://schemas.openxmlformats.org/drawingml/2006/chart">
            <c:chart xmlns:c="http://schemas.openxmlformats.org/drawingml/2006/chart" r:id="rId4"/>
          </a:graphicData>
        </a:graphic>
      </p:graphicFrame>
      <p:sp>
        <p:nvSpPr>
          <p:cNvPr id="8" name="Rounded Rectangle 7"/>
          <p:cNvSpPr/>
          <p:nvPr/>
        </p:nvSpPr>
        <p:spPr>
          <a:xfrm>
            <a:off x="502920" y="5257800"/>
            <a:ext cx="5852160" cy="109728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537667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0" name="TextBox 9"/>
          <p:cNvSpPr txBox="1"/>
          <p:nvPr/>
        </p:nvSpPr>
        <p:spPr>
          <a:xfrm>
            <a:off x="1005840" y="5367528"/>
            <a:ext cx="521208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1" name="TextBox 10"/>
          <p:cNvSpPr txBox="1"/>
          <p:nvPr/>
        </p:nvSpPr>
        <p:spPr>
          <a:xfrm>
            <a:off x="640080" y="5760720"/>
            <a:ext cx="5577840" cy="50291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ROC curve — </a:t>
            </a:r>
            <a:r>
              <a:rPr sz="1200" b="0" i="0">
                <a:solidFill>
                  <a:srgbClr val="1E2420"/>
                </a:solidFill>
                <a:latin typeface="Calibri"/>
              </a:rPr>
              <a:t>hit rate vs false-alarm rate as the threshold slides</a:t>
            </a:r>
          </a:p>
          <a:p>
            <a:pPr algn="l">
              <a:spcAft>
                <a:spcPts val="500"/>
              </a:spcAft>
            </a:pPr>
            <a:r>
              <a:rPr sz="1200" b="1" i="0">
                <a:solidFill>
                  <a:srgbClr val="2E6B3F"/>
                </a:solidFill>
                <a:latin typeface="Calibri"/>
              </a:rPr>
              <a:t>PR curve — </a:t>
            </a:r>
            <a:r>
              <a:rPr sz="1200" b="0" i="0">
                <a:solidFill>
                  <a:srgbClr val="1E2420"/>
                </a:solidFill>
                <a:latin typeface="Calibri"/>
              </a:rPr>
              <a:t>precision vs recall; the honest view for rare events</a:t>
            </a:r>
          </a:p>
        </p:txBody>
      </p:sp>
      <p:sp>
        <p:nvSpPr>
          <p:cNvPr id="12" name="Rounded Rectangle 11"/>
          <p:cNvSpPr/>
          <p:nvPr/>
        </p:nvSpPr>
        <p:spPr>
          <a:xfrm>
            <a:off x="6537960" y="5257800"/>
            <a:ext cx="5166360" cy="109728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0" y="537667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4" name="TextBox 13"/>
          <p:cNvSpPr txBox="1"/>
          <p:nvPr/>
        </p:nvSpPr>
        <p:spPr>
          <a:xfrm>
            <a:off x="7040880" y="5367528"/>
            <a:ext cx="452628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5" name="TextBox 14"/>
          <p:cNvSpPr txBox="1"/>
          <p:nvPr/>
        </p:nvSpPr>
        <p:spPr>
          <a:xfrm>
            <a:off x="6675120" y="5760720"/>
            <a:ext cx="4892040" cy="50291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Ablation — </a:t>
            </a:r>
            <a:r>
              <a:rPr sz="1200" b="0" i="0">
                <a:solidFill>
                  <a:srgbClr val="1E2420"/>
                </a:solidFill>
                <a:latin typeface="Calibri"/>
              </a:rPr>
              <a:t>remove or add one ingredient at a time to measure what it contributes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Does it work somewhere new, and in a later year?</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14</a:t>
            </a:r>
          </a:p>
        </p:txBody>
      </p:sp>
      <p:graphicFrame>
        <p:nvGraphicFramePr>
          <p:cNvPr id="5" name="Chart 4"/>
          <p:cNvGraphicFramePr>
            <a:graphicFrameLocks noGrp="1"/>
          </p:cNvGraphicFramePr>
          <p:nvPr/>
        </p:nvGraphicFramePr>
        <p:xfrm>
          <a:off x="411480" y="1005840"/>
          <a:ext cx="4572000" cy="402336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5120640" y="1005840"/>
          <a:ext cx="3657600" cy="4023360"/>
        </p:xfrm>
        <a:graphic>
          <a:graphicData uri="http://schemas.openxmlformats.org/drawingml/2006/chart">
            <c:chart xmlns:c="http://schemas.openxmlformats.org/drawingml/2006/chart" r:id="rId4"/>
          </a:graphicData>
        </a:graphic>
      </p:graphicFrame>
      <p:graphicFrame>
        <p:nvGraphicFramePr>
          <p:cNvPr id="7" name="Table 6"/>
          <p:cNvGraphicFramePr>
            <a:graphicFrameLocks noGrp="1"/>
          </p:cNvGraphicFramePr>
          <p:nvPr/>
        </p:nvGraphicFramePr>
        <p:xfrm>
          <a:off x="8961120" y="1051560"/>
          <a:ext cx="2743200" cy="2779776"/>
        </p:xfrm>
        <a:graphic>
          <a:graphicData uri="http://schemas.openxmlformats.org/drawingml/2006/table">
            <a:tbl>
              <a:tblPr firstRow="1" bandRow="1">
                <a:tableStyleId>{5C22544A-7EE6-4342-B048-85BDC9FD1C3A}</a:tableStyleId>
              </a:tblPr>
              <a:tblGrid>
                <a:gridCol w="1280160"/>
                <a:gridCol w="685800"/>
                <a:gridCol w="777240"/>
              </a:tblGrid>
              <a:tr h="347472">
                <a:tc>
                  <a:txBody>
                    <a:bodyPr/>
                    <a:lstStyle/>
                    <a:p>
                      <a:r>
                        <a:rPr sz="1150" b="1">
                          <a:solidFill>
                            <a:srgbClr val="FFFFFF"/>
                          </a:solidFill>
                          <a:latin typeface="Calibri"/>
                        </a:rPr>
                        <a:t>New site</a:t>
                      </a:r>
                    </a:p>
                  </a:txBody>
                  <a:tcPr marL="54864" marR="54864" marT="18288" marB="18288" anchor="ctr">
                    <a:solidFill>
                      <a:srgbClr val="2E6B3F"/>
                    </a:solidFill>
                  </a:tcPr>
                </a:tc>
                <a:tc>
                  <a:txBody>
                    <a:bodyPr/>
                    <a:lstStyle/>
                    <a:p>
                      <a:r>
                        <a:rPr sz="1150" b="1">
                          <a:solidFill>
                            <a:srgbClr val="FFFFFF"/>
                          </a:solidFill>
                          <a:latin typeface="Calibri"/>
                        </a:rPr>
                        <a:t>ROC</a:t>
                      </a:r>
                    </a:p>
                  </a:txBody>
                  <a:tcPr marL="54864" marR="54864" marT="18288" marB="18288" anchor="ctr">
                    <a:solidFill>
                      <a:srgbClr val="2E6B3F"/>
                    </a:solidFill>
                  </a:tcPr>
                </a:tc>
                <a:tc>
                  <a:txBody>
                    <a:bodyPr/>
                    <a:lstStyle/>
                    <a:p>
                      <a:r>
                        <a:rPr sz="1150" b="1">
                          <a:solidFill>
                            <a:srgbClr val="FFFFFF"/>
                          </a:solidFill>
                          <a:latin typeface="Calibri"/>
                        </a:rPr>
                        <a:t>Lift</a:t>
                      </a:r>
                    </a:p>
                  </a:txBody>
                  <a:tcPr marL="54864" marR="54864" marT="18288" marB="18288" anchor="ctr">
                    <a:solidFill>
                      <a:srgbClr val="2E6B3F"/>
                    </a:solidFill>
                  </a:tcPr>
                </a:tc>
              </a:tr>
              <a:tr h="347472">
                <a:tc>
                  <a:txBody>
                    <a:bodyPr/>
                    <a:lstStyle/>
                    <a:p>
                      <a:r>
                        <a:rPr sz="1150" b="0">
                          <a:solidFill>
                            <a:srgbClr val="1E2420"/>
                          </a:solidFill>
                          <a:latin typeface="Calibri"/>
                        </a:rPr>
                        <a:t>Sindhupalchok</a:t>
                      </a:r>
                    </a:p>
                  </a:txBody>
                  <a:tcPr marL="54864" marR="54864" marT="18288" marB="18288" anchor="ctr">
                    <a:solidFill>
                      <a:srgbClr val="F4F6F5"/>
                    </a:solidFill>
                  </a:tcPr>
                </a:tc>
                <a:tc>
                  <a:txBody>
                    <a:bodyPr/>
                    <a:lstStyle/>
                    <a:p>
                      <a:r>
                        <a:rPr sz="1150" b="0">
                          <a:solidFill>
                            <a:srgbClr val="1E2420"/>
                          </a:solidFill>
                          <a:latin typeface="Calibri"/>
                        </a:rPr>
                        <a:t>0.873</a:t>
                      </a:r>
                    </a:p>
                  </a:txBody>
                  <a:tcPr marL="54864" marR="54864" marT="18288" marB="18288" anchor="ctr">
                    <a:solidFill>
                      <a:srgbClr val="F4F6F5"/>
                    </a:solidFill>
                  </a:tcPr>
                </a:tc>
                <a:tc>
                  <a:txBody>
                    <a:bodyPr/>
                    <a:lstStyle/>
                    <a:p>
                      <a:r>
                        <a:rPr sz="1150" b="0">
                          <a:solidFill>
                            <a:srgbClr val="1E2420"/>
                          </a:solidFill>
                          <a:latin typeface="Calibri"/>
                        </a:rPr>
                        <a:t>9.8×</a:t>
                      </a:r>
                    </a:p>
                  </a:txBody>
                  <a:tcPr marL="54864" marR="54864" marT="18288" marB="18288" anchor="ctr">
                    <a:solidFill>
                      <a:srgbClr val="F4F6F5"/>
                    </a:solidFill>
                  </a:tcPr>
                </a:tc>
              </a:tr>
              <a:tr h="347472">
                <a:tc>
                  <a:txBody>
                    <a:bodyPr/>
                    <a:lstStyle/>
                    <a:p>
                      <a:r>
                        <a:rPr sz="1150" b="0">
                          <a:solidFill>
                            <a:srgbClr val="1E2420"/>
                          </a:solidFill>
                          <a:latin typeface="Calibri"/>
                        </a:rPr>
                        <a:t>Singrauli</a:t>
                      </a:r>
                    </a:p>
                  </a:txBody>
                  <a:tcPr marL="54864" marR="54864" marT="18288" marB="18288" anchor="ctr">
                    <a:solidFill>
                      <a:srgbClr val="FFFFFF"/>
                    </a:solidFill>
                  </a:tcPr>
                </a:tc>
                <a:tc>
                  <a:txBody>
                    <a:bodyPr/>
                    <a:lstStyle/>
                    <a:p>
                      <a:r>
                        <a:rPr sz="1150" b="0">
                          <a:solidFill>
                            <a:srgbClr val="1E2420"/>
                          </a:solidFill>
                          <a:latin typeface="Calibri"/>
                        </a:rPr>
                        <a:t>0.876</a:t>
                      </a:r>
                    </a:p>
                  </a:txBody>
                  <a:tcPr marL="54864" marR="54864" marT="18288" marB="18288" anchor="ctr">
                    <a:solidFill>
                      <a:srgbClr val="FFFFFF"/>
                    </a:solidFill>
                  </a:tcPr>
                </a:tc>
                <a:tc>
                  <a:txBody>
                    <a:bodyPr/>
                    <a:lstStyle/>
                    <a:p>
                      <a:r>
                        <a:rPr sz="1150" b="0">
                          <a:solidFill>
                            <a:srgbClr val="1E2420"/>
                          </a:solidFill>
                          <a:latin typeface="Calibri"/>
                        </a:rPr>
                        <a:t>6.8×</a:t>
                      </a:r>
                    </a:p>
                  </a:txBody>
                  <a:tcPr marL="54864" marR="54864" marT="18288" marB="18288" anchor="ctr">
                    <a:solidFill>
                      <a:srgbClr val="FFFFFF"/>
                    </a:solidFill>
                  </a:tcPr>
                </a:tc>
              </a:tr>
              <a:tr h="347472">
                <a:tc>
                  <a:txBody>
                    <a:bodyPr/>
                    <a:lstStyle/>
                    <a:p>
                      <a:r>
                        <a:rPr sz="1150" b="0">
                          <a:solidFill>
                            <a:srgbClr val="1E2420"/>
                          </a:solidFill>
                          <a:latin typeface="Calibri"/>
                        </a:rPr>
                        <a:t>Udayapur</a:t>
                      </a:r>
                    </a:p>
                  </a:txBody>
                  <a:tcPr marL="54864" marR="54864" marT="18288" marB="18288" anchor="ctr">
                    <a:solidFill>
                      <a:srgbClr val="F4F6F5"/>
                    </a:solidFill>
                  </a:tcPr>
                </a:tc>
                <a:tc>
                  <a:txBody>
                    <a:bodyPr/>
                    <a:lstStyle/>
                    <a:p>
                      <a:r>
                        <a:rPr sz="1150" b="0">
                          <a:solidFill>
                            <a:srgbClr val="1E2420"/>
                          </a:solidFill>
                          <a:latin typeface="Calibri"/>
                        </a:rPr>
                        <a:t>0.844</a:t>
                      </a:r>
                    </a:p>
                  </a:txBody>
                  <a:tcPr marL="54864" marR="54864" marT="18288" marB="18288" anchor="ctr">
                    <a:solidFill>
                      <a:srgbClr val="F4F6F5"/>
                    </a:solidFill>
                  </a:tcPr>
                </a:tc>
                <a:tc>
                  <a:txBody>
                    <a:bodyPr/>
                    <a:lstStyle/>
                    <a:p>
                      <a:r>
                        <a:rPr sz="1150" b="0">
                          <a:solidFill>
                            <a:srgbClr val="1E2420"/>
                          </a:solidFill>
                          <a:latin typeface="Calibri"/>
                        </a:rPr>
                        <a:t>7.0×</a:t>
                      </a:r>
                    </a:p>
                  </a:txBody>
                  <a:tcPr marL="54864" marR="54864" marT="18288" marB="18288" anchor="ctr">
                    <a:solidFill>
                      <a:srgbClr val="F4F6F5"/>
                    </a:solidFill>
                  </a:tcPr>
                </a:tc>
              </a:tr>
              <a:tr h="347472">
                <a:tc>
                  <a:txBody>
                    <a:bodyPr/>
                    <a:lstStyle/>
                    <a:p>
                      <a:r>
                        <a:rPr sz="1150" b="0">
                          <a:solidFill>
                            <a:srgbClr val="1E2420"/>
                          </a:solidFill>
                          <a:latin typeface="Calibri"/>
                        </a:rPr>
                        <a:t>Kailali</a:t>
                      </a:r>
                    </a:p>
                  </a:txBody>
                  <a:tcPr marL="54864" marR="54864" marT="18288" marB="18288" anchor="ctr">
                    <a:solidFill>
                      <a:srgbClr val="FFFFFF"/>
                    </a:solidFill>
                  </a:tcPr>
                </a:tc>
                <a:tc>
                  <a:txBody>
                    <a:bodyPr/>
                    <a:lstStyle/>
                    <a:p>
                      <a:r>
                        <a:rPr sz="1150" b="0">
                          <a:solidFill>
                            <a:srgbClr val="1E2420"/>
                          </a:solidFill>
                          <a:latin typeface="Calibri"/>
                        </a:rPr>
                        <a:t>0.803</a:t>
                      </a:r>
                    </a:p>
                  </a:txBody>
                  <a:tcPr marL="54864" marR="54864" marT="18288" marB="18288" anchor="ctr">
                    <a:solidFill>
                      <a:srgbClr val="FFFFFF"/>
                    </a:solidFill>
                  </a:tcPr>
                </a:tc>
                <a:tc>
                  <a:txBody>
                    <a:bodyPr/>
                    <a:lstStyle/>
                    <a:p>
                      <a:r>
                        <a:rPr sz="1150" b="0">
                          <a:solidFill>
                            <a:srgbClr val="1E2420"/>
                          </a:solidFill>
                          <a:latin typeface="Calibri"/>
                        </a:rPr>
                        <a:t>10.1×</a:t>
                      </a:r>
                    </a:p>
                  </a:txBody>
                  <a:tcPr marL="54864" marR="54864" marT="18288" marB="18288" anchor="ctr">
                    <a:solidFill>
                      <a:srgbClr val="FFFFFF"/>
                    </a:solidFill>
                  </a:tcPr>
                </a:tc>
              </a:tr>
              <a:tr h="347472">
                <a:tc>
                  <a:txBody>
                    <a:bodyPr/>
                    <a:lstStyle/>
                    <a:p>
                      <a:r>
                        <a:rPr sz="1150" b="0">
                          <a:solidFill>
                            <a:srgbClr val="1E2420"/>
                          </a:solidFill>
                          <a:latin typeface="Calibri"/>
                        </a:rPr>
                        <a:t>Shivalik</a:t>
                      </a:r>
                    </a:p>
                  </a:txBody>
                  <a:tcPr marL="54864" marR="54864" marT="18288" marB="18288" anchor="ctr">
                    <a:solidFill>
                      <a:srgbClr val="F4F6F5"/>
                    </a:solidFill>
                  </a:tcPr>
                </a:tc>
                <a:tc>
                  <a:txBody>
                    <a:bodyPr/>
                    <a:lstStyle/>
                    <a:p>
                      <a:r>
                        <a:rPr sz="1150" b="0">
                          <a:solidFill>
                            <a:srgbClr val="1E2420"/>
                          </a:solidFill>
                          <a:latin typeface="Calibri"/>
                        </a:rPr>
                        <a:t>0.782</a:t>
                      </a:r>
                    </a:p>
                  </a:txBody>
                  <a:tcPr marL="54864" marR="54864" marT="18288" marB="18288" anchor="ctr">
                    <a:solidFill>
                      <a:srgbClr val="F4F6F5"/>
                    </a:solidFill>
                  </a:tcPr>
                </a:tc>
                <a:tc>
                  <a:txBody>
                    <a:bodyPr/>
                    <a:lstStyle/>
                    <a:p>
                      <a:r>
                        <a:rPr sz="1150" b="0">
                          <a:solidFill>
                            <a:srgbClr val="1E2420"/>
                          </a:solidFill>
                          <a:latin typeface="Calibri"/>
                        </a:rPr>
                        <a:t>12.7×</a:t>
                      </a:r>
                    </a:p>
                  </a:txBody>
                  <a:tcPr marL="54864" marR="54864" marT="18288" marB="18288" anchor="ctr">
                    <a:solidFill>
                      <a:srgbClr val="F4F6F5"/>
                    </a:solidFill>
                  </a:tcPr>
                </a:tc>
              </a:tr>
              <a:tr h="347472">
                <a:tc>
                  <a:txBody>
                    <a:bodyPr/>
                    <a:lstStyle/>
                    <a:p>
                      <a:r>
                        <a:rPr sz="1150" b="0">
                          <a:solidFill>
                            <a:srgbClr val="1E2420"/>
                          </a:solidFill>
                          <a:latin typeface="Calibri"/>
                        </a:rPr>
                        <a:t>Marathwada</a:t>
                      </a:r>
                    </a:p>
                  </a:txBody>
                  <a:tcPr marL="54864" marR="54864" marT="18288" marB="18288" anchor="ctr">
                    <a:solidFill>
                      <a:srgbClr val="FFFFFF"/>
                    </a:solidFill>
                  </a:tcPr>
                </a:tc>
                <a:tc>
                  <a:txBody>
                    <a:bodyPr/>
                    <a:lstStyle/>
                    <a:p>
                      <a:r>
                        <a:rPr sz="1150" b="0">
                          <a:solidFill>
                            <a:srgbClr val="1E2420"/>
                          </a:solidFill>
                          <a:latin typeface="Calibri"/>
                        </a:rPr>
                        <a:t>0.597</a:t>
                      </a:r>
                    </a:p>
                  </a:txBody>
                  <a:tcPr marL="54864" marR="54864" marT="18288" marB="18288" anchor="ctr">
                    <a:solidFill>
                      <a:srgbClr val="FFFFFF"/>
                    </a:solidFill>
                  </a:tcPr>
                </a:tc>
                <a:tc>
                  <a:txBody>
                    <a:bodyPr/>
                    <a:lstStyle/>
                    <a:p>
                      <a:r>
                        <a:rPr sz="1150" b="0">
                          <a:solidFill>
                            <a:srgbClr val="1E2420"/>
                          </a:solidFill>
                          <a:latin typeface="Calibri"/>
                        </a:rPr>
                        <a:t>1.7×</a:t>
                      </a:r>
                    </a:p>
                  </a:txBody>
                  <a:tcPr marL="54864" marR="54864" marT="18288" marB="18288" anchor="ctr">
                    <a:solidFill>
                      <a:srgbClr val="FFFFFF"/>
                    </a:solidFill>
                  </a:tcPr>
                </a:tc>
              </a:tr>
              <a:tr h="347472">
                <a:tc>
                  <a:txBody>
                    <a:bodyPr/>
                    <a:lstStyle/>
                    <a:p>
                      <a:r>
                        <a:rPr sz="1150" b="0">
                          <a:solidFill>
                            <a:srgbClr val="1E2420"/>
                          </a:solidFill>
                          <a:latin typeface="Calibri"/>
                        </a:rPr>
                        <a:t>All six</a:t>
                      </a:r>
                    </a:p>
                  </a:txBody>
                  <a:tcPr marL="54864" marR="54864" marT="18288" marB="18288" anchor="ctr">
                    <a:solidFill>
                      <a:srgbClr val="F4F6F5"/>
                    </a:solidFill>
                  </a:tcPr>
                </a:tc>
                <a:tc>
                  <a:txBody>
                    <a:bodyPr/>
                    <a:lstStyle/>
                    <a:p>
                      <a:r>
                        <a:rPr sz="1150" b="0">
                          <a:solidFill>
                            <a:srgbClr val="1E2420"/>
                          </a:solidFill>
                          <a:latin typeface="Calibri"/>
                        </a:rPr>
                        <a:t>0.839</a:t>
                      </a:r>
                    </a:p>
                  </a:txBody>
                  <a:tcPr marL="54864" marR="54864" marT="18288" marB="18288" anchor="ctr">
                    <a:solidFill>
                      <a:srgbClr val="F4F6F5"/>
                    </a:solidFill>
                  </a:tcPr>
                </a:tc>
                <a:tc>
                  <a:txBody>
                    <a:bodyPr/>
                    <a:lstStyle/>
                    <a:p>
                      <a:r>
                        <a:rPr sz="1150" b="0">
                          <a:solidFill>
                            <a:srgbClr val="1E2420"/>
                          </a:solidFill>
                          <a:latin typeface="Calibri"/>
                        </a:rPr>
                        <a:t>8.6×</a:t>
                      </a:r>
                    </a:p>
                  </a:txBody>
                  <a:tcPr marL="54864" marR="54864" marT="18288" marB="18288" anchor="ctr">
                    <a:solidFill>
                      <a:srgbClr val="F4F6F5"/>
                    </a:solidFill>
                  </a:tcPr>
                </a:tc>
              </a:tr>
            </a:tbl>
          </a:graphicData>
        </a:graphic>
      </p:graphicFrame>
      <p:sp>
        <p:nvSpPr>
          <p:cNvPr id="8" name="TextBox 7"/>
          <p:cNvSpPr txBox="1"/>
          <p:nvPr/>
        </p:nvSpPr>
        <p:spPr>
          <a:xfrm>
            <a:off x="8961120" y="3931920"/>
            <a:ext cx="2743200" cy="1097280"/>
          </a:xfrm>
          <a:prstGeom prst="rect">
            <a:avLst/>
          </a:prstGeom>
          <a:noFill/>
        </p:spPr>
        <p:txBody>
          <a:bodyPr wrap="square" anchor="t" lIns="0" rIns="0" tIns="0" bIns="0">
            <a:spAutoFit/>
          </a:bodyPr>
          <a:lstStyle/>
          <a:p>
            <a:pPr algn="l">
              <a:spcAft>
                <a:spcPts val="0"/>
              </a:spcAft>
            </a:pPr>
            <a:r>
              <a:rPr sz="1200" b="0" i="0">
                <a:solidFill>
                  <a:srgbClr val="5E6A62"/>
                </a:solidFill>
                <a:latin typeface="Calibri"/>
              </a:rPr>
              <a:t>Six sites never used in development (Nepal, India). Weakest: Marathwada cropland.</a:t>
            </a:r>
          </a:p>
        </p:txBody>
      </p:sp>
      <p:sp>
        <p:nvSpPr>
          <p:cNvPr id="9" name="Rounded Rectangle 8"/>
          <p:cNvSpPr/>
          <p:nvPr/>
        </p:nvSpPr>
        <p:spPr>
          <a:xfrm>
            <a:off x="502920" y="5257800"/>
            <a:ext cx="11201400" cy="109728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537667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1" name="TextBox 10"/>
          <p:cNvSpPr txBox="1"/>
          <p:nvPr/>
        </p:nvSpPr>
        <p:spPr>
          <a:xfrm>
            <a:off x="1005840" y="5367528"/>
            <a:ext cx="1056132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2" name="TextBox 11"/>
          <p:cNvSpPr txBox="1"/>
          <p:nvPr/>
        </p:nvSpPr>
        <p:spPr>
          <a:xfrm>
            <a:off x="640080" y="5760720"/>
            <a:ext cx="10927080" cy="50291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Leave-one-country-out — </a:t>
            </a:r>
            <a:r>
              <a:rPr sz="1200" b="0" i="0">
                <a:solidFill>
                  <a:srgbClr val="1E2420"/>
                </a:solidFill>
                <a:latin typeface="Calibri"/>
              </a:rPr>
              <a:t>the model has never seen a single pixel of that country</a:t>
            </a:r>
          </a:p>
          <a:p>
            <a:pPr algn="l">
              <a:spcAft>
                <a:spcPts val="500"/>
              </a:spcAft>
            </a:pPr>
            <a:r>
              <a:rPr sz="1200" b="1" i="0">
                <a:solidFill>
                  <a:srgbClr val="2E6B3F"/>
                </a:solidFill>
                <a:latin typeface="Calibri"/>
              </a:rPr>
              <a:t>Walk-forward — </a:t>
            </a:r>
            <a:r>
              <a:rPr sz="1200" b="0" i="0">
                <a:solidFill>
                  <a:srgbClr val="1E2420"/>
                </a:solidFill>
                <a:latin typeface="Calibri"/>
              </a:rPr>
              <a:t>always train on the past, test on the following year, like real 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When it warns, and why</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15</a:t>
            </a:r>
          </a:p>
        </p:txBody>
      </p:sp>
      <p:pic>
        <p:nvPicPr>
          <p:cNvPr id="5" name="Picture 4" descr="fig12_lead_time.png"/>
          <p:cNvPicPr>
            <a:picLocks noChangeAspect="1"/>
          </p:cNvPicPr>
          <p:nvPr/>
        </p:nvPicPr>
        <p:blipFill>
          <a:blip r:embed="rId3"/>
          <a:stretch>
            <a:fillRect/>
          </a:stretch>
        </p:blipFill>
        <p:spPr>
          <a:xfrm>
            <a:off x="411480" y="1060097"/>
            <a:ext cx="4754880" cy="3046164"/>
          </a:xfrm>
          <a:prstGeom prst="rect">
            <a:avLst/>
          </a:prstGeom>
        </p:spPr>
      </p:pic>
      <p:sp>
        <p:nvSpPr>
          <p:cNvPr id="6" name="TextBox 5"/>
          <p:cNvSpPr txBox="1"/>
          <p:nvPr/>
        </p:nvSpPr>
        <p:spPr>
          <a:xfrm>
            <a:off x="502920" y="4124550"/>
            <a:ext cx="457200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Months of warning before onset (grey = missed)</a:t>
            </a:r>
          </a:p>
        </p:txBody>
      </p:sp>
      <p:pic>
        <p:nvPicPr>
          <p:cNvPr id="7" name="Picture 6" descr="fig13_shap.png"/>
          <p:cNvPicPr>
            <a:picLocks noChangeAspect="1"/>
          </p:cNvPicPr>
          <p:nvPr/>
        </p:nvPicPr>
        <p:blipFill>
          <a:blip r:embed="rId4"/>
          <a:stretch>
            <a:fillRect/>
          </a:stretch>
        </p:blipFill>
        <p:spPr>
          <a:xfrm>
            <a:off x="5349240" y="1015326"/>
            <a:ext cx="3931920" cy="3135706"/>
          </a:xfrm>
          <a:prstGeom prst="rect">
            <a:avLst/>
          </a:prstGeom>
        </p:spPr>
      </p:pic>
      <p:sp>
        <p:nvSpPr>
          <p:cNvPr id="8" name="Rounded Rectangle 7"/>
          <p:cNvSpPr/>
          <p:nvPr/>
        </p:nvSpPr>
        <p:spPr>
          <a:xfrm>
            <a:off x="9464040" y="1051560"/>
            <a:ext cx="2240280" cy="141732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0" y="1143000"/>
            <a:ext cx="1965960" cy="708660"/>
          </a:xfrm>
          <a:prstGeom prst="rect">
            <a:avLst/>
          </a:prstGeom>
          <a:noFill/>
        </p:spPr>
        <p:txBody>
          <a:bodyPr wrap="square" anchor="b" lIns="0" rIns="0" tIns="0" bIns="0">
            <a:spAutoFit/>
          </a:bodyPr>
          <a:lstStyle/>
          <a:p>
            <a:pPr algn="l">
              <a:spcAft>
                <a:spcPts val="0"/>
              </a:spcAft>
            </a:pPr>
            <a:r>
              <a:rPr sz="3400" b="1" i="0">
                <a:solidFill>
                  <a:srgbClr val="2E6B3F"/>
                </a:solidFill>
                <a:latin typeface="Cambria"/>
              </a:rPr>
              <a:t>41%</a:t>
            </a:r>
          </a:p>
        </p:txBody>
      </p:sp>
      <p:sp>
        <p:nvSpPr>
          <p:cNvPr id="10" name="TextBox 9"/>
          <p:cNvSpPr txBox="1"/>
          <p:nvPr/>
        </p:nvSpPr>
        <p:spPr>
          <a:xfrm>
            <a:off x="9601200" y="1869948"/>
            <a:ext cx="1965960" cy="52578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of 1,444 onsets warned</a:t>
            </a:r>
          </a:p>
        </p:txBody>
      </p:sp>
      <p:sp>
        <p:nvSpPr>
          <p:cNvPr id="11" name="Rounded Rectangle 10"/>
          <p:cNvSpPr/>
          <p:nvPr/>
        </p:nvSpPr>
        <p:spPr>
          <a:xfrm>
            <a:off x="9464040" y="2606040"/>
            <a:ext cx="2240280" cy="141732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0" y="2697480"/>
            <a:ext cx="1965960" cy="708660"/>
          </a:xfrm>
          <a:prstGeom prst="rect">
            <a:avLst/>
          </a:prstGeom>
          <a:noFill/>
        </p:spPr>
        <p:txBody>
          <a:bodyPr wrap="square" anchor="b" lIns="0" rIns="0" tIns="0" bIns="0">
            <a:spAutoFit/>
          </a:bodyPr>
          <a:lstStyle/>
          <a:p>
            <a:pPr algn="l">
              <a:spcAft>
                <a:spcPts val="0"/>
              </a:spcAft>
            </a:pPr>
            <a:r>
              <a:rPr sz="3400" b="1" i="0">
                <a:solidFill>
                  <a:srgbClr val="B5562B"/>
                </a:solidFill>
                <a:latin typeface="Cambria"/>
              </a:rPr>
              <a:t>3 mo</a:t>
            </a:r>
          </a:p>
        </p:txBody>
      </p:sp>
      <p:sp>
        <p:nvSpPr>
          <p:cNvPr id="13" name="TextBox 12"/>
          <p:cNvSpPr txBox="1"/>
          <p:nvPr/>
        </p:nvSpPr>
        <p:spPr>
          <a:xfrm>
            <a:off x="9601200" y="3424428"/>
            <a:ext cx="1965960" cy="525780"/>
          </a:xfrm>
          <a:prstGeom prst="rect">
            <a:avLst/>
          </a:prstGeom>
          <a:noFill/>
        </p:spPr>
        <p:txBody>
          <a:bodyPr wrap="square" anchor="t" lIns="0" rIns="0" tIns="0" bIns="0">
            <a:spAutoFit/>
          </a:bodyPr>
          <a:lstStyle/>
          <a:p>
            <a:pPr algn="l">
              <a:spcAft>
                <a:spcPts val="0"/>
              </a:spcAft>
            </a:pPr>
            <a:r>
              <a:rPr sz="1300" b="1" i="0">
                <a:solidFill>
                  <a:srgbClr val="1E2420"/>
                </a:solidFill>
                <a:latin typeface="Calibri"/>
              </a:rPr>
              <a:t>median lead time</a:t>
            </a:r>
          </a:p>
        </p:txBody>
      </p:sp>
      <p:graphicFrame>
        <p:nvGraphicFramePr>
          <p:cNvPr id="14" name="Table 13"/>
          <p:cNvGraphicFramePr>
            <a:graphicFrameLocks noGrp="1"/>
          </p:cNvGraphicFramePr>
          <p:nvPr/>
        </p:nvGraphicFramePr>
        <p:xfrm>
          <a:off x="502920" y="4389120"/>
          <a:ext cx="4663440" cy="1920240"/>
        </p:xfrm>
        <a:graphic>
          <a:graphicData uri="http://schemas.openxmlformats.org/drawingml/2006/table">
            <a:tbl>
              <a:tblPr firstRow="1" bandRow="1">
                <a:tableStyleId>{5C22544A-7EE6-4342-B048-85BDC9FD1C3A}</a:tableStyleId>
              </a:tblPr>
              <a:tblGrid>
                <a:gridCol w="2103120"/>
                <a:gridCol w="1280160"/>
                <a:gridCol w="1280160"/>
              </a:tblGrid>
              <a:tr h="320040">
                <a:tc>
                  <a:txBody>
                    <a:bodyPr/>
                    <a:lstStyle/>
                    <a:p>
                      <a:r>
                        <a:rPr sz="1150" b="1">
                          <a:solidFill>
                            <a:srgbClr val="FFFFFF"/>
                          </a:solidFill>
                          <a:latin typeface="Calibri"/>
                        </a:rPr>
                        <a:t>Land cover</a:t>
                      </a:r>
                    </a:p>
                  </a:txBody>
                  <a:tcPr marL="54864" marR="54864" marT="18288" marB="18288" anchor="ctr">
                    <a:solidFill>
                      <a:srgbClr val="2E6B3F"/>
                    </a:solidFill>
                  </a:tcPr>
                </a:tc>
                <a:tc>
                  <a:txBody>
                    <a:bodyPr/>
                    <a:lstStyle/>
                    <a:p>
                      <a:r>
                        <a:rPr sz="1150" b="1">
                          <a:solidFill>
                            <a:srgbClr val="FFFFFF"/>
                          </a:solidFill>
                          <a:latin typeface="Calibri"/>
                        </a:rPr>
                        <a:t>PR-AUC</a:t>
                      </a:r>
                    </a:p>
                  </a:txBody>
                  <a:tcPr marL="54864" marR="54864" marT="18288" marB="18288" anchor="ctr">
                    <a:solidFill>
                      <a:srgbClr val="2E6B3F"/>
                    </a:solidFill>
                  </a:tcPr>
                </a:tc>
                <a:tc>
                  <a:txBody>
                    <a:bodyPr/>
                    <a:lstStyle/>
                    <a:p>
                      <a:r>
                        <a:rPr sz="1150" b="1">
                          <a:solidFill>
                            <a:srgbClr val="FFFFFF"/>
                          </a:solidFill>
                          <a:latin typeface="Calibri"/>
                        </a:rPr>
                        <a:t>ROC-AUC</a:t>
                      </a:r>
                    </a:p>
                  </a:txBody>
                  <a:tcPr marL="54864" marR="54864" marT="18288" marB="18288" anchor="ctr">
                    <a:solidFill>
                      <a:srgbClr val="2E6B3F"/>
                    </a:solidFill>
                  </a:tcPr>
                </a:tc>
              </a:tr>
              <a:tr h="320040">
                <a:tc>
                  <a:txBody>
                    <a:bodyPr/>
                    <a:lstStyle/>
                    <a:p>
                      <a:r>
                        <a:rPr sz="1150" b="0">
                          <a:solidFill>
                            <a:srgbClr val="1E2420"/>
                          </a:solidFill>
                          <a:latin typeface="Calibri"/>
                        </a:rPr>
                        <a:t>Shrubland</a:t>
                      </a:r>
                    </a:p>
                  </a:txBody>
                  <a:tcPr marL="54864" marR="54864" marT="18288" marB="18288" anchor="ctr">
                    <a:solidFill>
                      <a:srgbClr val="F4F6F5"/>
                    </a:solidFill>
                  </a:tcPr>
                </a:tc>
                <a:tc>
                  <a:txBody>
                    <a:bodyPr/>
                    <a:lstStyle/>
                    <a:p>
                      <a:r>
                        <a:rPr sz="1150" b="0">
                          <a:solidFill>
                            <a:srgbClr val="1E2420"/>
                          </a:solidFill>
                          <a:latin typeface="Calibri"/>
                        </a:rPr>
                        <a:t>0.275</a:t>
                      </a:r>
                    </a:p>
                  </a:txBody>
                  <a:tcPr marL="54864" marR="54864" marT="18288" marB="18288" anchor="ctr">
                    <a:solidFill>
                      <a:srgbClr val="F4F6F5"/>
                    </a:solidFill>
                  </a:tcPr>
                </a:tc>
                <a:tc>
                  <a:txBody>
                    <a:bodyPr/>
                    <a:lstStyle/>
                    <a:p>
                      <a:r>
                        <a:rPr sz="1150" b="0">
                          <a:solidFill>
                            <a:srgbClr val="1E2420"/>
                          </a:solidFill>
                          <a:latin typeface="Calibri"/>
                        </a:rPr>
                        <a:t>0.858</a:t>
                      </a:r>
                    </a:p>
                  </a:txBody>
                  <a:tcPr marL="54864" marR="54864" marT="18288" marB="18288" anchor="ctr">
                    <a:solidFill>
                      <a:srgbClr val="F4F6F5"/>
                    </a:solidFill>
                  </a:tcPr>
                </a:tc>
              </a:tr>
              <a:tr h="320040">
                <a:tc>
                  <a:txBody>
                    <a:bodyPr/>
                    <a:lstStyle/>
                    <a:p>
                      <a:r>
                        <a:rPr sz="1150" b="0">
                          <a:solidFill>
                            <a:srgbClr val="1E2420"/>
                          </a:solidFill>
                          <a:latin typeface="Calibri"/>
                        </a:rPr>
                        <a:t>Grassland</a:t>
                      </a:r>
                    </a:p>
                  </a:txBody>
                  <a:tcPr marL="54864" marR="54864" marT="18288" marB="18288" anchor="ctr">
                    <a:solidFill>
                      <a:srgbClr val="FFFFFF"/>
                    </a:solidFill>
                  </a:tcPr>
                </a:tc>
                <a:tc>
                  <a:txBody>
                    <a:bodyPr/>
                    <a:lstStyle/>
                    <a:p>
                      <a:r>
                        <a:rPr sz="1150" b="0">
                          <a:solidFill>
                            <a:srgbClr val="1E2420"/>
                          </a:solidFill>
                          <a:latin typeface="Calibri"/>
                        </a:rPr>
                        <a:t>0.218</a:t>
                      </a:r>
                    </a:p>
                  </a:txBody>
                  <a:tcPr marL="54864" marR="54864" marT="18288" marB="18288" anchor="ctr">
                    <a:solidFill>
                      <a:srgbClr val="FFFFFF"/>
                    </a:solidFill>
                  </a:tcPr>
                </a:tc>
                <a:tc>
                  <a:txBody>
                    <a:bodyPr/>
                    <a:lstStyle/>
                    <a:p>
                      <a:r>
                        <a:rPr sz="1150" b="0">
                          <a:solidFill>
                            <a:srgbClr val="1E2420"/>
                          </a:solidFill>
                          <a:latin typeface="Calibri"/>
                        </a:rPr>
                        <a:t>0.870</a:t>
                      </a:r>
                    </a:p>
                  </a:txBody>
                  <a:tcPr marL="54864" marR="54864" marT="18288" marB="18288" anchor="ctr">
                    <a:solidFill>
                      <a:srgbClr val="FFFFFF"/>
                    </a:solidFill>
                  </a:tcPr>
                </a:tc>
              </a:tr>
              <a:tr h="320040">
                <a:tc>
                  <a:txBody>
                    <a:bodyPr/>
                    <a:lstStyle/>
                    <a:p>
                      <a:r>
                        <a:rPr sz="1150" b="0">
                          <a:solidFill>
                            <a:srgbClr val="1E2420"/>
                          </a:solidFill>
                          <a:latin typeface="Calibri"/>
                        </a:rPr>
                        <a:t>Bare / sparse</a:t>
                      </a:r>
                    </a:p>
                  </a:txBody>
                  <a:tcPr marL="54864" marR="54864" marT="18288" marB="18288" anchor="ctr">
                    <a:solidFill>
                      <a:srgbClr val="F4F6F5"/>
                    </a:solidFill>
                  </a:tcPr>
                </a:tc>
                <a:tc>
                  <a:txBody>
                    <a:bodyPr/>
                    <a:lstStyle/>
                    <a:p>
                      <a:r>
                        <a:rPr sz="1150" b="0">
                          <a:solidFill>
                            <a:srgbClr val="1E2420"/>
                          </a:solidFill>
                          <a:latin typeface="Calibri"/>
                        </a:rPr>
                        <a:t>0.123</a:t>
                      </a:r>
                    </a:p>
                  </a:txBody>
                  <a:tcPr marL="54864" marR="54864" marT="18288" marB="18288" anchor="ctr">
                    <a:solidFill>
                      <a:srgbClr val="F4F6F5"/>
                    </a:solidFill>
                  </a:tcPr>
                </a:tc>
                <a:tc>
                  <a:txBody>
                    <a:bodyPr/>
                    <a:lstStyle/>
                    <a:p>
                      <a:r>
                        <a:rPr sz="1150" b="0">
                          <a:solidFill>
                            <a:srgbClr val="1E2420"/>
                          </a:solidFill>
                          <a:latin typeface="Calibri"/>
                        </a:rPr>
                        <a:t>0.755</a:t>
                      </a:r>
                    </a:p>
                  </a:txBody>
                  <a:tcPr marL="54864" marR="54864" marT="18288" marB="18288" anchor="ctr">
                    <a:solidFill>
                      <a:srgbClr val="F4F6F5"/>
                    </a:solidFill>
                  </a:tcPr>
                </a:tc>
              </a:tr>
              <a:tr h="320040">
                <a:tc>
                  <a:txBody>
                    <a:bodyPr/>
                    <a:lstStyle/>
                    <a:p>
                      <a:r>
                        <a:rPr sz="1150" b="0">
                          <a:solidFill>
                            <a:srgbClr val="1E2420"/>
                          </a:solidFill>
                          <a:latin typeface="Calibri"/>
                        </a:rPr>
                        <a:t>Tree cover</a:t>
                      </a:r>
                    </a:p>
                  </a:txBody>
                  <a:tcPr marL="54864" marR="54864" marT="18288" marB="18288" anchor="ctr">
                    <a:solidFill>
                      <a:srgbClr val="FFFFFF"/>
                    </a:solidFill>
                  </a:tcPr>
                </a:tc>
                <a:tc>
                  <a:txBody>
                    <a:bodyPr/>
                    <a:lstStyle/>
                    <a:p>
                      <a:r>
                        <a:rPr sz="1150" b="0">
                          <a:solidFill>
                            <a:srgbClr val="1E2420"/>
                          </a:solidFill>
                          <a:latin typeface="Calibri"/>
                        </a:rPr>
                        <a:t>0.110</a:t>
                      </a:r>
                    </a:p>
                  </a:txBody>
                  <a:tcPr marL="54864" marR="54864" marT="18288" marB="18288" anchor="ctr">
                    <a:solidFill>
                      <a:srgbClr val="FFFFFF"/>
                    </a:solidFill>
                  </a:tcPr>
                </a:tc>
                <a:tc>
                  <a:txBody>
                    <a:bodyPr/>
                    <a:lstStyle/>
                    <a:p>
                      <a:r>
                        <a:rPr sz="1150" b="0">
                          <a:solidFill>
                            <a:srgbClr val="1E2420"/>
                          </a:solidFill>
                          <a:latin typeface="Calibri"/>
                        </a:rPr>
                        <a:t>0.812</a:t>
                      </a:r>
                    </a:p>
                  </a:txBody>
                  <a:tcPr marL="54864" marR="54864" marT="18288" marB="18288" anchor="ctr">
                    <a:solidFill>
                      <a:srgbClr val="FFFFFF"/>
                    </a:solidFill>
                  </a:tcPr>
                </a:tc>
              </a:tr>
              <a:tr h="320040">
                <a:tc>
                  <a:txBody>
                    <a:bodyPr/>
                    <a:lstStyle/>
                    <a:p>
                      <a:r>
                        <a:rPr sz="1150" b="0">
                          <a:solidFill>
                            <a:srgbClr val="1E2420"/>
                          </a:solidFill>
                          <a:latin typeface="Calibri"/>
                        </a:rPr>
                        <a:t>Cropland</a:t>
                      </a:r>
                    </a:p>
                  </a:txBody>
                  <a:tcPr marL="54864" marR="54864" marT="18288" marB="18288" anchor="ctr">
                    <a:solidFill>
                      <a:srgbClr val="F4F6F5"/>
                    </a:solidFill>
                  </a:tcPr>
                </a:tc>
                <a:tc>
                  <a:txBody>
                    <a:bodyPr/>
                    <a:lstStyle/>
                    <a:p>
                      <a:r>
                        <a:rPr sz="1150" b="0">
                          <a:solidFill>
                            <a:srgbClr val="1E2420"/>
                          </a:solidFill>
                          <a:latin typeface="Calibri"/>
                        </a:rPr>
                        <a:t>0.096</a:t>
                      </a:r>
                    </a:p>
                  </a:txBody>
                  <a:tcPr marL="54864" marR="54864" marT="18288" marB="18288" anchor="ctr">
                    <a:solidFill>
                      <a:srgbClr val="F4F6F5"/>
                    </a:solidFill>
                  </a:tcPr>
                </a:tc>
                <a:tc>
                  <a:txBody>
                    <a:bodyPr/>
                    <a:lstStyle/>
                    <a:p>
                      <a:r>
                        <a:rPr sz="1150" b="0">
                          <a:solidFill>
                            <a:srgbClr val="1E2420"/>
                          </a:solidFill>
                          <a:latin typeface="Calibri"/>
                        </a:rPr>
                        <a:t>0.743</a:t>
                      </a:r>
                    </a:p>
                  </a:txBody>
                  <a:tcPr marL="54864" marR="54864" marT="18288" marB="18288" anchor="ctr">
                    <a:solidFill>
                      <a:srgbClr val="F4F6F5"/>
                    </a:solidFill>
                  </a:tcPr>
                </a:tc>
              </a:tr>
            </a:tbl>
          </a:graphicData>
        </a:graphic>
      </p:graphicFrame>
      <p:sp>
        <p:nvSpPr>
          <p:cNvPr id="15" name="Rounded Rectangle 14"/>
          <p:cNvSpPr/>
          <p:nvPr/>
        </p:nvSpPr>
        <p:spPr>
          <a:xfrm>
            <a:off x="5349240" y="4343400"/>
            <a:ext cx="6355080" cy="201168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86400" y="446227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7" name="TextBox 16"/>
          <p:cNvSpPr txBox="1"/>
          <p:nvPr/>
        </p:nvSpPr>
        <p:spPr>
          <a:xfrm>
            <a:off x="5852159" y="4453128"/>
            <a:ext cx="571500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8" name="TextBox 17"/>
          <p:cNvSpPr txBox="1"/>
          <p:nvPr/>
        </p:nvSpPr>
        <p:spPr>
          <a:xfrm>
            <a:off x="5486400" y="4846320"/>
            <a:ext cx="6080760" cy="1417320"/>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modis_var_60 — </a:t>
            </a:r>
            <a:r>
              <a:rPr sz="1200" b="0" i="0">
                <a:solidFill>
                  <a:srgbClr val="1E2420"/>
                </a:solidFill>
                <a:latin typeface="Calibri"/>
              </a:rPr>
              <a:t>variance of MODIS NDVI over the last 60 months</a:t>
            </a:r>
          </a:p>
          <a:p>
            <a:pPr algn="l">
              <a:spcAft>
                <a:spcPts val="500"/>
              </a:spcAft>
            </a:pPr>
            <a:r>
              <a:rPr sz="1200" b="1" i="0">
                <a:solidFill>
                  <a:srgbClr val="2E6B3F"/>
                </a:solidFill>
                <a:latin typeface="Calibri"/>
              </a:rPr>
              <a:t>R_fracbelow12 — </a:t>
            </a:r>
            <a:r>
              <a:rPr sz="1200" b="0" i="0">
                <a:solidFill>
                  <a:srgbClr val="1E2420"/>
                </a:solidFill>
                <a:latin typeface="Calibri"/>
              </a:rPr>
              <a:t>share of the last 12 months with residual below −1</a:t>
            </a:r>
          </a:p>
          <a:p>
            <a:pPr algn="l">
              <a:spcAft>
                <a:spcPts val="500"/>
              </a:spcAft>
            </a:pPr>
            <a:r>
              <a:rPr sz="1200" b="1" i="0">
                <a:solidFill>
                  <a:srgbClr val="2E6B3F"/>
                </a:solidFill>
                <a:latin typeface="Calibri"/>
              </a:rPr>
              <a:t>ac1_24 · ac1_trend — </a:t>
            </a:r>
            <a:r>
              <a:rPr sz="1200" b="0" i="0">
                <a:solidFill>
                  <a:srgbClr val="1E2420"/>
                </a:solidFill>
                <a:latin typeface="Calibri"/>
              </a:rPr>
              <a:t>lag-1 autocorrelation over 24 months, and its slope</a:t>
            </a:r>
          </a:p>
          <a:p>
            <a:pPr algn="l">
              <a:spcAft>
                <a:spcPts val="500"/>
              </a:spcAft>
            </a:pPr>
            <a:r>
              <a:rPr sz="1200" b="1" i="0">
                <a:solidFill>
                  <a:srgbClr val="2E6B3F"/>
                </a:solidFill>
                <a:latin typeface="Calibri"/>
              </a:rPr>
              <a:t>Lead time — </a:t>
            </a:r>
            <a:r>
              <a:rPr sz="1200" b="0" i="0">
                <a:solidFill>
                  <a:srgbClr val="1E2420"/>
                </a:solidFill>
                <a:latin typeface="Calibri"/>
              </a:rPr>
              <a:t>months between the warning and the onset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Application demo 1 · from the globe to a single pixel</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16</a:t>
            </a:r>
          </a:p>
        </p:txBody>
      </p:sp>
      <p:pic>
        <p:nvPicPr>
          <p:cNvPr id="5" name="Picture 4" descr="01_globe.png"/>
          <p:cNvPicPr>
            <a:picLocks noChangeAspect="1"/>
          </p:cNvPicPr>
          <p:nvPr/>
        </p:nvPicPr>
        <p:blipFill>
          <a:blip r:embed="rId3"/>
          <a:stretch>
            <a:fillRect/>
          </a:stretch>
        </p:blipFill>
        <p:spPr>
          <a:xfrm>
            <a:off x="466825" y="1005840"/>
            <a:ext cx="4004109" cy="2377440"/>
          </a:xfrm>
          <a:prstGeom prst="rect">
            <a:avLst/>
          </a:prstGeom>
        </p:spPr>
      </p:pic>
      <p:sp>
        <p:nvSpPr>
          <p:cNvPr id="6" name="TextBox 5"/>
          <p:cNvSpPr txBox="1"/>
          <p:nvPr/>
        </p:nvSpPr>
        <p:spPr>
          <a:xfrm>
            <a:off x="457200" y="340156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1  Globe: every study area coloured by mean risk</a:t>
            </a:r>
          </a:p>
        </p:txBody>
      </p:sp>
      <p:pic>
        <p:nvPicPr>
          <p:cNvPr id="7" name="Picture 6" descr="02_aoi_hotspots_rivers.png"/>
          <p:cNvPicPr>
            <a:picLocks noChangeAspect="1"/>
          </p:cNvPicPr>
          <p:nvPr/>
        </p:nvPicPr>
        <p:blipFill>
          <a:blip r:embed="rId4"/>
          <a:stretch>
            <a:fillRect/>
          </a:stretch>
        </p:blipFill>
        <p:spPr>
          <a:xfrm>
            <a:off x="4627345" y="1005840"/>
            <a:ext cx="4004109" cy="2377440"/>
          </a:xfrm>
          <a:prstGeom prst="rect">
            <a:avLst/>
          </a:prstGeom>
        </p:spPr>
      </p:pic>
      <p:sp>
        <p:nvSpPr>
          <p:cNvPr id="8" name="TextBox 7"/>
          <p:cNvSpPr txBox="1"/>
          <p:nvPr/>
        </p:nvSpPr>
        <p:spPr>
          <a:xfrm>
            <a:off x="4617720" y="340156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2  Area view: hotspots H1–H8, river network, time slider</a:t>
            </a:r>
          </a:p>
        </p:txBody>
      </p:sp>
      <p:pic>
        <p:nvPicPr>
          <p:cNvPr id="9" name="Picture 8" descr="03_hotspot_panel.png"/>
          <p:cNvPicPr>
            <a:picLocks noChangeAspect="1"/>
          </p:cNvPicPr>
          <p:nvPr/>
        </p:nvPicPr>
        <p:blipFill>
          <a:blip r:embed="rId5"/>
          <a:stretch>
            <a:fillRect/>
          </a:stretch>
        </p:blipFill>
        <p:spPr>
          <a:xfrm>
            <a:off x="466825" y="3703320"/>
            <a:ext cx="4004109" cy="2377440"/>
          </a:xfrm>
          <a:prstGeom prst="rect">
            <a:avLst/>
          </a:prstGeom>
        </p:spPr>
      </p:pic>
      <p:sp>
        <p:nvSpPr>
          <p:cNvPr id="10" name="TextBox 9"/>
          <p:cNvSpPr txBox="1"/>
          <p:nvPr/>
        </p:nvSpPr>
        <p:spPr>
          <a:xfrm>
            <a:off x="457200" y="609904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3  Hotspot panel: risk 0.175, drivers, before/after</a:t>
            </a:r>
          </a:p>
        </p:txBody>
      </p:sp>
      <p:pic>
        <p:nvPicPr>
          <p:cNvPr id="11" name="Picture 10" descr="04_pixel_inspector.png"/>
          <p:cNvPicPr>
            <a:picLocks noChangeAspect="1"/>
          </p:cNvPicPr>
          <p:nvPr/>
        </p:nvPicPr>
        <p:blipFill>
          <a:blip r:embed="rId6"/>
          <a:stretch>
            <a:fillRect/>
          </a:stretch>
        </p:blipFill>
        <p:spPr>
          <a:xfrm>
            <a:off x="4627345" y="3703320"/>
            <a:ext cx="4004109" cy="2377440"/>
          </a:xfrm>
          <a:prstGeom prst="rect">
            <a:avLst/>
          </a:prstGeom>
        </p:spPr>
      </p:pic>
      <p:sp>
        <p:nvSpPr>
          <p:cNvPr id="12" name="TextBox 11"/>
          <p:cNvSpPr txBox="1"/>
          <p:nvPr/>
        </p:nvSpPr>
        <p:spPr>
          <a:xfrm>
            <a:off x="4617720" y="609904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4  Pixel inspector: NDVI, z vs residual R, predicted risk</a:t>
            </a:r>
          </a:p>
        </p:txBody>
      </p:sp>
      <p:sp>
        <p:nvSpPr>
          <p:cNvPr id="13" name="Rounded Rectangle 12"/>
          <p:cNvSpPr/>
          <p:nvPr/>
        </p:nvSpPr>
        <p:spPr>
          <a:xfrm>
            <a:off x="8915400" y="1005840"/>
            <a:ext cx="2788920" cy="53492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052560" y="112471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5" name="TextBox 14"/>
          <p:cNvSpPr txBox="1"/>
          <p:nvPr/>
        </p:nvSpPr>
        <p:spPr>
          <a:xfrm>
            <a:off x="9418320" y="1115568"/>
            <a:ext cx="2148839"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6" name="TextBox 15"/>
          <p:cNvSpPr txBox="1"/>
          <p:nvPr/>
        </p:nvSpPr>
        <p:spPr>
          <a:xfrm>
            <a:off x="9052560" y="1508760"/>
            <a:ext cx="2514600" cy="475487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Hotspot — </a:t>
            </a:r>
            <a:r>
              <a:rPr sz="1200" b="0" i="0">
                <a:solidFill>
                  <a:srgbClr val="1E2420"/>
                </a:solidFill>
                <a:latin typeface="Calibri"/>
              </a:rPr>
              <a:t>a cluster of high-risk pixels, ranked H1, H2 …</a:t>
            </a:r>
          </a:p>
          <a:p>
            <a:pPr algn="l">
              <a:spcAft>
                <a:spcPts val="500"/>
              </a:spcAft>
            </a:pPr>
            <a:r>
              <a:rPr sz="1200" b="1" i="0">
                <a:solidFill>
                  <a:srgbClr val="2E6B3F"/>
                </a:solidFill>
                <a:latin typeface="Calibri"/>
              </a:rPr>
              <a:t>Risk layer — </a:t>
            </a:r>
            <a:r>
              <a:rPr sz="1200" b="0" i="0">
                <a:solidFill>
                  <a:srgbClr val="1E2420"/>
                </a:solidFill>
                <a:latin typeface="Calibri"/>
              </a:rPr>
              <a:t>colour = calibrated probability of an onset within 6 months</a:t>
            </a:r>
          </a:p>
          <a:p>
            <a:pPr algn="l">
              <a:spcAft>
                <a:spcPts val="500"/>
              </a:spcAft>
            </a:pPr>
            <a:r>
              <a:rPr sz="1200" b="1" i="0">
                <a:solidFill>
                  <a:srgbClr val="2E6B3F"/>
                </a:solidFill>
                <a:latin typeface="Calibri"/>
              </a:rPr>
              <a:t>Hatching — </a:t>
            </a:r>
            <a:r>
              <a:rPr sz="1200" b="0" i="0">
                <a:solidFill>
                  <a:srgbClr val="1E2420"/>
                </a:solidFill>
                <a:latin typeface="Calibri"/>
              </a:rPr>
              <a:t>pixels where the model abstains (inspect in the field)</a:t>
            </a:r>
          </a:p>
          <a:p>
            <a:pPr algn="l">
              <a:spcAft>
                <a:spcPts val="500"/>
              </a:spcAft>
            </a:pPr>
            <a:r>
              <a:rPr sz="1200" b="1" i="0">
                <a:solidFill>
                  <a:srgbClr val="2E6B3F"/>
                </a:solidFill>
                <a:latin typeface="Calibri"/>
              </a:rPr>
              <a:t>Before/after chips — </a:t>
            </a:r>
            <a:r>
              <a:rPr sz="1200" b="0" i="0">
                <a:solidFill>
                  <a:srgbClr val="1E2420"/>
                </a:solidFill>
                <a:latin typeface="Calibri"/>
              </a:rPr>
              <a:t>Sentinel-2 true-colour images of the hotspot</a:t>
            </a:r>
          </a:p>
          <a:p>
            <a:pPr algn="l">
              <a:spcAft>
                <a:spcPts val="500"/>
              </a:spcAft>
            </a:pPr>
            <a:r>
              <a:rPr sz="1200" b="1" i="0">
                <a:solidFill>
                  <a:srgbClr val="2E6B3F"/>
                </a:solidFill>
                <a:latin typeface="Calibri"/>
              </a:rPr>
              <a:t>Esri imagery — </a:t>
            </a:r>
            <a:r>
              <a:rPr sz="1200" b="0" i="0">
                <a:solidFill>
                  <a:srgbClr val="1E2420"/>
                </a:solidFill>
                <a:latin typeface="Calibri"/>
              </a:rPr>
              <a:t>high-detail basemap for context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Application demo 2 · time-lapse, rivers and any new area</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17</a:t>
            </a:r>
          </a:p>
        </p:txBody>
      </p:sp>
      <p:pic>
        <p:nvPicPr>
          <p:cNvPr id="5" name="Picture 4" descr="03_H12_mid_2023-08.png"/>
          <p:cNvPicPr>
            <a:picLocks noChangeAspect="1"/>
          </p:cNvPicPr>
          <p:nvPr/>
        </p:nvPicPr>
        <p:blipFill>
          <a:blip r:embed="rId3"/>
          <a:stretch>
            <a:fillRect/>
          </a:stretch>
        </p:blipFill>
        <p:spPr>
          <a:xfrm>
            <a:off x="466825" y="1005840"/>
            <a:ext cx="4004109" cy="2377440"/>
          </a:xfrm>
          <a:prstGeom prst="rect">
            <a:avLst/>
          </a:prstGeom>
        </p:spPr>
      </p:pic>
      <p:sp>
        <p:nvSpPr>
          <p:cNvPr id="6" name="TextBox 5"/>
          <p:cNvSpPr txBox="1"/>
          <p:nvPr/>
        </p:nvSpPr>
        <p:spPr>
          <a:xfrm>
            <a:off x="457200" y="340156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1  Time-lapse: H12 below peers for 38 months</a:t>
            </a:r>
          </a:p>
        </p:txBody>
      </p:sp>
      <p:pic>
        <p:nvPicPr>
          <p:cNvPr id="7" name="Picture 6" descr="05_ndvi_riverflow.png"/>
          <p:cNvPicPr>
            <a:picLocks noChangeAspect="1"/>
          </p:cNvPicPr>
          <p:nvPr/>
        </p:nvPicPr>
        <p:blipFill>
          <a:blip r:embed="rId4"/>
          <a:stretch>
            <a:fillRect/>
          </a:stretch>
        </p:blipFill>
        <p:spPr>
          <a:xfrm>
            <a:off x="4627345" y="1005840"/>
            <a:ext cx="4004109" cy="2377440"/>
          </a:xfrm>
          <a:prstGeom prst="rect">
            <a:avLst/>
          </a:prstGeom>
        </p:spPr>
      </p:pic>
      <p:sp>
        <p:nvSpPr>
          <p:cNvPr id="8" name="TextBox 7"/>
          <p:cNvSpPr txBox="1"/>
          <p:nvPr/>
        </p:nvSpPr>
        <p:spPr>
          <a:xfrm>
            <a:off x="4617720" y="340156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2  NDVI anomaly layer + river flow before vs now</a:t>
            </a:r>
          </a:p>
        </p:txBody>
      </p:sp>
      <p:pic>
        <p:nvPicPr>
          <p:cNvPr id="9" name="Picture 8" descr="01_draw_box_plan.png"/>
          <p:cNvPicPr>
            <a:picLocks noChangeAspect="1"/>
          </p:cNvPicPr>
          <p:nvPr/>
        </p:nvPicPr>
        <p:blipFill>
          <a:blip r:embed="rId5"/>
          <a:stretch>
            <a:fillRect/>
          </a:stretch>
        </p:blipFill>
        <p:spPr>
          <a:xfrm>
            <a:off x="466825" y="3703320"/>
            <a:ext cx="4004109" cy="2377440"/>
          </a:xfrm>
          <a:prstGeom prst="rect">
            <a:avLst/>
          </a:prstGeom>
        </p:spPr>
      </p:pic>
      <p:sp>
        <p:nvSpPr>
          <p:cNvPr id="10" name="TextBox 9"/>
          <p:cNvSpPr txBox="1"/>
          <p:nvPr/>
        </p:nvSpPr>
        <p:spPr>
          <a:xfrm>
            <a:off x="457200" y="609904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3  Draw a box anywhere: size and download plan</a:t>
            </a:r>
          </a:p>
        </p:txBody>
      </p:sp>
      <p:pic>
        <p:nvPicPr>
          <p:cNvPr id="11" name="Picture 10" descr="05_job_done_jobs_panel.png"/>
          <p:cNvPicPr>
            <a:picLocks noChangeAspect="1"/>
          </p:cNvPicPr>
          <p:nvPr/>
        </p:nvPicPr>
        <p:blipFill>
          <a:blip r:embed="rId6"/>
          <a:stretch>
            <a:fillRect/>
          </a:stretch>
        </p:blipFill>
        <p:spPr>
          <a:xfrm>
            <a:off x="4627345" y="3703320"/>
            <a:ext cx="4004109" cy="2377440"/>
          </a:xfrm>
          <a:prstGeom prst="rect">
            <a:avLst/>
          </a:prstGeom>
        </p:spPr>
      </p:pic>
      <p:sp>
        <p:nvSpPr>
          <p:cNvPr id="12" name="TextBox 11"/>
          <p:cNvSpPr txBox="1"/>
          <p:nvPr/>
        </p:nvSpPr>
        <p:spPr>
          <a:xfrm>
            <a:off x="4617720" y="6099048"/>
            <a:ext cx="4023360" cy="274320"/>
          </a:xfrm>
          <a:prstGeom prst="rect">
            <a:avLst/>
          </a:prstGeom>
          <a:noFill/>
        </p:spPr>
        <p:txBody>
          <a:bodyPr wrap="square" anchor="t" lIns="0" rIns="0" tIns="0" bIns="0">
            <a:spAutoFit/>
          </a:bodyPr>
          <a:lstStyle/>
          <a:p>
            <a:pPr algn="l">
              <a:spcAft>
                <a:spcPts val="0"/>
              </a:spcAft>
            </a:pPr>
            <a:r>
              <a:rPr sz="1100" b="0" i="0">
                <a:solidFill>
                  <a:srgbClr val="5E6A62"/>
                </a:solidFill>
                <a:latin typeface="Calibri"/>
              </a:rPr>
              <a:t>4  Job finished: new area opens with hotspots</a:t>
            </a:r>
          </a:p>
        </p:txBody>
      </p:sp>
      <p:sp>
        <p:nvSpPr>
          <p:cNvPr id="13" name="Rounded Rectangle 12"/>
          <p:cNvSpPr/>
          <p:nvPr/>
        </p:nvSpPr>
        <p:spPr>
          <a:xfrm>
            <a:off x="8915400" y="1005840"/>
            <a:ext cx="2788920" cy="534924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052560" y="112471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5" name="TextBox 14"/>
          <p:cNvSpPr txBox="1"/>
          <p:nvPr/>
        </p:nvSpPr>
        <p:spPr>
          <a:xfrm>
            <a:off x="9418320" y="1115568"/>
            <a:ext cx="2148839"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6" name="TextBox 15"/>
          <p:cNvSpPr txBox="1"/>
          <p:nvPr/>
        </p:nvSpPr>
        <p:spPr>
          <a:xfrm>
            <a:off x="9052560" y="1508760"/>
            <a:ext cx="2514600" cy="475487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Time-lapse — </a:t>
            </a:r>
            <a:r>
              <a:rPr sz="1200" b="0" i="0">
                <a:solidFill>
                  <a:srgbClr val="1E2420"/>
                </a:solidFill>
                <a:latin typeface="Calibri"/>
              </a:rPr>
              <a:t>monthly images played in order; cloudy months skipped</a:t>
            </a:r>
          </a:p>
          <a:p>
            <a:pPr algn="l">
              <a:spcAft>
                <a:spcPts val="500"/>
              </a:spcAft>
            </a:pPr>
            <a:r>
              <a:rPr sz="1200" b="1" i="0">
                <a:solidFill>
                  <a:srgbClr val="2E6B3F"/>
                </a:solidFill>
                <a:latin typeface="Calibri"/>
              </a:rPr>
              <a:t>Below peers — </a:t>
            </a:r>
            <a:r>
              <a:rPr sz="1200" b="0" i="0">
                <a:solidFill>
                  <a:srgbClr val="1E2420"/>
                </a:solidFill>
                <a:latin typeface="Calibri"/>
              </a:rPr>
              <a:t>residual R ≤ −1 versus same-cover neighbours</a:t>
            </a:r>
          </a:p>
          <a:p>
            <a:pPr algn="l">
              <a:spcAft>
                <a:spcPts val="500"/>
              </a:spcAft>
            </a:pPr>
            <a:r>
              <a:rPr sz="1200" b="1" i="0">
                <a:solidFill>
                  <a:srgbClr val="2E6B3F"/>
                </a:solidFill>
                <a:latin typeface="Calibri"/>
              </a:rPr>
              <a:t>Low flow (Q90) — </a:t>
            </a:r>
            <a:r>
              <a:rPr sz="1200" b="0" i="0">
                <a:solidFill>
                  <a:srgbClr val="1E2420"/>
                </a:solidFill>
                <a:latin typeface="Calibri"/>
              </a:rPr>
              <a:t>flow exceeded 90 % of the time: dry-season water</a:t>
            </a:r>
          </a:p>
          <a:p>
            <a:pPr algn="l">
              <a:spcAft>
                <a:spcPts val="500"/>
              </a:spcAft>
            </a:pPr>
            <a:r>
              <a:rPr sz="1200" b="1" i="0">
                <a:solidFill>
                  <a:srgbClr val="2E6B3F"/>
                </a:solidFill>
                <a:latin typeface="Calibri"/>
              </a:rPr>
              <a:t>On-demand job — </a:t>
            </a:r>
            <a:r>
              <a:rPr sz="1200" b="0" i="0">
                <a:solidFill>
                  <a:srgbClr val="1E2420"/>
                </a:solidFill>
                <a:latin typeface="Calibri"/>
              </a:rPr>
              <a:t>the full pipeline run for a user-drawn area</a:t>
            </a:r>
          </a:p>
          <a:p>
            <a:pPr algn="l">
              <a:spcAft>
                <a:spcPts val="500"/>
              </a:spcAft>
            </a:pPr>
            <a:r>
              <a:rPr sz="1200" b="1" i="0">
                <a:solidFill>
                  <a:srgbClr val="2E6B3F"/>
                </a:solidFill>
                <a:latin typeface="Calibri"/>
              </a:rPr>
              <a:t>Indicative — </a:t>
            </a:r>
            <a:r>
              <a:rPr sz="1200" b="0" i="0">
                <a:solidFill>
                  <a:srgbClr val="1E2420"/>
                </a:solidFill>
                <a:latin typeface="Calibri"/>
              </a:rPr>
              <a:t>outside training areas; treat with caution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A blind check against sub-metre imagery, and our limits</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18</a:t>
            </a:r>
          </a:p>
        </p:txBody>
      </p:sp>
      <p:graphicFrame>
        <p:nvGraphicFramePr>
          <p:cNvPr id="5" name="Chart 4"/>
          <p:cNvGraphicFramePr>
            <a:graphicFrameLocks noGrp="1"/>
          </p:cNvGraphicFramePr>
          <p:nvPr/>
        </p:nvGraphicFramePr>
        <p:xfrm>
          <a:off x="411480" y="1005840"/>
          <a:ext cx="3931920" cy="3566160"/>
        </p:xfrm>
        <a:graphic>
          <a:graphicData uri="http://schemas.openxmlformats.org/drawingml/2006/chart">
            <c:chart xmlns:c="http://schemas.openxmlformats.org/drawingml/2006/chart" r:id="rId3"/>
          </a:graphicData>
        </a:graphic>
      </p:graphicFrame>
      <p:sp>
        <p:nvSpPr>
          <p:cNvPr id="6" name="TextBox 5"/>
          <p:cNvSpPr txBox="1"/>
          <p:nvPr/>
        </p:nvSpPr>
        <p:spPr>
          <a:xfrm>
            <a:off x="4526280" y="1097280"/>
            <a:ext cx="3291840" cy="3474720"/>
          </a:xfrm>
          <a:prstGeom prst="rect">
            <a:avLst/>
          </a:prstGeom>
          <a:noFill/>
        </p:spPr>
        <p:txBody>
          <a:bodyPr wrap="square" anchor="t" lIns="0" rIns="0" tIns="0" bIns="0">
            <a:spAutoFit/>
          </a:bodyPr>
          <a:lstStyle/>
          <a:p>
            <a:pPr algn="l">
              <a:spcAft>
                <a:spcPts val="700"/>
              </a:spcAft>
            </a:pPr>
            <a:r>
              <a:rPr sz="1350" b="1" i="0">
                <a:solidFill>
                  <a:srgbClr val="B5562B"/>
                </a:solidFill>
                <a:latin typeface="Calibri"/>
              </a:rPr>
              <a:t>▪  </a:t>
            </a:r>
            <a:r>
              <a:rPr sz="1350" b="1" i="0">
                <a:solidFill>
                  <a:srgbClr val="1E2420"/>
                </a:solidFill>
                <a:latin typeface="Calibri"/>
              </a:rPr>
              <a:t>233 usable pairs </a:t>
            </a:r>
            <a:r>
              <a:rPr sz="1350" b="0" i="0">
                <a:solidFill>
                  <a:srgbClr val="1E2420"/>
                </a:solidFill>
                <a:latin typeface="Calibri"/>
              </a:rPr>
              <a:t>of 276 sampled (43 lacked imagery)</a:t>
            </a:r>
          </a:p>
          <a:p>
            <a:pPr algn="l">
              <a:spcAft>
                <a:spcPts val="700"/>
              </a:spcAft>
            </a:pPr>
            <a:r>
              <a:rPr sz="1350" b="1" i="0">
                <a:solidFill>
                  <a:srgbClr val="B5562B"/>
                </a:solidFill>
                <a:latin typeface="Calibri"/>
              </a:rPr>
              <a:t>▪  </a:t>
            </a:r>
            <a:r>
              <a:rPr sz="1350" b="1" i="0">
                <a:solidFill>
                  <a:srgbClr val="1E2420"/>
                </a:solidFill>
                <a:latin typeface="Calibri"/>
              </a:rPr>
              <a:t>Warned: </a:t>
            </a:r>
            <a:r>
              <a:rPr sz="1350" b="0" i="0">
                <a:solidFill>
                  <a:srgbClr val="1E2420"/>
                </a:solidFill>
                <a:latin typeface="Calibri"/>
              </a:rPr>
              <a:t>21 / 107 = 19.6 %</a:t>
            </a:r>
          </a:p>
          <a:p>
            <a:pPr algn="l">
              <a:spcAft>
                <a:spcPts val="700"/>
              </a:spcAft>
            </a:pPr>
            <a:r>
              <a:rPr sz="1350" b="1" i="0">
                <a:solidFill>
                  <a:srgbClr val="B5562B"/>
                </a:solidFill>
                <a:latin typeface="Calibri"/>
              </a:rPr>
              <a:t>▪  </a:t>
            </a:r>
            <a:r>
              <a:rPr sz="1350" b="1" i="0">
                <a:solidFill>
                  <a:srgbClr val="1E2420"/>
                </a:solidFill>
                <a:latin typeface="Calibri"/>
              </a:rPr>
              <a:t>Control: </a:t>
            </a:r>
            <a:r>
              <a:rPr sz="1350" b="0" i="0">
                <a:solidFill>
                  <a:srgbClr val="1E2420"/>
                </a:solidFill>
                <a:latin typeface="Calibri"/>
              </a:rPr>
              <a:t>26 / 106 = 24.5 %</a:t>
            </a:r>
          </a:p>
          <a:p>
            <a:pPr algn="l">
              <a:spcAft>
                <a:spcPts val="700"/>
              </a:spcAft>
            </a:pPr>
            <a:r>
              <a:rPr sz="1350" b="1" i="0">
                <a:solidFill>
                  <a:srgbClr val="B5562B"/>
                </a:solidFill>
                <a:latin typeface="Calibri"/>
              </a:rPr>
              <a:t>▪  </a:t>
            </a:r>
            <a:r>
              <a:rPr sz="1350" b="1" i="0">
                <a:solidFill>
                  <a:srgbClr val="1E2420"/>
                </a:solidFill>
                <a:latin typeface="Calibri"/>
              </a:rPr>
              <a:t>Difference </a:t>
            </a:r>
            <a:r>
              <a:rPr sz="1350" b="0" i="0">
                <a:solidFill>
                  <a:srgbClr val="1E2420"/>
                </a:solidFill>
                <a:latin typeface="Calibri"/>
              </a:rPr>
              <a:t>−4.9 pp (95 % CI −15.3 to +6.4)</a:t>
            </a:r>
          </a:p>
          <a:p>
            <a:pPr algn="l">
              <a:spcAft>
                <a:spcPts val="700"/>
              </a:spcAft>
            </a:pPr>
            <a:r>
              <a:rPr sz="1350" b="1" i="0">
                <a:solidFill>
                  <a:srgbClr val="B5562B"/>
                </a:solidFill>
                <a:latin typeface="Calibri"/>
              </a:rPr>
              <a:t>▪  </a:t>
            </a:r>
            <a:r>
              <a:rPr sz="1350" b="1" i="0">
                <a:solidFill>
                  <a:srgbClr val="1E2420"/>
                </a:solidFill>
                <a:latin typeface="Calibri"/>
              </a:rPr>
              <a:t>Fisher p </a:t>
            </a:r>
            <a:r>
              <a:rPr sz="1350" b="0" i="0">
                <a:solidFill>
                  <a:srgbClr val="1E2420"/>
                </a:solidFill>
                <a:latin typeface="Calibri"/>
              </a:rPr>
              <a:t>= 0.85</a:t>
            </a:r>
          </a:p>
          <a:p>
            <a:pPr algn="l">
              <a:spcAft>
                <a:spcPts val="700"/>
              </a:spcAft>
            </a:pPr>
            <a:r>
              <a:rPr sz="1350" b="1" i="0">
                <a:solidFill>
                  <a:srgbClr val="B5562B"/>
                </a:solidFill>
                <a:latin typeface="Calibri"/>
              </a:rPr>
              <a:t>▪  </a:t>
            </a:r>
            <a:r>
              <a:rPr sz="1350" b="1" i="0">
                <a:solidFill>
                  <a:srgbClr val="1E2420"/>
                </a:solidFill>
                <a:latin typeface="Calibri"/>
              </a:rPr>
              <a:t>Power </a:t>
            </a:r>
            <a:r>
              <a:rPr sz="1350" b="0" i="0">
                <a:solidFill>
                  <a:srgbClr val="1E2420"/>
                </a:solidFill>
                <a:latin typeface="Calibri"/>
              </a:rPr>
              <a:t>≈ 38 % to detect +10 pp</a:t>
            </a:r>
          </a:p>
        </p:txBody>
      </p:sp>
      <p:sp>
        <p:nvSpPr>
          <p:cNvPr id="7" name="Rounded Rectangle 6"/>
          <p:cNvSpPr/>
          <p:nvPr/>
        </p:nvSpPr>
        <p:spPr>
          <a:xfrm>
            <a:off x="8046720" y="1051560"/>
            <a:ext cx="3657600" cy="3520440"/>
          </a:xfrm>
          <a:prstGeom prst="roundRect">
            <a:avLst>
              <a:gd name="adj" fmla="val 6000"/>
            </a:avLst>
          </a:prstGeom>
          <a:solidFill>
            <a:srgbClr val="F4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143000"/>
            <a:ext cx="3383280" cy="365760"/>
          </a:xfrm>
          <a:prstGeom prst="rect">
            <a:avLst/>
          </a:prstGeom>
          <a:noFill/>
        </p:spPr>
        <p:txBody>
          <a:bodyPr wrap="square" anchor="t" lIns="0" rIns="0" tIns="0" bIns="0">
            <a:spAutoFit/>
          </a:bodyPr>
          <a:lstStyle/>
          <a:p>
            <a:pPr algn="l">
              <a:spcAft>
                <a:spcPts val="0"/>
              </a:spcAft>
            </a:pPr>
            <a:r>
              <a:rPr sz="1600" b="1" i="0">
                <a:solidFill>
                  <a:srgbClr val="15291C"/>
                </a:solidFill>
                <a:latin typeface="Calibri"/>
              </a:rPr>
              <a:t>Limitations</a:t>
            </a:r>
          </a:p>
        </p:txBody>
      </p:sp>
      <p:sp>
        <p:nvSpPr>
          <p:cNvPr id="9" name="TextBox 8"/>
          <p:cNvSpPr txBox="1"/>
          <p:nvPr/>
        </p:nvSpPr>
        <p:spPr>
          <a:xfrm>
            <a:off x="8229600" y="1554480"/>
            <a:ext cx="3383280" cy="2926080"/>
          </a:xfrm>
          <a:prstGeom prst="rect">
            <a:avLst/>
          </a:prstGeom>
          <a:noFill/>
        </p:spPr>
        <p:txBody>
          <a:bodyPr wrap="square" anchor="t" lIns="0" rIns="0" tIns="0" bIns="0">
            <a:spAutoFit/>
          </a:bodyPr>
          <a:lstStyle/>
          <a:p>
            <a:pPr algn="l">
              <a:spcAft>
                <a:spcPts val="500"/>
              </a:spcAft>
            </a:pPr>
            <a:r>
              <a:rPr sz="1250" b="1" i="0">
                <a:solidFill>
                  <a:srgbClr val="B5562B"/>
                </a:solidFill>
                <a:latin typeface="Calibri"/>
              </a:rPr>
              <a:t>▪  </a:t>
            </a:r>
            <a:r>
              <a:rPr sz="1250" b="0" i="0">
                <a:solidFill>
                  <a:srgbClr val="1E2420"/>
                </a:solidFill>
                <a:latin typeface="Calibri"/>
              </a:rPr>
              <a:t>Labels come from the same satellite data, not field visits</a:t>
            </a:r>
          </a:p>
          <a:p>
            <a:pPr algn="l">
              <a:spcAft>
                <a:spcPts val="500"/>
              </a:spcAft>
            </a:pPr>
            <a:r>
              <a:rPr sz="1250" b="1" i="0">
                <a:solidFill>
                  <a:srgbClr val="B5562B"/>
                </a:solidFill>
                <a:latin typeface="Calibri"/>
              </a:rPr>
              <a:t>▪  </a:t>
            </a:r>
            <a:r>
              <a:rPr sz="1250" b="0" i="0">
                <a:solidFill>
                  <a:srgbClr val="1E2420"/>
                </a:solidFill>
                <a:latin typeface="Calibri"/>
              </a:rPr>
              <a:t>Precision 0.22: most warnings are not followed by an onset</a:t>
            </a:r>
          </a:p>
          <a:p>
            <a:pPr algn="l">
              <a:spcAft>
                <a:spcPts val="500"/>
              </a:spcAft>
            </a:pPr>
            <a:r>
              <a:rPr sz="1250" b="1" i="0">
                <a:solidFill>
                  <a:srgbClr val="B5562B"/>
                </a:solidFill>
                <a:latin typeface="Calibri"/>
              </a:rPr>
              <a:t>▪  </a:t>
            </a:r>
            <a:r>
              <a:rPr sz="1250" b="0" i="0">
                <a:solidFill>
                  <a:srgbClr val="1E2420"/>
                </a:solidFill>
                <a:latin typeface="Calibri"/>
              </a:rPr>
              <a:t>Weakest on cropland (farming cycles)</a:t>
            </a:r>
          </a:p>
          <a:p>
            <a:pPr algn="l">
              <a:spcAft>
                <a:spcPts val="500"/>
              </a:spcAft>
            </a:pPr>
            <a:r>
              <a:rPr sz="1250" b="1" i="0">
                <a:solidFill>
                  <a:srgbClr val="B5562B"/>
                </a:solidFill>
                <a:latin typeface="Calibri"/>
              </a:rPr>
              <a:t>▪  </a:t>
            </a:r>
            <a:r>
              <a:rPr sz="1250" b="0" i="0">
                <a:solidFill>
                  <a:srgbClr val="1E2420"/>
                </a:solidFill>
                <a:latin typeface="Calibri"/>
              </a:rPr>
              <a:t>Optical only: clouds hide monsoon months</a:t>
            </a:r>
          </a:p>
          <a:p>
            <a:pPr algn="l">
              <a:spcAft>
                <a:spcPts val="500"/>
              </a:spcAft>
            </a:pPr>
            <a:r>
              <a:rPr sz="1250" b="1" i="0">
                <a:solidFill>
                  <a:srgbClr val="B5562B"/>
                </a:solidFill>
                <a:latin typeface="Calibri"/>
              </a:rPr>
              <a:t>▪  </a:t>
            </a:r>
            <a:r>
              <a:rPr sz="1250" b="0" i="0">
                <a:solidFill>
                  <a:srgbClr val="1E2420"/>
                </a:solidFill>
                <a:latin typeface="Calibri"/>
              </a:rPr>
              <a:t>Wayback dates are approximate</a:t>
            </a:r>
          </a:p>
        </p:txBody>
      </p:sp>
      <p:sp>
        <p:nvSpPr>
          <p:cNvPr id="10" name="Rounded Rectangle 9"/>
          <p:cNvSpPr/>
          <p:nvPr/>
        </p:nvSpPr>
        <p:spPr>
          <a:xfrm>
            <a:off x="502920" y="4846320"/>
            <a:ext cx="11201400" cy="150876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496519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12" name="TextBox 11"/>
          <p:cNvSpPr txBox="1"/>
          <p:nvPr/>
        </p:nvSpPr>
        <p:spPr>
          <a:xfrm>
            <a:off x="1005840" y="4956048"/>
            <a:ext cx="1056132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13" name="TextBox 12"/>
          <p:cNvSpPr txBox="1"/>
          <p:nvPr/>
        </p:nvSpPr>
        <p:spPr>
          <a:xfrm>
            <a:off x="640080" y="5349240"/>
            <a:ext cx="10927080" cy="914399"/>
          </a:xfrm>
          <a:prstGeom prst="rect">
            <a:avLst/>
          </a:prstGeom>
          <a:noFill/>
        </p:spPr>
        <p:txBody>
          <a:bodyPr wrap="square" anchor="t" lIns="0" rIns="0" tIns="0" bIns="0">
            <a:spAutoFit/>
          </a:bodyPr>
          <a:lstStyle/>
          <a:p>
            <a:pPr algn="l">
              <a:spcAft>
                <a:spcPts val="500"/>
              </a:spcAft>
            </a:pPr>
            <a:r>
              <a:rPr sz="1200" b="1" i="0">
                <a:solidFill>
                  <a:srgbClr val="2E6B3F"/>
                </a:solidFill>
                <a:latin typeface="Calibri"/>
              </a:rPr>
              <a:t>Blind test — </a:t>
            </a:r>
            <a:r>
              <a:rPr sz="1200" b="0" i="0">
                <a:solidFill>
                  <a:srgbClr val="1E2420"/>
                </a:solidFill>
                <a:latin typeface="Calibri"/>
              </a:rPr>
              <a:t>the reviewer does not know which points were warnings, so cannot be biased</a:t>
            </a:r>
          </a:p>
          <a:p>
            <a:pPr algn="l">
              <a:spcAft>
                <a:spcPts val="500"/>
              </a:spcAft>
            </a:pPr>
            <a:r>
              <a:rPr sz="1200" b="1" i="0">
                <a:solidFill>
                  <a:srgbClr val="2E6B3F"/>
                </a:solidFill>
                <a:latin typeface="Calibri"/>
              </a:rPr>
              <a:t>Fisher p = 0.85 — </a:t>
            </a:r>
            <a:r>
              <a:rPr sz="1200" b="0" i="0">
                <a:solidFill>
                  <a:srgbClr val="1E2420"/>
                </a:solidFill>
                <a:latin typeface="Calibri"/>
              </a:rPr>
              <a:t>how often pure chance would give a gap at least this favourable to the model; 0.85 = no evidence of a difference</a:t>
            </a:r>
          </a:p>
          <a:p>
            <a:pPr algn="l">
              <a:spcAft>
                <a:spcPts val="500"/>
              </a:spcAft>
            </a:pPr>
            <a:r>
              <a:rPr sz="1200" b="1" i="0">
                <a:solidFill>
                  <a:srgbClr val="2E6B3F"/>
                </a:solidFill>
                <a:latin typeface="Calibri"/>
              </a:rPr>
              <a:t>Statistical power — </a:t>
            </a:r>
            <a:r>
              <a:rPr sz="1200" b="0" i="0">
                <a:solidFill>
                  <a:srgbClr val="1E2420"/>
                </a:solidFill>
                <a:latin typeface="Calibri"/>
              </a:rPr>
              <a:t>chance a study detects an effect that is really there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5291C"/>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FFFFFF"/>
                </a:solidFill>
                <a:latin typeface="Cambria"/>
              </a:rPr>
              <a:t>Conclusion and next steps</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9DB3A5"/>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9DB3A5"/>
                </a:solidFill>
                <a:latin typeface="Calibri"/>
              </a:rPr>
              <a:t>19</a:t>
            </a:r>
          </a:p>
        </p:txBody>
      </p:sp>
      <p:sp>
        <p:nvSpPr>
          <p:cNvPr id="5" name="Rounded Rectangle 4"/>
          <p:cNvSpPr/>
          <p:nvPr/>
        </p:nvSpPr>
        <p:spPr>
          <a:xfrm>
            <a:off x="502920" y="1143000"/>
            <a:ext cx="2651760" cy="1828800"/>
          </a:xfrm>
          <a:prstGeom prst="roundRect">
            <a:avLst>
              <a:gd name="adj" fmla="val 6000"/>
            </a:avLst>
          </a:prstGeom>
          <a:solidFill>
            <a:srgbClr val="22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2286000" cy="822960"/>
          </a:xfrm>
          <a:prstGeom prst="rect">
            <a:avLst/>
          </a:prstGeom>
          <a:noFill/>
        </p:spPr>
        <p:txBody>
          <a:bodyPr wrap="square" anchor="t" lIns="0" rIns="0" tIns="0" bIns="0">
            <a:spAutoFit/>
          </a:bodyPr>
          <a:lstStyle/>
          <a:p>
            <a:pPr algn="l">
              <a:spcAft>
                <a:spcPts val="0"/>
              </a:spcAft>
            </a:pPr>
            <a:r>
              <a:rPr sz="3600" b="1" i="0">
                <a:solidFill>
                  <a:srgbClr val="E3A27E"/>
                </a:solidFill>
                <a:latin typeface="Cambria"/>
              </a:rPr>
              <a:t>5.7×</a:t>
            </a:r>
          </a:p>
        </p:txBody>
      </p:sp>
      <p:sp>
        <p:nvSpPr>
          <p:cNvPr id="7" name="TextBox 6"/>
          <p:cNvSpPr txBox="1"/>
          <p:nvPr/>
        </p:nvSpPr>
        <p:spPr>
          <a:xfrm>
            <a:off x="685800" y="2057400"/>
            <a:ext cx="2286000" cy="868680"/>
          </a:xfrm>
          <a:prstGeom prst="rect">
            <a:avLst/>
          </a:prstGeom>
          <a:noFill/>
        </p:spPr>
        <p:txBody>
          <a:bodyPr wrap="square" anchor="t" lIns="0" rIns="0" tIns="0" bIns="0">
            <a:spAutoFit/>
          </a:bodyPr>
          <a:lstStyle/>
          <a:p>
            <a:pPr algn="l">
              <a:spcAft>
                <a:spcPts val="0"/>
              </a:spcAft>
            </a:pPr>
            <a:r>
              <a:rPr sz="1350" b="0" i="0">
                <a:solidFill>
                  <a:srgbClr val="FFFFFF"/>
                </a:solidFill>
                <a:latin typeface="Calibri"/>
              </a:rPr>
              <a:t>better than chance at finding future onsets on unseen land</a:t>
            </a:r>
          </a:p>
        </p:txBody>
      </p:sp>
      <p:sp>
        <p:nvSpPr>
          <p:cNvPr id="8" name="Rounded Rectangle 7"/>
          <p:cNvSpPr/>
          <p:nvPr/>
        </p:nvSpPr>
        <p:spPr>
          <a:xfrm>
            <a:off x="3337560" y="1143000"/>
            <a:ext cx="2651760" cy="1828800"/>
          </a:xfrm>
          <a:prstGeom prst="roundRect">
            <a:avLst>
              <a:gd name="adj" fmla="val 6000"/>
            </a:avLst>
          </a:prstGeom>
          <a:solidFill>
            <a:srgbClr val="22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234440"/>
            <a:ext cx="2286000" cy="822960"/>
          </a:xfrm>
          <a:prstGeom prst="rect">
            <a:avLst/>
          </a:prstGeom>
          <a:noFill/>
        </p:spPr>
        <p:txBody>
          <a:bodyPr wrap="square" anchor="t" lIns="0" rIns="0" tIns="0" bIns="0">
            <a:spAutoFit/>
          </a:bodyPr>
          <a:lstStyle/>
          <a:p>
            <a:pPr algn="l">
              <a:spcAft>
                <a:spcPts val="0"/>
              </a:spcAft>
            </a:pPr>
            <a:r>
              <a:rPr sz="3600" b="1" i="0">
                <a:solidFill>
                  <a:srgbClr val="E3A27E"/>
                </a:solidFill>
                <a:latin typeface="Cambria"/>
              </a:rPr>
              <a:t>0.805</a:t>
            </a:r>
          </a:p>
        </p:txBody>
      </p:sp>
      <p:sp>
        <p:nvSpPr>
          <p:cNvPr id="10" name="TextBox 9"/>
          <p:cNvSpPr txBox="1"/>
          <p:nvPr/>
        </p:nvSpPr>
        <p:spPr>
          <a:xfrm>
            <a:off x="3520440" y="2057400"/>
            <a:ext cx="2286000" cy="868680"/>
          </a:xfrm>
          <a:prstGeom prst="rect">
            <a:avLst/>
          </a:prstGeom>
          <a:noFill/>
        </p:spPr>
        <p:txBody>
          <a:bodyPr wrap="square" anchor="t" lIns="0" rIns="0" tIns="0" bIns="0">
            <a:spAutoFit/>
          </a:bodyPr>
          <a:lstStyle/>
          <a:p>
            <a:pPr algn="l">
              <a:spcAft>
                <a:spcPts val="0"/>
              </a:spcAft>
            </a:pPr>
            <a:r>
              <a:rPr sz="1350" b="0" i="0">
                <a:solidFill>
                  <a:srgbClr val="FFFFFF"/>
                </a:solidFill>
                <a:latin typeface="Calibri"/>
              </a:rPr>
              <a:t>ROC-AUC; 0.839 on six brand-new sites</a:t>
            </a:r>
          </a:p>
        </p:txBody>
      </p:sp>
      <p:sp>
        <p:nvSpPr>
          <p:cNvPr id="11" name="Rounded Rectangle 10"/>
          <p:cNvSpPr/>
          <p:nvPr/>
        </p:nvSpPr>
        <p:spPr>
          <a:xfrm>
            <a:off x="6172200" y="1143000"/>
            <a:ext cx="2651760" cy="1828800"/>
          </a:xfrm>
          <a:prstGeom prst="roundRect">
            <a:avLst>
              <a:gd name="adj" fmla="val 6000"/>
            </a:avLst>
          </a:prstGeom>
          <a:solidFill>
            <a:srgbClr val="22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234440"/>
            <a:ext cx="2286000" cy="822960"/>
          </a:xfrm>
          <a:prstGeom prst="rect">
            <a:avLst/>
          </a:prstGeom>
          <a:noFill/>
        </p:spPr>
        <p:txBody>
          <a:bodyPr wrap="square" anchor="t" lIns="0" rIns="0" tIns="0" bIns="0">
            <a:spAutoFit/>
          </a:bodyPr>
          <a:lstStyle/>
          <a:p>
            <a:pPr algn="l">
              <a:spcAft>
                <a:spcPts val="0"/>
              </a:spcAft>
            </a:pPr>
            <a:r>
              <a:rPr sz="3600" b="1" i="0">
                <a:solidFill>
                  <a:srgbClr val="E3A27E"/>
                </a:solidFill>
                <a:latin typeface="Cambria"/>
              </a:rPr>
              <a:t>3 mo</a:t>
            </a:r>
          </a:p>
        </p:txBody>
      </p:sp>
      <p:sp>
        <p:nvSpPr>
          <p:cNvPr id="13" name="TextBox 12"/>
          <p:cNvSpPr txBox="1"/>
          <p:nvPr/>
        </p:nvSpPr>
        <p:spPr>
          <a:xfrm>
            <a:off x="6355080" y="2057400"/>
            <a:ext cx="2286000" cy="868680"/>
          </a:xfrm>
          <a:prstGeom prst="rect">
            <a:avLst/>
          </a:prstGeom>
          <a:noFill/>
        </p:spPr>
        <p:txBody>
          <a:bodyPr wrap="square" anchor="t" lIns="0" rIns="0" tIns="0" bIns="0">
            <a:spAutoFit/>
          </a:bodyPr>
          <a:lstStyle/>
          <a:p>
            <a:pPr algn="l">
              <a:spcAft>
                <a:spcPts val="0"/>
              </a:spcAft>
            </a:pPr>
            <a:r>
              <a:rPr sz="1350" b="0" i="0">
                <a:solidFill>
                  <a:srgbClr val="FFFFFF"/>
                </a:solidFill>
                <a:latin typeface="Calibri"/>
              </a:rPr>
              <a:t>median warning lead; 41 % of onsets warned</a:t>
            </a:r>
          </a:p>
        </p:txBody>
      </p:sp>
      <p:sp>
        <p:nvSpPr>
          <p:cNvPr id="14" name="Rounded Rectangle 13"/>
          <p:cNvSpPr/>
          <p:nvPr/>
        </p:nvSpPr>
        <p:spPr>
          <a:xfrm>
            <a:off x="9006840" y="1143000"/>
            <a:ext cx="2651760" cy="1828800"/>
          </a:xfrm>
          <a:prstGeom prst="roundRect">
            <a:avLst>
              <a:gd name="adj" fmla="val 6000"/>
            </a:avLst>
          </a:prstGeom>
          <a:solidFill>
            <a:srgbClr val="22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1234440"/>
            <a:ext cx="2286000" cy="822960"/>
          </a:xfrm>
          <a:prstGeom prst="rect">
            <a:avLst/>
          </a:prstGeom>
          <a:noFill/>
        </p:spPr>
        <p:txBody>
          <a:bodyPr wrap="square" anchor="t" lIns="0" rIns="0" tIns="0" bIns="0">
            <a:spAutoFit/>
          </a:bodyPr>
          <a:lstStyle/>
          <a:p>
            <a:pPr algn="l">
              <a:spcAft>
                <a:spcPts val="0"/>
              </a:spcAft>
            </a:pPr>
            <a:r>
              <a:rPr sz="3600" b="1" i="0">
                <a:solidFill>
                  <a:srgbClr val="E3A27E"/>
                </a:solidFill>
                <a:latin typeface="Cambria"/>
              </a:rPr>
              <a:t>52 %</a:t>
            </a:r>
          </a:p>
        </p:txBody>
      </p:sp>
      <p:sp>
        <p:nvSpPr>
          <p:cNvPr id="16" name="TextBox 15"/>
          <p:cNvSpPr txBox="1"/>
          <p:nvPr/>
        </p:nvSpPr>
        <p:spPr>
          <a:xfrm>
            <a:off x="9189720" y="2057400"/>
            <a:ext cx="2286000" cy="868680"/>
          </a:xfrm>
          <a:prstGeom prst="rect">
            <a:avLst/>
          </a:prstGeom>
          <a:noFill/>
        </p:spPr>
        <p:txBody>
          <a:bodyPr wrap="square" anchor="t" lIns="0" rIns="0" tIns="0" bIns="0">
            <a:spAutoFit/>
          </a:bodyPr>
          <a:lstStyle/>
          <a:p>
            <a:pPr algn="l">
              <a:spcAft>
                <a:spcPts val="0"/>
              </a:spcAft>
            </a:pPr>
            <a:r>
              <a:rPr sz="1350" b="0" i="0">
                <a:solidFill>
                  <a:srgbClr val="FFFFFF"/>
                </a:solidFill>
                <a:latin typeface="Calibri"/>
              </a:rPr>
              <a:t>abstains instead of guessing; NPV 99.6 %</a:t>
            </a:r>
          </a:p>
        </p:txBody>
      </p:sp>
      <p:sp>
        <p:nvSpPr>
          <p:cNvPr id="17" name="TextBox 16"/>
          <p:cNvSpPr txBox="1"/>
          <p:nvPr/>
        </p:nvSpPr>
        <p:spPr>
          <a:xfrm>
            <a:off x="502920" y="3246120"/>
            <a:ext cx="5486400" cy="411480"/>
          </a:xfrm>
          <a:prstGeom prst="rect">
            <a:avLst/>
          </a:prstGeom>
          <a:noFill/>
        </p:spPr>
        <p:txBody>
          <a:bodyPr wrap="square" anchor="t" lIns="0" rIns="0" tIns="0" bIns="0">
            <a:spAutoFit/>
          </a:bodyPr>
          <a:lstStyle/>
          <a:p>
            <a:pPr algn="l">
              <a:spcAft>
                <a:spcPts val="0"/>
              </a:spcAft>
            </a:pPr>
            <a:r>
              <a:rPr sz="1800" b="1" i="0">
                <a:solidFill>
                  <a:srgbClr val="FFFFFF"/>
                </a:solidFill>
                <a:latin typeface="Calibri"/>
              </a:rPr>
              <a:t>Next steps</a:t>
            </a:r>
          </a:p>
        </p:txBody>
      </p:sp>
      <p:sp>
        <p:nvSpPr>
          <p:cNvPr id="18" name="TextBox 17"/>
          <p:cNvSpPr txBox="1"/>
          <p:nvPr/>
        </p:nvSpPr>
        <p:spPr>
          <a:xfrm>
            <a:off x="502920" y="3703320"/>
            <a:ext cx="5486400" cy="2560320"/>
          </a:xfrm>
          <a:prstGeom prst="rect">
            <a:avLst/>
          </a:prstGeom>
          <a:noFill/>
        </p:spPr>
        <p:txBody>
          <a:bodyPr wrap="square" anchor="t" lIns="0" rIns="0" tIns="0" bIns="0">
            <a:spAutoFit/>
          </a:bodyPr>
          <a:lstStyle/>
          <a:p>
            <a:pPr algn="l">
              <a:spcAft>
                <a:spcPts val="800"/>
              </a:spcAft>
            </a:pPr>
            <a:r>
              <a:rPr sz="1400" b="1" i="0">
                <a:solidFill>
                  <a:srgbClr val="B5562B"/>
                </a:solidFill>
                <a:latin typeface="Calibri"/>
              </a:rPr>
              <a:t>▪  </a:t>
            </a:r>
            <a:r>
              <a:rPr sz="1400" b="0" i="0">
                <a:solidFill>
                  <a:srgbClr val="FFFFFF"/>
                </a:solidFill>
                <a:latin typeface="Calibri"/>
              </a:rPr>
              <a:t>Independent human review of the VHR sample, larger and better powered</a:t>
            </a:r>
          </a:p>
          <a:p>
            <a:pPr algn="l">
              <a:spcAft>
                <a:spcPts val="800"/>
              </a:spcAft>
            </a:pPr>
            <a:r>
              <a:rPr sz="1400" b="1" i="0">
                <a:solidFill>
                  <a:srgbClr val="B5562B"/>
                </a:solidFill>
                <a:latin typeface="Calibri"/>
              </a:rPr>
              <a:t>▪  </a:t>
            </a:r>
            <a:r>
              <a:rPr sz="1400" b="0" i="0">
                <a:solidFill>
                  <a:srgbClr val="FFFFFF"/>
                </a:solidFill>
                <a:latin typeface="Calibri"/>
              </a:rPr>
              <a:t>Prospective test: freeze the model, score warnings issued from 2027</a:t>
            </a:r>
          </a:p>
          <a:p>
            <a:pPr algn="l">
              <a:spcAft>
                <a:spcPts val="800"/>
              </a:spcAft>
            </a:pPr>
            <a:r>
              <a:rPr sz="1400" b="1" i="0">
                <a:solidFill>
                  <a:srgbClr val="B5562B"/>
                </a:solidFill>
                <a:latin typeface="Calibri"/>
              </a:rPr>
              <a:t>▪  </a:t>
            </a:r>
            <a:r>
              <a:rPr sz="1400" b="0" i="0">
                <a:solidFill>
                  <a:srgbClr val="FFFFFF"/>
                </a:solidFill>
                <a:latin typeface="Calibri"/>
              </a:rPr>
              <a:t>Crop-aware labels to stop farming cycles reading as decline</a:t>
            </a:r>
          </a:p>
          <a:p>
            <a:pPr algn="l">
              <a:spcAft>
                <a:spcPts val="800"/>
              </a:spcAft>
            </a:pPr>
            <a:r>
              <a:rPr sz="1400" b="1" i="0">
                <a:solidFill>
                  <a:srgbClr val="B5562B"/>
                </a:solidFill>
                <a:latin typeface="Calibri"/>
              </a:rPr>
              <a:t>▪  </a:t>
            </a:r>
            <a:r>
              <a:rPr sz="1400" b="0" i="0">
                <a:solidFill>
                  <a:srgbClr val="FFFFFF"/>
                </a:solidFill>
                <a:latin typeface="Calibri"/>
              </a:rPr>
              <a:t>Add Sentinel-1 radar, which sees through cloud</a:t>
            </a:r>
          </a:p>
        </p:txBody>
      </p:sp>
      <p:sp>
        <p:nvSpPr>
          <p:cNvPr id="19" name="Rounded Rectangle 18"/>
          <p:cNvSpPr/>
          <p:nvPr/>
        </p:nvSpPr>
        <p:spPr>
          <a:xfrm>
            <a:off x="6309360" y="3246120"/>
            <a:ext cx="5394960" cy="2240280"/>
          </a:xfrm>
          <a:prstGeom prst="roundRect">
            <a:avLst>
              <a:gd name="adj" fmla="val 6000"/>
            </a:avLst>
          </a:prstGeom>
          <a:solidFill>
            <a:srgbClr val="EAF2EC"/>
          </a:solidFill>
          <a:ln w="9525">
            <a:solidFill>
              <a:srgbClr val="A9C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3364992"/>
            <a:ext cx="292608" cy="292608"/>
          </a:xfrm>
          <a:prstGeom prst="ellipse">
            <a:avLst/>
          </a:prstGeom>
          <a:solidFill>
            <a:srgbClr val="B556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a:rPr>
              <a:t>i</a:t>
            </a:r>
          </a:p>
        </p:txBody>
      </p:sp>
      <p:sp>
        <p:nvSpPr>
          <p:cNvPr id="21" name="TextBox 20"/>
          <p:cNvSpPr txBox="1"/>
          <p:nvPr/>
        </p:nvSpPr>
        <p:spPr>
          <a:xfrm>
            <a:off x="6812280" y="3355848"/>
            <a:ext cx="4754880" cy="310896"/>
          </a:xfrm>
          <a:prstGeom prst="rect">
            <a:avLst/>
          </a:prstGeom>
          <a:noFill/>
        </p:spPr>
        <p:txBody>
          <a:bodyPr wrap="square" anchor="ctr" lIns="0" rIns="0" tIns="0" bIns="0">
            <a:spAutoFit/>
          </a:bodyPr>
          <a:lstStyle/>
          <a:p>
            <a:pPr algn="l">
              <a:spcAft>
                <a:spcPts val="0"/>
              </a:spcAft>
            </a:pPr>
            <a:r>
              <a:rPr sz="1100" b="1" i="0">
                <a:solidFill>
                  <a:srgbClr val="B5562B"/>
                </a:solidFill>
                <a:latin typeface="Calibri"/>
              </a:rPr>
              <a:t>EXPLAINER</a:t>
            </a:r>
          </a:p>
        </p:txBody>
      </p:sp>
      <p:sp>
        <p:nvSpPr>
          <p:cNvPr id="22" name="TextBox 21"/>
          <p:cNvSpPr txBox="1"/>
          <p:nvPr/>
        </p:nvSpPr>
        <p:spPr>
          <a:xfrm>
            <a:off x="6446520" y="3749039"/>
            <a:ext cx="5120640" cy="2560320"/>
          </a:xfrm>
          <a:prstGeom prst="rect">
            <a:avLst/>
          </a:prstGeom>
          <a:noFill/>
        </p:spPr>
        <p:txBody>
          <a:bodyPr wrap="square" anchor="t" lIns="0" rIns="0" tIns="0" bIns="0">
            <a:spAutoFit/>
          </a:bodyPr>
          <a:lstStyle/>
          <a:p>
            <a:pPr algn="l">
              <a:spcAft>
                <a:spcPts val="600"/>
              </a:spcAft>
            </a:pPr>
            <a:r>
              <a:rPr sz="1250" b="1" i="0">
                <a:solidFill>
                  <a:srgbClr val="2E6B3F"/>
                </a:solidFill>
                <a:latin typeface="Calibri"/>
              </a:rPr>
              <a:t>Prospective test — </a:t>
            </a:r>
            <a:r>
              <a:rPr sz="1250" b="0" i="0">
                <a:solidFill>
                  <a:srgbClr val="1E2420"/>
                </a:solidFill>
                <a:latin typeface="Calibri"/>
              </a:rPr>
              <a:t>predictions made before the outcome exists, the strongest proof</a:t>
            </a:r>
          </a:p>
          <a:p>
            <a:pPr algn="l">
              <a:spcAft>
                <a:spcPts val="600"/>
              </a:spcAft>
            </a:pPr>
            <a:r>
              <a:rPr sz="1250" b="1" i="0">
                <a:solidFill>
                  <a:srgbClr val="2E6B3F"/>
                </a:solidFill>
                <a:latin typeface="Calibri"/>
              </a:rPr>
              <a:t>Sentinel-1 — </a:t>
            </a:r>
            <a:r>
              <a:rPr sz="1250" b="0" i="0">
                <a:solidFill>
                  <a:srgbClr val="1E2420"/>
                </a:solidFill>
                <a:latin typeface="Calibri"/>
              </a:rPr>
              <a:t>radar satellite; measures surface structure day or night through cloud</a:t>
            </a:r>
          </a:p>
          <a:p>
            <a:pPr algn="l">
              <a:spcAft>
                <a:spcPts val="600"/>
              </a:spcAft>
            </a:pPr>
            <a:r>
              <a:rPr sz="1250" b="1" i="0">
                <a:solidFill>
                  <a:srgbClr val="2E6B3F"/>
                </a:solidFill>
                <a:latin typeface="Calibri"/>
              </a:rPr>
              <a:t>Crop-aware labels — </a:t>
            </a:r>
            <a:r>
              <a:rPr sz="1250" b="0" i="0">
                <a:solidFill>
                  <a:srgbClr val="1E2420"/>
                </a:solidFill>
                <a:latin typeface="Calibri"/>
              </a:rPr>
              <a:t>labels that know the planting calendar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85800"/>
          </a:xfrm>
          <a:prstGeom prst="rect">
            <a:avLst/>
          </a:prstGeom>
          <a:noFill/>
        </p:spPr>
        <p:txBody>
          <a:bodyPr wrap="square" anchor="ctr" lIns="0" rIns="0" tIns="0" bIns="0">
            <a:spAutoFit/>
          </a:bodyPr>
          <a:lstStyle/>
          <a:p>
            <a:pPr algn="l">
              <a:spcAft>
                <a:spcPts val="0"/>
              </a:spcAft>
            </a:pPr>
            <a:r>
              <a:rPr sz="3000" b="1" i="0">
                <a:solidFill>
                  <a:srgbClr val="15291C"/>
                </a:solidFill>
                <a:latin typeface="Cambria"/>
              </a:rPr>
              <a:t>References</a:t>
            </a:r>
          </a:p>
        </p:txBody>
      </p:sp>
      <p:sp>
        <p:nvSpPr>
          <p:cNvPr id="3" name="TextBox 2"/>
          <p:cNvSpPr txBox="1"/>
          <p:nvPr/>
        </p:nvSpPr>
        <p:spPr>
          <a:xfrm>
            <a:off x="502920" y="6473952"/>
            <a:ext cx="6400800" cy="274320"/>
          </a:xfrm>
          <a:prstGeom prst="rect">
            <a:avLst/>
          </a:prstGeom>
          <a:noFill/>
        </p:spPr>
        <p:txBody>
          <a:bodyPr wrap="square" anchor="t" lIns="0" rIns="0" tIns="0" bIns="0">
            <a:spAutoFit/>
          </a:bodyPr>
          <a:lstStyle/>
          <a:p>
            <a:pPr algn="l">
              <a:spcAft>
                <a:spcPts val="0"/>
              </a:spcAft>
            </a:pPr>
            <a:r>
              <a:rPr sz="1000" b="0" i="0">
                <a:solidFill>
                  <a:srgbClr val="5E6A62"/>
                </a:solidFill>
                <a:latin typeface="Calibri"/>
              </a:rPr>
              <a:t>CARE-EW · satellite early warning of persistent land degradation</a:t>
            </a:r>
          </a:p>
        </p:txBody>
      </p:sp>
      <p:sp>
        <p:nvSpPr>
          <p:cNvPr id="4" name="TextBox 3"/>
          <p:cNvSpPr txBox="1"/>
          <p:nvPr/>
        </p:nvSpPr>
        <p:spPr>
          <a:xfrm>
            <a:off x="10774375" y="6473952"/>
            <a:ext cx="914400" cy="274320"/>
          </a:xfrm>
          <a:prstGeom prst="rect">
            <a:avLst/>
          </a:prstGeom>
          <a:noFill/>
        </p:spPr>
        <p:txBody>
          <a:bodyPr wrap="square" anchor="t" lIns="0" rIns="0" tIns="0" bIns="0">
            <a:spAutoFit/>
          </a:bodyPr>
          <a:lstStyle/>
          <a:p>
            <a:pPr algn="r">
              <a:spcAft>
                <a:spcPts val="0"/>
              </a:spcAft>
            </a:pPr>
            <a:r>
              <a:rPr sz="1000" b="0" i="0">
                <a:solidFill>
                  <a:srgbClr val="5E6A62"/>
                </a:solidFill>
                <a:latin typeface="Calibri"/>
              </a:rPr>
              <a:t>20</a:t>
            </a:r>
          </a:p>
        </p:txBody>
      </p:sp>
      <p:sp>
        <p:nvSpPr>
          <p:cNvPr id="5" name="TextBox 4"/>
          <p:cNvSpPr txBox="1"/>
          <p:nvPr/>
        </p:nvSpPr>
        <p:spPr>
          <a:xfrm>
            <a:off x="502920" y="1005840"/>
            <a:ext cx="5486400" cy="5349240"/>
          </a:xfrm>
          <a:prstGeom prst="rect">
            <a:avLst/>
          </a:prstGeom>
          <a:noFill/>
        </p:spPr>
        <p:txBody>
          <a:bodyPr wrap="square" anchor="t" lIns="0" rIns="0" tIns="0" bIns="0">
            <a:spAutoFit/>
          </a:bodyPr>
          <a:lstStyle/>
          <a:p>
            <a:pPr algn="l">
              <a:spcAft>
                <a:spcPts val="250"/>
              </a:spcAft>
            </a:pPr>
            <a:r>
              <a:rPr sz="850" b="1" i="0">
                <a:solidFill>
                  <a:srgbClr val="2E6B3F"/>
                </a:solidFill>
                <a:latin typeface="Calibri"/>
              </a:rPr>
              <a:t>[1] </a:t>
            </a:r>
            <a:r>
              <a:rPr sz="850" b="0" i="0">
                <a:solidFill>
                  <a:srgbClr val="1E2420"/>
                </a:solidFill>
                <a:latin typeface="Calibri"/>
              </a:rPr>
              <a:t>UNCCD, Global Land Outlook, 2nd ed., “Land Restoration for Recovery and Resilience.” Bonn, Germany: United Nations Convention to Combat Desertification, 2022.</a:t>
            </a:r>
          </a:p>
          <a:p>
            <a:pPr algn="l">
              <a:spcAft>
                <a:spcPts val="250"/>
              </a:spcAft>
            </a:pPr>
            <a:r>
              <a:rPr sz="850" b="1" i="0">
                <a:solidFill>
                  <a:srgbClr val="2E6B3F"/>
                </a:solidFill>
                <a:latin typeface="Calibri"/>
              </a:rPr>
              <a:t>[2] </a:t>
            </a:r>
            <a:r>
              <a:rPr sz="850" b="0" i="0">
                <a:solidFill>
                  <a:srgbClr val="1E2420"/>
                </a:solidFill>
                <a:latin typeface="Calibri"/>
              </a:rPr>
              <a:t>N. C. Sims et al., “Good practice guidance: SDG indicator 15.3.1,” UNCCD, Bonn, Germany, 2021.</a:t>
            </a:r>
          </a:p>
          <a:p>
            <a:pPr algn="l">
              <a:spcAft>
                <a:spcPts val="250"/>
              </a:spcAft>
            </a:pPr>
            <a:r>
              <a:rPr sz="850" b="1" i="0">
                <a:solidFill>
                  <a:srgbClr val="2E6B3F"/>
                </a:solidFill>
                <a:latin typeface="Calibri"/>
              </a:rPr>
              <a:t>[3] </a:t>
            </a:r>
            <a:r>
              <a:rPr sz="850" b="0" i="0">
                <a:solidFill>
                  <a:srgbClr val="1E2420"/>
                </a:solidFill>
                <a:latin typeface="Calibri"/>
              </a:rPr>
              <a:t>R. Prăvălie, “Exploring the multiple land degradation pathways across the planet,” Earth-Sci. Rev., 2021.</a:t>
            </a:r>
          </a:p>
          <a:p>
            <a:pPr algn="l">
              <a:spcAft>
                <a:spcPts val="250"/>
              </a:spcAft>
            </a:pPr>
            <a:r>
              <a:rPr sz="850" b="1" i="0">
                <a:solidFill>
                  <a:srgbClr val="2E6B3F"/>
                </a:solidFill>
                <a:latin typeface="Calibri"/>
              </a:rPr>
              <a:t>[4] </a:t>
            </a:r>
            <a:r>
              <a:rPr sz="850" b="0" i="0">
                <a:solidFill>
                  <a:srgbClr val="1E2420"/>
                </a:solidFill>
                <a:latin typeface="Calibri"/>
              </a:rPr>
              <a:t>A. L. Burrell, J. P. Evans, and M. G. De Kauwe, “Anthropogenic climate change has driven over 5 million km² of drylands towards desertification,” Nature Commun., 2020.</a:t>
            </a:r>
          </a:p>
          <a:p>
            <a:pPr algn="l">
              <a:spcAft>
                <a:spcPts val="250"/>
              </a:spcAft>
            </a:pPr>
            <a:r>
              <a:rPr sz="850" b="1" i="0">
                <a:solidFill>
                  <a:srgbClr val="2E6B3F"/>
                </a:solidFill>
                <a:latin typeface="Calibri"/>
              </a:rPr>
              <a:t>[5] </a:t>
            </a:r>
            <a:r>
              <a:rPr sz="850" b="0" i="0">
                <a:solidFill>
                  <a:srgbClr val="1E2420"/>
                </a:solidFill>
                <a:latin typeface="Calibri"/>
              </a:rPr>
              <a:t>A. Berdyyev, Y. A. Al-Masnay, M. Juliev, and J. Abuduwaili, “Desertification monitoring using machine learning techniques with multiple indicators derived from Sentinel-2 in Turkmenistan,” Remote Sens., 2024.</a:t>
            </a:r>
          </a:p>
          <a:p>
            <a:pPr algn="l">
              <a:spcAft>
                <a:spcPts val="250"/>
              </a:spcAft>
            </a:pPr>
            <a:r>
              <a:rPr sz="850" b="1" i="0">
                <a:solidFill>
                  <a:srgbClr val="2E6B3F"/>
                </a:solidFill>
                <a:latin typeface="Calibri"/>
              </a:rPr>
              <a:t>[6] </a:t>
            </a:r>
            <a:r>
              <a:rPr sz="850" b="0" i="0">
                <a:solidFill>
                  <a:srgbClr val="1E2420"/>
                </a:solidFill>
                <a:latin typeface="Calibri"/>
              </a:rPr>
              <a:t>T. M. Bury et al., “Deep learning for early warning signals of tipping points,” Proc. Natl. Acad. Sci. USA, 2021.</a:t>
            </a:r>
          </a:p>
          <a:p>
            <a:pPr algn="l">
              <a:spcAft>
                <a:spcPts val="250"/>
              </a:spcAft>
            </a:pPr>
            <a:r>
              <a:rPr sz="850" b="1" i="0">
                <a:solidFill>
                  <a:srgbClr val="2E6B3F"/>
                </a:solidFill>
                <a:latin typeface="Calibri"/>
              </a:rPr>
              <a:t>[7] </a:t>
            </a:r>
            <a:r>
              <a:rPr sz="850" b="0" i="0">
                <a:solidFill>
                  <a:srgbClr val="1E2420"/>
                </a:solidFill>
                <a:latin typeface="Calibri"/>
              </a:rPr>
              <a:t>V. Dakos et al., “Tipping point detection and early warnings in climate, ecological, and human systems,” Earth Syst. Dyn., 2024.</a:t>
            </a:r>
          </a:p>
          <a:p>
            <a:pPr algn="l">
              <a:spcAft>
                <a:spcPts val="250"/>
              </a:spcAft>
            </a:pPr>
            <a:r>
              <a:rPr sz="850" b="1" i="0">
                <a:solidFill>
                  <a:srgbClr val="2E6B3F"/>
                </a:solidFill>
                <a:latin typeface="Calibri"/>
              </a:rPr>
              <a:t>[8] </a:t>
            </a:r>
            <a:r>
              <a:rPr sz="850" b="0" i="0">
                <a:solidFill>
                  <a:srgbClr val="1E2420"/>
                </a:solidFill>
                <a:latin typeface="Calibri"/>
              </a:rPr>
              <a:t>T. M. Lenton et al., “A resilience sensing system for the biosphere,” Phil. Trans. R. Soc. B, 2022.</a:t>
            </a:r>
          </a:p>
          <a:p>
            <a:pPr algn="l">
              <a:spcAft>
                <a:spcPts val="250"/>
              </a:spcAft>
            </a:pPr>
            <a:r>
              <a:rPr sz="850" b="1" i="0">
                <a:solidFill>
                  <a:srgbClr val="2E6B3F"/>
                </a:solidFill>
                <a:latin typeface="Calibri"/>
              </a:rPr>
              <a:t>[9] </a:t>
            </a:r>
            <a:r>
              <a:rPr sz="850" b="0" i="0">
                <a:solidFill>
                  <a:srgbClr val="1E2420"/>
                </a:solidFill>
                <a:latin typeface="Calibri"/>
              </a:rPr>
              <a:t>T. Smith, D. Traxl, and N. Boers, “Empirical evidence for recent global shifts in vegetation resilience,” Nature Clim. Change, 2022.</a:t>
            </a:r>
          </a:p>
          <a:p>
            <a:pPr algn="l">
              <a:spcAft>
                <a:spcPts val="250"/>
              </a:spcAft>
            </a:pPr>
            <a:r>
              <a:rPr sz="850" b="1" i="0">
                <a:solidFill>
                  <a:srgbClr val="2E6B3F"/>
                </a:solidFill>
                <a:latin typeface="Calibri"/>
              </a:rPr>
              <a:t>[10] </a:t>
            </a:r>
            <a:r>
              <a:rPr sz="850" b="0" i="0">
                <a:solidFill>
                  <a:srgbClr val="1E2420"/>
                </a:solidFill>
                <a:latin typeface="Calibri"/>
              </a:rPr>
              <a:t>C. A. Boulton, T. M. Lenton, and N. Boers, “Pronounced loss of Amazon rainforest resilience since the early 2000s,” Nature Clim. Change, 2022.</a:t>
            </a:r>
          </a:p>
          <a:p>
            <a:pPr algn="l">
              <a:spcAft>
                <a:spcPts val="250"/>
              </a:spcAft>
            </a:pPr>
            <a:r>
              <a:rPr sz="850" b="1" i="0">
                <a:solidFill>
                  <a:srgbClr val="2E6B3F"/>
                </a:solidFill>
                <a:latin typeface="Calibri"/>
              </a:rPr>
              <a:t>[11] </a:t>
            </a:r>
            <a:r>
              <a:rPr sz="850" b="0" i="0">
                <a:solidFill>
                  <a:srgbClr val="1E2420"/>
                </a:solidFill>
                <a:latin typeface="Calibri"/>
              </a:rPr>
              <a:t>P. Ploton et al., “Spatial validation reveals poor predictive performance of large-scale ecological mapping models,” Nature Commun., 4540, 2020.</a:t>
            </a:r>
          </a:p>
          <a:p>
            <a:pPr algn="l">
              <a:spcAft>
                <a:spcPts val="250"/>
              </a:spcAft>
            </a:pPr>
            <a:r>
              <a:rPr sz="850" b="1" i="0">
                <a:solidFill>
                  <a:srgbClr val="2E6B3F"/>
                </a:solidFill>
                <a:latin typeface="Calibri"/>
              </a:rPr>
              <a:t>[12] </a:t>
            </a:r>
            <a:r>
              <a:rPr sz="850" b="0" i="0">
                <a:solidFill>
                  <a:srgbClr val="1E2420"/>
                </a:solidFill>
                <a:latin typeface="Calibri"/>
              </a:rPr>
              <a:t>H. Meyer and E. Pebesma, “Predicting into unknown space? Estimating the area of applicability of spatial prediction models,” Methods Ecol. Evol., 2021.</a:t>
            </a:r>
          </a:p>
          <a:p>
            <a:pPr algn="l">
              <a:spcAft>
                <a:spcPts val="250"/>
              </a:spcAft>
            </a:pPr>
            <a:r>
              <a:rPr sz="850" b="1" i="0">
                <a:solidFill>
                  <a:srgbClr val="2E6B3F"/>
                </a:solidFill>
                <a:latin typeface="Calibri"/>
              </a:rPr>
              <a:t>[13] </a:t>
            </a:r>
            <a:r>
              <a:rPr sz="850" b="0" i="0">
                <a:solidFill>
                  <a:srgbClr val="1E2420"/>
                </a:solidFill>
                <a:latin typeface="Calibri"/>
              </a:rPr>
              <a:t>C. Schiller, J. Költzow, S. Schwarz, F. Schiefer, and F. E. Fassnacht, “Forest disturbance detection in Central Europe using transformers and Sentinel-2 time series,” Remote Sens. Environ., 2024.</a:t>
            </a:r>
          </a:p>
          <a:p>
            <a:pPr algn="l">
              <a:spcAft>
                <a:spcPts val="250"/>
              </a:spcAft>
            </a:pPr>
            <a:r>
              <a:rPr sz="850" b="1" i="0">
                <a:solidFill>
                  <a:srgbClr val="2E6B3F"/>
                </a:solidFill>
                <a:latin typeface="Calibri"/>
              </a:rPr>
              <a:t>[14] </a:t>
            </a:r>
            <a:r>
              <a:rPr sz="850" b="0" i="0">
                <a:solidFill>
                  <a:srgbClr val="1E2420"/>
                </a:solidFill>
                <a:latin typeface="Calibri"/>
              </a:rPr>
              <a:t>R. N. Masolele et al., “Spatial and temporal deep learning methods for deriving land-use following deforestation: A pan-tropical case study using Landsat time series,” Remote Sens. Environ., 2021.</a:t>
            </a:r>
          </a:p>
          <a:p>
            <a:pPr algn="l">
              <a:spcAft>
                <a:spcPts val="250"/>
              </a:spcAft>
            </a:pPr>
            <a:r>
              <a:rPr sz="850" b="1" i="0">
                <a:solidFill>
                  <a:srgbClr val="2E6B3F"/>
                </a:solidFill>
                <a:latin typeface="Calibri"/>
              </a:rPr>
              <a:t>[15] </a:t>
            </a:r>
            <a:r>
              <a:rPr sz="850" b="0" i="0">
                <a:solidFill>
                  <a:srgbClr val="1E2420"/>
                </a:solidFill>
                <a:latin typeface="Calibri"/>
              </a:rPr>
              <a:t>J. Reiche et al., “Forest disturbance alerts for the Congo Basin using Sentinel-1,” Environ. Res. Lett., 024005, 2021.</a:t>
            </a:r>
          </a:p>
          <a:p>
            <a:pPr algn="l">
              <a:spcAft>
                <a:spcPts val="250"/>
              </a:spcAft>
            </a:pPr>
            <a:r>
              <a:rPr sz="850" b="1" i="0">
                <a:solidFill>
                  <a:srgbClr val="2E6B3F"/>
                </a:solidFill>
                <a:latin typeface="Calibri"/>
              </a:rPr>
              <a:t>[16] </a:t>
            </a:r>
            <a:r>
              <a:rPr sz="850" b="0" i="0">
                <a:solidFill>
                  <a:srgbClr val="1E2420"/>
                </a:solidFill>
                <a:latin typeface="Calibri"/>
              </a:rPr>
              <a:t>M. Berdugo et al., “Global ecosystem thresholds driven by aridity,” Science, 2020.</a:t>
            </a:r>
          </a:p>
          <a:p>
            <a:pPr algn="l">
              <a:spcAft>
                <a:spcPts val="250"/>
              </a:spcAft>
            </a:pPr>
            <a:r>
              <a:rPr sz="850" b="1" i="0">
                <a:solidFill>
                  <a:srgbClr val="2E6B3F"/>
                </a:solidFill>
                <a:latin typeface="Calibri"/>
              </a:rPr>
              <a:t>[17] </a:t>
            </a:r>
            <a:r>
              <a:rPr sz="850" b="0" i="0">
                <a:solidFill>
                  <a:srgbClr val="1E2420"/>
                </a:solidFill>
                <a:latin typeface="Calibri"/>
              </a:rPr>
              <a:t>D. Zanaga et al., “ESA WorldCover 10 m 2021 v200,” Zenodo, 2022.</a:t>
            </a:r>
          </a:p>
          <a:p>
            <a:pPr algn="l">
              <a:spcAft>
                <a:spcPts val="250"/>
              </a:spcAft>
            </a:pPr>
            <a:r>
              <a:rPr sz="850" b="1" i="0">
                <a:solidFill>
                  <a:srgbClr val="2E6B3F"/>
                </a:solidFill>
                <a:latin typeface="Calibri"/>
              </a:rPr>
              <a:t>[18] </a:t>
            </a:r>
            <a:r>
              <a:rPr sz="850" b="0" i="0">
                <a:solidFill>
                  <a:srgbClr val="1E2420"/>
                </a:solidFill>
                <a:latin typeface="Calibri"/>
              </a:rPr>
              <a:t>L. Grinsztajn, E. Oyallon, and G. Varoquaux, “Why do tree-based models still outperform deep learning on typical tabular data?” in Proc. NeurIPS Datasets and Benchmarks Track, 2022.</a:t>
            </a:r>
          </a:p>
          <a:p>
            <a:pPr algn="l">
              <a:spcAft>
                <a:spcPts val="250"/>
              </a:spcAft>
            </a:pPr>
            <a:r>
              <a:rPr sz="850" b="1" i="0">
                <a:solidFill>
                  <a:srgbClr val="2E6B3F"/>
                </a:solidFill>
                <a:latin typeface="Calibri"/>
              </a:rPr>
              <a:t>[19] </a:t>
            </a:r>
            <a:r>
              <a:rPr sz="850" b="0" i="0">
                <a:solidFill>
                  <a:srgbClr val="1E2420"/>
                </a:solidFill>
                <a:latin typeface="Calibri"/>
              </a:rPr>
              <a:t>T. Silva Filho et al., “Classifier calibration: A survey on how to assess and improve predicted class probabilities,” Mach. Learn., 2023.</a:t>
            </a:r>
          </a:p>
        </p:txBody>
      </p:sp>
      <p:sp>
        <p:nvSpPr>
          <p:cNvPr id="6" name="TextBox 5"/>
          <p:cNvSpPr txBox="1"/>
          <p:nvPr/>
        </p:nvSpPr>
        <p:spPr>
          <a:xfrm>
            <a:off x="6172200" y="1005840"/>
            <a:ext cx="5486400" cy="5349240"/>
          </a:xfrm>
          <a:prstGeom prst="rect">
            <a:avLst/>
          </a:prstGeom>
          <a:noFill/>
        </p:spPr>
        <p:txBody>
          <a:bodyPr wrap="square" anchor="t" lIns="0" rIns="0" tIns="0" bIns="0">
            <a:spAutoFit/>
          </a:bodyPr>
          <a:lstStyle/>
          <a:p>
            <a:pPr algn="l">
              <a:spcAft>
                <a:spcPts val="250"/>
              </a:spcAft>
            </a:pPr>
            <a:r>
              <a:rPr sz="850" b="1" i="0">
                <a:solidFill>
                  <a:srgbClr val="2E6B3F"/>
                </a:solidFill>
                <a:latin typeface="Calibri"/>
              </a:rPr>
              <a:t>[20] </a:t>
            </a:r>
            <a:r>
              <a:rPr sz="850" b="0" i="0">
                <a:solidFill>
                  <a:srgbClr val="1E2420"/>
                </a:solidFill>
                <a:latin typeface="Calibri"/>
              </a:rPr>
              <a:t>V. Vovk, A. Gammerman, and G. Shafer, Algorithmic Learning in a Random World, 2nd ed. Cham, Switzerland: Springer, 2022.</a:t>
            </a:r>
          </a:p>
          <a:p>
            <a:pPr algn="l">
              <a:spcAft>
                <a:spcPts val="250"/>
              </a:spcAft>
            </a:pPr>
            <a:r>
              <a:rPr sz="850" b="1" i="0">
                <a:solidFill>
                  <a:srgbClr val="2E6B3F"/>
                </a:solidFill>
                <a:latin typeface="Calibri"/>
              </a:rPr>
              <a:t>[21] </a:t>
            </a:r>
            <a:r>
              <a:rPr sz="850" b="0" i="0">
                <a:solidFill>
                  <a:srgbClr val="1E2420"/>
                </a:solidFill>
                <a:latin typeface="Calibri"/>
              </a:rPr>
              <a:t>A. N. Angelopoulos and S. Bates, “Conformal prediction: A gentle introduction,” Found. Trends Mach. Learn., 2023.</a:t>
            </a:r>
          </a:p>
          <a:p>
            <a:pPr algn="l">
              <a:spcAft>
                <a:spcPts val="250"/>
              </a:spcAft>
            </a:pPr>
            <a:r>
              <a:rPr sz="850" b="1" i="0">
                <a:solidFill>
                  <a:srgbClr val="2E6B3F"/>
                </a:solidFill>
                <a:latin typeface="Calibri"/>
              </a:rPr>
              <a:t>[22] </a:t>
            </a:r>
            <a:r>
              <a:rPr sz="850" b="0" i="0">
                <a:solidFill>
                  <a:srgbClr val="1E2420"/>
                </a:solidFill>
                <a:latin typeface="Calibri"/>
              </a:rPr>
              <a:t>C. Northcutt, L. Jiang, and I. Chuang, “Confident learning: Estimating uncertainty in dataset labels,” J. Artif. Intell. Res., 2021.</a:t>
            </a:r>
          </a:p>
          <a:p>
            <a:pPr algn="l">
              <a:spcAft>
                <a:spcPts val="250"/>
              </a:spcAft>
            </a:pPr>
            <a:r>
              <a:rPr sz="850" b="1" i="0">
                <a:solidFill>
                  <a:srgbClr val="2E6B3F"/>
                </a:solidFill>
                <a:latin typeface="Calibri"/>
              </a:rPr>
              <a:t>[23] </a:t>
            </a:r>
            <a:r>
              <a:rPr sz="850" b="0" i="0">
                <a:solidFill>
                  <a:srgbClr val="1E2420"/>
                </a:solidFill>
                <a:latin typeface="Calibri"/>
              </a:rPr>
              <a:t>D. Phiri et al., “Sentinel-2 data for land cover/use mapping: A review,” Remote Sens., 2020.</a:t>
            </a:r>
          </a:p>
          <a:p>
            <a:pPr algn="l">
              <a:spcAft>
                <a:spcPts val="250"/>
              </a:spcAft>
            </a:pPr>
            <a:r>
              <a:rPr sz="850" b="1" i="0">
                <a:solidFill>
                  <a:srgbClr val="2E6B3F"/>
                </a:solidFill>
                <a:latin typeface="Calibri"/>
              </a:rPr>
              <a:t>[24] </a:t>
            </a:r>
            <a:r>
              <a:rPr sz="850" b="0" i="0">
                <a:solidFill>
                  <a:srgbClr val="1E2420"/>
                </a:solidFill>
                <a:latin typeface="Calibri"/>
              </a:rPr>
              <a:t>J. Muñoz-Sabater et al., “ERA5-Land: A state-of-the-art global reanalysis dataset for land applications,” Earth Syst. Sci. Data, 2021.</a:t>
            </a:r>
          </a:p>
          <a:p>
            <a:pPr algn="l">
              <a:spcAft>
                <a:spcPts val="250"/>
              </a:spcAft>
            </a:pPr>
            <a:r>
              <a:rPr sz="850" b="1" i="0">
                <a:solidFill>
                  <a:srgbClr val="2E6B3F"/>
                </a:solidFill>
                <a:latin typeface="Calibri"/>
              </a:rPr>
              <a:t>[25] </a:t>
            </a:r>
            <a:r>
              <a:rPr sz="850" b="0" i="0">
                <a:solidFill>
                  <a:srgbClr val="1E2420"/>
                </a:solidFill>
                <a:latin typeface="Calibri"/>
              </a:rPr>
              <a:t>K. Didan, “MOD13Q1 MODIS/Terra vegetation indices 16-day L3 global 250 m SIN grid V061,” NASA EOSDIS Land Processes DAAC, 2021.</a:t>
            </a:r>
          </a:p>
          <a:p>
            <a:pPr algn="l">
              <a:spcAft>
                <a:spcPts val="250"/>
              </a:spcAft>
            </a:pPr>
            <a:r>
              <a:rPr sz="850" b="1" i="0">
                <a:solidFill>
                  <a:srgbClr val="2E6B3F"/>
                </a:solidFill>
                <a:latin typeface="Calibri"/>
              </a:rPr>
              <a:t>[26] </a:t>
            </a:r>
            <a:r>
              <a:rPr sz="850" b="0" i="0">
                <a:solidFill>
                  <a:srgbClr val="1E2420"/>
                </a:solidFill>
                <a:latin typeface="Calibri"/>
              </a:rPr>
              <a:t>Q. Yuan et al., “Deep learning in environmental remote sensing: Achievements and challenges,” Remote Sens. Environ., 2020.</a:t>
            </a:r>
          </a:p>
          <a:p>
            <a:pPr algn="l">
              <a:spcAft>
                <a:spcPts val="250"/>
              </a:spcAft>
            </a:pPr>
            <a:r>
              <a:rPr sz="850" b="1" i="0">
                <a:solidFill>
                  <a:srgbClr val="2E6B3F"/>
                </a:solidFill>
                <a:latin typeface="Calibri"/>
              </a:rPr>
              <a:t>[27] </a:t>
            </a:r>
            <a:r>
              <a:rPr sz="850" b="0" i="0">
                <a:solidFill>
                  <a:srgbClr val="1E2420"/>
                </a:solidFill>
                <a:latin typeface="Calibri"/>
              </a:rPr>
              <a:t>H. Hersbach et al., “The ERA5 global reanalysis,” Q. J. R. Meteorol. Soc., 2020.</a:t>
            </a:r>
          </a:p>
          <a:p>
            <a:pPr algn="l">
              <a:spcAft>
                <a:spcPts val="250"/>
              </a:spcAft>
            </a:pPr>
            <a:r>
              <a:rPr sz="850" b="1" i="0">
                <a:solidFill>
                  <a:srgbClr val="2E6B3F"/>
                </a:solidFill>
                <a:latin typeface="Calibri"/>
              </a:rPr>
              <a:t>[28] </a:t>
            </a:r>
            <a:r>
              <a:rPr sz="850" b="0" i="0">
                <a:solidFill>
                  <a:srgbClr val="1E2420"/>
                </a:solidFill>
                <a:latin typeface="Calibri"/>
              </a:rPr>
              <a:t>M. A. Wulder et al., “Fifty years of Landsat science and impacts,” Remote Sens. Environ., 113195, 2022.</a:t>
            </a:r>
          </a:p>
          <a:p>
            <a:pPr algn="l">
              <a:spcAft>
                <a:spcPts val="250"/>
              </a:spcAft>
            </a:pPr>
            <a:r>
              <a:rPr sz="850" b="1" i="0">
                <a:solidFill>
                  <a:srgbClr val="2E6B3F"/>
                </a:solidFill>
                <a:latin typeface="Calibri"/>
              </a:rPr>
              <a:t>[29] </a:t>
            </a:r>
            <a:r>
              <a:rPr sz="850" b="0" i="0">
                <a:solidFill>
                  <a:srgbClr val="1E2420"/>
                </a:solidFill>
                <a:latin typeface="Calibri"/>
              </a:rPr>
              <a:t>M. Amani et al., “Google Earth Engine cloud computing platform for remote sensing big data applications: A comprehensive review,” IEEE J. Sel. Topics Appl. Earth Observ. Remote Sens., 2020.</a:t>
            </a:r>
          </a:p>
          <a:p>
            <a:pPr algn="l">
              <a:spcAft>
                <a:spcPts val="250"/>
              </a:spcAft>
            </a:pPr>
            <a:r>
              <a:rPr sz="850" b="1" i="0">
                <a:solidFill>
                  <a:srgbClr val="2E6B3F"/>
                </a:solidFill>
                <a:latin typeface="Calibri"/>
              </a:rPr>
              <a:t>[30] </a:t>
            </a:r>
            <a:r>
              <a:rPr sz="850" b="0" i="0">
                <a:solidFill>
                  <a:srgbClr val="1E2420"/>
                </a:solidFill>
                <a:latin typeface="Calibri"/>
              </a:rPr>
              <a:t>L. Poggio et al., “SoilGrids 2.0: Producing soil information for the globe with quantified spatial uncertainty,” SOIL, 2021.</a:t>
            </a:r>
          </a:p>
          <a:p>
            <a:pPr algn="l">
              <a:spcAft>
                <a:spcPts val="250"/>
              </a:spcAft>
            </a:pPr>
            <a:r>
              <a:rPr sz="850" b="1" i="0">
                <a:solidFill>
                  <a:srgbClr val="2E6B3F"/>
                </a:solidFill>
                <a:latin typeface="Calibri"/>
              </a:rPr>
              <a:t>[31] </a:t>
            </a:r>
            <a:r>
              <a:rPr sz="850" b="0" i="0">
                <a:solidFill>
                  <a:srgbClr val="1E2420"/>
                </a:solidFill>
                <a:latin typeface="Calibri"/>
              </a:rPr>
              <a:t>T. Kattenborn, J. Leitloff, F. Schiefer, and S. Hinz, “Review on convolutional neural networks (CNN) in vegetation remote sensing,” ISPRS J. Photogramm. Remote Sens., 2021.</a:t>
            </a:r>
          </a:p>
          <a:p>
            <a:pPr algn="l">
              <a:spcAft>
                <a:spcPts val="250"/>
              </a:spcAft>
            </a:pPr>
            <a:r>
              <a:rPr sz="850" b="1" i="0">
                <a:solidFill>
                  <a:srgbClr val="2E6B3F"/>
                </a:solidFill>
                <a:latin typeface="Calibri"/>
              </a:rPr>
              <a:t>[32] </a:t>
            </a:r>
            <a:r>
              <a:rPr sz="850" b="0" i="0">
                <a:solidFill>
                  <a:srgbClr val="1E2420"/>
                </a:solidFill>
                <a:latin typeface="Calibri"/>
              </a:rPr>
              <a:t>S. M. Lundberg et al., “From local explanations to global understanding with explainable AI for trees,” Nature Mach. Intell., 2020.</a:t>
            </a:r>
          </a:p>
          <a:p>
            <a:pPr algn="l">
              <a:spcAft>
                <a:spcPts val="250"/>
              </a:spcAft>
            </a:pPr>
            <a:r>
              <a:rPr sz="850" b="1" i="0">
                <a:solidFill>
                  <a:srgbClr val="2E6B3F"/>
                </a:solidFill>
                <a:latin typeface="Calibri"/>
              </a:rPr>
              <a:t>[33] </a:t>
            </a:r>
            <a:r>
              <a:rPr sz="850" b="0" i="0">
                <a:solidFill>
                  <a:srgbClr val="1E2420"/>
                </a:solidFill>
                <a:latin typeface="Calibri"/>
              </a:rPr>
              <a:t>A. H. Pickens et al., “Mapping and sampling to characterize global inland water dynamics from 1999 to 2018 with full Landsat time-series,” Remote Sens. Environ., 2020.</a:t>
            </a:r>
          </a:p>
          <a:p>
            <a:pPr algn="l">
              <a:spcAft>
                <a:spcPts val="250"/>
              </a:spcAft>
            </a:pPr>
            <a:r>
              <a:rPr sz="850" b="1" i="0">
                <a:solidFill>
                  <a:srgbClr val="2E6B3F"/>
                </a:solidFill>
                <a:latin typeface="Calibri"/>
              </a:rPr>
              <a:t>[34] </a:t>
            </a:r>
            <a:r>
              <a:rPr sz="850" b="0" i="0">
                <a:solidFill>
                  <a:srgbClr val="1E2420"/>
                </a:solidFill>
                <a:latin typeface="Calibri"/>
              </a:rPr>
              <a:t>G. Forzieri, V. Dakos, N. G. McDowell, A. Ramdane, and A. Cescatti, “Emerging signals of declining forest resilience under climate change,” Nature, 2022.</a:t>
            </a:r>
          </a:p>
          <a:p>
            <a:pPr algn="l">
              <a:spcAft>
                <a:spcPts val="250"/>
              </a:spcAft>
            </a:pPr>
            <a:r>
              <a:rPr sz="850" b="1" i="0">
                <a:solidFill>
                  <a:srgbClr val="2E6B3F"/>
                </a:solidFill>
                <a:latin typeface="Calibri"/>
              </a:rPr>
              <a:t>[35] </a:t>
            </a:r>
            <a:r>
              <a:rPr sz="850" b="0" i="0">
                <a:solidFill>
                  <a:srgbClr val="1E2420"/>
                </a:solidFill>
                <a:latin typeface="Calibri"/>
              </a:rPr>
              <a:t>C. F. Brown et al., “Dynamic World, near real-time global 10 m land use land cover mapping,” Sci. Data, 2022.</a:t>
            </a:r>
          </a:p>
          <a:p>
            <a:pPr algn="l">
              <a:spcAft>
                <a:spcPts val="250"/>
              </a:spcAft>
            </a:pPr>
            <a:r>
              <a:rPr sz="850" b="1" i="0">
                <a:solidFill>
                  <a:srgbClr val="2E6B3F"/>
                </a:solidFill>
                <a:latin typeface="Calibri"/>
              </a:rPr>
              <a:t>[36] </a:t>
            </a:r>
            <a:r>
              <a:rPr sz="850" b="0" i="0">
                <a:solidFill>
                  <a:srgbClr val="1E2420"/>
                </a:solidFill>
                <a:latin typeface="Calibri"/>
              </a:rPr>
              <a:t>D. Valle, R. Izbicki, and R. V. Leite, “Quantifying uncertainty in land-use land-cover classification using conformal statistics,” Remote Sens. Environ., 2023.</a:t>
            </a:r>
          </a:p>
          <a:p>
            <a:pPr algn="l">
              <a:spcAft>
                <a:spcPts val="250"/>
              </a:spcAft>
            </a:pPr>
            <a:r>
              <a:rPr sz="850" b="1" i="0">
                <a:solidFill>
                  <a:srgbClr val="2E6B3F"/>
                </a:solidFill>
                <a:latin typeface="Calibri"/>
              </a:rPr>
              <a:t>[37] </a:t>
            </a:r>
            <a:r>
              <a:rPr sz="850" b="0" i="0">
                <a:solidFill>
                  <a:srgbClr val="1E2420"/>
                </a:solidFill>
                <a:latin typeface="Calibri"/>
              </a:rPr>
              <a:t>Microsoft Open Source et al., “microsoft/PlanetaryComputer: October 2022,” Zenodo, 2022.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