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7"/>
    <p:restoredTop sz="94676"/>
  </p:normalViewPr>
  <p:slideViewPr>
    <p:cSldViewPr snapToGrid="0" snapToObjects="1">
      <p:cViewPr>
        <p:scale>
          <a:sx n="124" d="100"/>
          <a:sy n="124" d="100"/>
        </p:scale>
        <p:origin x="104" y="4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0704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500" b="1">
                <a:solidFill>
                  <a:srgbClr val="163052"/>
                </a:solidFill>
                <a:latin typeface="Aptos"/>
              </a:defRPr>
            </a:pPr>
            <a:r>
              <a:rPr dirty="0">
                <a:latin typeface="Aptos"/>
              </a:rPr>
              <a:t>AI-BASED EARLY DETECTION 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53312"/>
            <a:ext cx="1060704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900" b="1">
                <a:solidFill>
                  <a:srgbClr val="2B3239"/>
                </a:solidFill>
                <a:latin typeface="Aptos"/>
              </a:defRPr>
            </a:pPr>
            <a:r>
              <a:rPr>
                <a:latin typeface="Aptos"/>
              </a:rPr>
              <a:t>MAPPING OF LAND DEGRADATION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057400"/>
            <a:ext cx="100584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700" b="1">
                <a:solidFill>
                  <a:srgbClr val="298078"/>
                </a:solidFill>
                <a:latin typeface="Aptos"/>
              </a:defRPr>
            </a:pPr>
            <a:r>
              <a:rPr>
                <a:latin typeface="Aptos"/>
              </a:rPr>
              <a:t>CARE-EW research extension  |  from mapping to early warning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97180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Oval 6"/>
          <p:cNvSpPr/>
          <p:nvPr/>
        </p:nvSpPr>
        <p:spPr>
          <a:xfrm>
            <a:off x="923544" y="3108960"/>
            <a:ext cx="365760" cy="36576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23544" y="313639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99032" y="3081528"/>
            <a:ext cx="2423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Observe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538728"/>
            <a:ext cx="2889504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Sentinel-2 + MODIS</a:t>
            </a:r>
            <a:br/>
            <a:r>
              <a:rPr>
                <a:latin typeface="Aptos"/>
              </a:rPr>
              <a:t>vegetation signals</a:t>
            </a:r>
          </a:p>
        </p:txBody>
      </p:sp>
      <p:sp>
        <p:nvSpPr>
          <p:cNvPr id="11" name="Chevron 10"/>
          <p:cNvSpPr/>
          <p:nvPr/>
        </p:nvSpPr>
        <p:spPr>
          <a:xfrm>
            <a:off x="4096512" y="3493008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434840" y="297180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81144" y="3108960"/>
            <a:ext cx="365760" cy="365760"/>
          </a:xfrm>
          <a:prstGeom prst="ellipse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313639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1" y="3081528"/>
            <a:ext cx="2423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3538728"/>
            <a:ext cx="2889504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Climate-conditioned</a:t>
            </a:r>
            <a:br/>
            <a:r>
              <a:rPr>
                <a:latin typeface="Aptos"/>
              </a:rPr>
              <a:t>residual + resilience</a:t>
            </a:r>
          </a:p>
        </p:txBody>
      </p:sp>
      <p:sp>
        <p:nvSpPr>
          <p:cNvPr id="17" name="Chevron 16"/>
          <p:cNvSpPr/>
          <p:nvPr/>
        </p:nvSpPr>
        <p:spPr>
          <a:xfrm>
            <a:off x="7754112" y="3493008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092440" y="2971800"/>
            <a:ext cx="320040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9" name="Oval 18"/>
          <p:cNvSpPr/>
          <p:nvPr/>
        </p:nvSpPr>
        <p:spPr>
          <a:xfrm>
            <a:off x="8238744" y="3108960"/>
            <a:ext cx="365760" cy="365760"/>
          </a:xfrm>
          <a:prstGeom prst="ellipse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38744" y="313639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14232" y="3081528"/>
            <a:ext cx="24231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Predict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3538728"/>
            <a:ext cx="2889504" cy="7132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Future persistent</a:t>
            </a:r>
            <a:br/>
            <a:r>
              <a:rPr>
                <a:latin typeface="Aptos"/>
              </a:rPr>
              <a:t>degradation event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9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Core question: Can we warn before degradation becomes obvious?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06440"/>
            <a:ext cx="105156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0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Public/free datasets • free software • reproducible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365B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Why this is a research extension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The existing work maps degradation; the extension tests whether it can be anticipated.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356616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35661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Current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29535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4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Multi-temporal Sentinel-2</a:t>
            </a:r>
            <a:br/>
            <a:br/>
            <a:r>
              <a:rPr>
                <a:latin typeface="Aptos"/>
              </a:rPr>
              <a:t>Spectral indices</a:t>
            </a:r>
            <a:br/>
            <a:br/>
            <a:r>
              <a:rPr>
                <a:latin typeface="Aptos"/>
              </a:rPr>
              <a:t>Temporal ML</a:t>
            </a:r>
            <a:br/>
            <a:br/>
            <a:r>
              <a:rPr>
                <a:latin typeface="Aptos"/>
              </a:rPr>
              <a:t>→ identify degraded areas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37560" cy="356616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325880"/>
            <a:ext cx="64008" cy="356616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47088"/>
            <a:ext cx="3017520" cy="29535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4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Vegetation decline can be caused by drought, heat or seasonality.</a:t>
            </a:r>
            <a:br/>
            <a:br/>
            <a:r>
              <a:rPr>
                <a:latin typeface="Aptos"/>
              </a:rPr>
              <a:t>A raw decline is not automatically land degradation.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325880"/>
            <a:ext cx="3337560" cy="356616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325880"/>
            <a:ext cx="64008" cy="3566160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Extension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47088"/>
            <a:ext cx="3017520" cy="29535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Estimate expected vegetation under climate stress.</a:t>
            </a:r>
            <a:br/>
            <a:br/>
            <a:r>
              <a:rPr>
                <a:latin typeface="Aptos"/>
              </a:rPr>
              <a:t>Then detect persistent unexplained decline + weakening resilience.</a:t>
            </a:r>
            <a:br/>
            <a:br/>
            <a:r>
              <a:rPr>
                <a:latin typeface="Aptos"/>
              </a:rPr>
              <a:t>→ predict the future event.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57800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4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The mathematical layer is kept inside the pipeline — not allowed to dominate the presentation.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The research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One simple story: observe → condition → measure resilience → predict → validate.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832104" y="1554480"/>
            <a:ext cx="365760" cy="36576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3210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07592" y="1527048"/>
            <a:ext cx="1371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Sentinel-2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1984248"/>
            <a:ext cx="1837944" cy="804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10 m spectral</a:t>
            </a:r>
            <a:br/>
            <a:r>
              <a:rPr>
                <a:latin typeface="Aptos"/>
              </a:rPr>
              <a:t>state + change</a:t>
            </a:r>
          </a:p>
        </p:txBody>
      </p:sp>
      <p:sp>
        <p:nvSpPr>
          <p:cNvPr id="12" name="Chevron 11"/>
          <p:cNvSpPr/>
          <p:nvPr/>
        </p:nvSpPr>
        <p:spPr>
          <a:xfrm>
            <a:off x="2907792" y="1993392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46120" y="141732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3392424" y="1554480"/>
            <a:ext cx="365760" cy="365760"/>
          </a:xfrm>
          <a:prstGeom prst="ellipse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9242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67911" y="1527048"/>
            <a:ext cx="1371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MODIS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1984248"/>
            <a:ext cx="1837944" cy="804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2000–present</a:t>
            </a:r>
            <a:br/>
            <a:r>
              <a:rPr>
                <a:latin typeface="Aptos"/>
              </a:rPr>
              <a:t>long-term history</a:t>
            </a:r>
          </a:p>
        </p:txBody>
      </p:sp>
      <p:sp>
        <p:nvSpPr>
          <p:cNvPr id="18" name="Chevron 17"/>
          <p:cNvSpPr/>
          <p:nvPr/>
        </p:nvSpPr>
        <p:spPr>
          <a:xfrm>
            <a:off x="5468112" y="1993392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806440" y="1417320"/>
            <a:ext cx="21488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5952744" y="1554480"/>
            <a:ext cx="365760" cy="365760"/>
          </a:xfrm>
          <a:prstGeom prst="ellipse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95274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28231" y="1527048"/>
            <a:ext cx="13716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Climate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61888" y="1984248"/>
            <a:ext cx="1837944" cy="804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CHIRPS + ERA5-Land</a:t>
            </a:r>
            <a:br/>
            <a:r>
              <a:rPr>
                <a:latin typeface="Aptos"/>
              </a:rPr>
              <a:t>expected state</a:t>
            </a:r>
          </a:p>
        </p:txBody>
      </p:sp>
      <p:sp>
        <p:nvSpPr>
          <p:cNvPr id="24" name="Chevron 23"/>
          <p:cNvSpPr/>
          <p:nvPr/>
        </p:nvSpPr>
        <p:spPr>
          <a:xfrm>
            <a:off x="8028431" y="1993392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366760" y="1417320"/>
            <a:ext cx="2423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>
          <a:xfrm>
            <a:off x="8513064" y="1554480"/>
            <a:ext cx="365760" cy="365760"/>
          </a:xfrm>
          <a:prstGeom prst="ellipse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1306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1527048"/>
            <a:ext cx="164591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Resilience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22208" y="1984248"/>
            <a:ext cx="2112264" cy="8046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AC1 • variance</a:t>
            </a:r>
            <a:br/>
            <a:r>
              <a:rPr>
                <a:latin typeface="Aptos"/>
              </a:rPr>
              <a:t>recovery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28800" y="3703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1" name="Oval 30"/>
          <p:cNvSpPr/>
          <p:nvPr/>
        </p:nvSpPr>
        <p:spPr>
          <a:xfrm>
            <a:off x="1975104" y="3840480"/>
            <a:ext cx="365760" cy="365760"/>
          </a:xfrm>
          <a:prstGeom prst="ellipse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975104" y="3867911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50592" y="3813048"/>
            <a:ext cx="155447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Residual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84248" y="4270248"/>
            <a:ext cx="202082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Observed − expected</a:t>
            </a:r>
          </a:p>
        </p:txBody>
      </p:sp>
      <p:sp>
        <p:nvSpPr>
          <p:cNvPr id="35" name="Chevron 34"/>
          <p:cNvSpPr/>
          <p:nvPr/>
        </p:nvSpPr>
        <p:spPr>
          <a:xfrm>
            <a:off x="4297680" y="4279392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4663440" y="3703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7" name="Oval 36"/>
          <p:cNvSpPr/>
          <p:nvPr/>
        </p:nvSpPr>
        <p:spPr>
          <a:xfrm>
            <a:off x="4809744" y="3840480"/>
            <a:ext cx="365760" cy="36576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809744" y="3867911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85231" y="3813048"/>
            <a:ext cx="155447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Future event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818888" y="4270248"/>
            <a:ext cx="202082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Persistent decline</a:t>
            </a:r>
            <a:br/>
            <a:r>
              <a:rPr>
                <a:latin typeface="Aptos"/>
              </a:rPr>
              <a:t>at t+1…t+H</a:t>
            </a:r>
          </a:p>
        </p:txBody>
      </p:sp>
      <p:sp>
        <p:nvSpPr>
          <p:cNvPr id="41" name="Chevron 40"/>
          <p:cNvSpPr/>
          <p:nvPr/>
        </p:nvSpPr>
        <p:spPr>
          <a:xfrm>
            <a:off x="7132320" y="4279392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7498079" y="370332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43" name="Oval 42"/>
          <p:cNvSpPr/>
          <p:nvPr/>
        </p:nvSpPr>
        <p:spPr>
          <a:xfrm>
            <a:off x="7644383" y="3840480"/>
            <a:ext cx="365760" cy="365760"/>
          </a:xfrm>
          <a:prstGeom prst="ellipse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644383" y="3867911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19871" y="3813048"/>
            <a:ext cx="155447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AI probability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53527" y="4270248"/>
            <a:ext cx="202082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P(event | X)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" y="5623560"/>
            <a:ext cx="100584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6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Then test: does the probability rise BEFORE the event?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274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Data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Everything is designed around public/free Earth-observation data.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188720"/>
            <a:ext cx="2148840" cy="566928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188720"/>
            <a:ext cx="64008" cy="56692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2588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Sentinel-2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09928"/>
            <a:ext cx="1828800" cy="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282F36"/>
                </a:solidFill>
                <a:latin typeface="Aptos"/>
              </a:defRPr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63240" y="1335024"/>
            <a:ext cx="10972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10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1298448"/>
            <a:ext cx="6492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High-resolution spectral evidence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1938528"/>
            <a:ext cx="2148840" cy="566928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31520" y="1938528"/>
            <a:ext cx="64008" cy="566928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075688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MODIS MOD13Q1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459736"/>
            <a:ext cx="1828800" cy="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282F36"/>
                </a:solidFill>
                <a:latin typeface="Aptos"/>
              </a:defRPr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063240" y="2084832"/>
            <a:ext cx="10972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250 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048256"/>
            <a:ext cx="6492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Long-term NDVI/EVI 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2688336"/>
            <a:ext cx="2148840" cy="566928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2688336"/>
            <a:ext cx="64008" cy="566928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2825496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CHIRPS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209544"/>
            <a:ext cx="1828800" cy="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282F36"/>
                </a:solidFill>
                <a:latin typeface="Aptos"/>
              </a:defRPr>
            </a:pPr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063240" y="2834640"/>
            <a:ext cx="10972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~0.05°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60" y="2798064"/>
            <a:ext cx="6492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Rainfall anomalies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3438144"/>
            <a:ext cx="2148840" cy="566928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31520" y="3438144"/>
            <a:ext cx="64008" cy="566928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3575303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ERA5-Land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59352"/>
            <a:ext cx="1828800" cy="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282F36"/>
                </a:solidFill>
                <a:latin typeface="Aptos"/>
              </a:defRPr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063240" y="3584448"/>
            <a:ext cx="10972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~11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51960" y="3547872"/>
            <a:ext cx="6492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Temperature / soil moisture / 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4187952"/>
            <a:ext cx="2148840" cy="566928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31520" y="4187952"/>
            <a:ext cx="64008" cy="566928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325112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Landsat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" y="4709160"/>
            <a:ext cx="1828800" cy="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282F36"/>
                </a:solidFill>
                <a:latin typeface="Aptos"/>
              </a:defRPr>
            </a:pPr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063240" y="4334256"/>
            <a:ext cx="10972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30 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51960" y="4297680"/>
            <a:ext cx="6492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Independent temporal corroboration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31520" y="4937759"/>
            <a:ext cx="2148840" cy="566928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731520" y="4937759"/>
            <a:ext cx="64008" cy="566928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5074920"/>
            <a:ext cx="18288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SoilGrids + DEM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458968"/>
            <a:ext cx="1828800" cy="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282F36"/>
                </a:solidFill>
                <a:latin typeface="Aptos"/>
              </a:defRPr>
            </a:pPr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063240" y="5084064"/>
            <a:ext cx="10972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250 m / 30 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51960" y="5047488"/>
            <a:ext cx="64922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Soil + terrain context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5715000"/>
            <a:ext cx="10698480" cy="438912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731520" y="5715000"/>
            <a:ext cx="64008" cy="438912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14400" y="5852160"/>
            <a:ext cx="1037844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Tools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6236208"/>
            <a:ext cx="10378440" cy="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282F36"/>
                </a:solidFill>
                <a:latin typeface="Aptos"/>
              </a:defRPr>
            </a:pPr>
            <a:r>
              <a:rPr dirty="0">
                <a:latin typeface="Aptos"/>
              </a:rPr>
              <a:t>Google Earth Engine • Python • scikit-learn • QGIS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4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From pixels to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Only a few equations are needed; the rest is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192024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19202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Spectral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1307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NDVI = (NIR − Red)/(NIR + Red)</a:t>
            </a:r>
            <a:br/>
            <a:br/>
            <a:r>
              <a:rPr>
                <a:latin typeface="Aptos"/>
              </a:rPr>
              <a:t>NDMI / NBR / BSI add moisture, disturbance and bare-soil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37560" cy="192024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325880"/>
            <a:ext cx="64008" cy="192024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Temporal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47088"/>
            <a:ext cx="3017520" cy="1307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ΔIₜ = Iₜ − Iₜ₋₁</a:t>
            </a:r>
            <a:br/>
            <a:br/>
            <a:r>
              <a:rPr>
                <a:latin typeface="Aptos"/>
              </a:rPr>
              <a:t>Trend, persistence and negative-run length capture whether decline lasts.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325880"/>
            <a:ext cx="3337560" cy="192024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325880"/>
            <a:ext cx="64008" cy="1920240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47088"/>
            <a:ext cx="3017520" cy="13075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Cloud / shadow masking</a:t>
            </a:r>
            <a:br/>
            <a:br/>
            <a:r>
              <a:rPr>
                <a:latin typeface="Aptos"/>
              </a:rPr>
              <a:t>Valid-observation count</a:t>
            </a:r>
            <a:br/>
            <a:br/>
            <a:r>
              <a:rPr>
                <a:latin typeface="Aptos"/>
              </a:rPr>
              <a:t>Seasonal compositing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749039"/>
            <a:ext cx="182880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5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Feature vector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3730752"/>
            <a:ext cx="9052560" cy="38404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00" b="1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Xₜ = [state, change, persistence, climate, residual, resilience, spatial context]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3327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The model receives measurements — not a conceptual “degradation score.”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Climate conditioning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Separate climate-driven stress from persistent unexplained decline.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554480"/>
            <a:ext cx="365760" cy="36576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527048"/>
            <a:ext cx="2057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Observed vegetation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84248"/>
            <a:ext cx="252374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Yₜ</a:t>
            </a:r>
          </a:p>
        </p:txBody>
      </p:sp>
      <p:sp>
        <p:nvSpPr>
          <p:cNvPr id="12" name="Chevron 11"/>
          <p:cNvSpPr/>
          <p:nvPr/>
        </p:nvSpPr>
        <p:spPr>
          <a:xfrm>
            <a:off x="3703320" y="1993392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69080" y="1417320"/>
            <a:ext cx="283464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4215384" y="1554480"/>
            <a:ext cx="365760" cy="365760"/>
          </a:xfrm>
          <a:prstGeom prst="ellipse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1538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1527048"/>
            <a:ext cx="205740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Climate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24528" y="1984248"/>
            <a:ext cx="252374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Ŷₜ = f(climate)</a:t>
            </a:r>
          </a:p>
        </p:txBody>
      </p:sp>
      <p:sp>
        <p:nvSpPr>
          <p:cNvPr id="18" name="Chevron 17"/>
          <p:cNvSpPr/>
          <p:nvPr/>
        </p:nvSpPr>
        <p:spPr>
          <a:xfrm>
            <a:off x="7040880" y="1993392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06640" y="1417320"/>
            <a:ext cx="3474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7552944" y="1554480"/>
            <a:ext cx="365760" cy="365760"/>
          </a:xfrm>
          <a:prstGeom prst="ellipse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5294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28431" y="1527048"/>
            <a:ext cx="2697479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Residual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62088" y="1984248"/>
            <a:ext cx="316382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Rₜ = Yₜ − Ŷₜ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474720"/>
            <a:ext cx="48006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14400" y="3474720"/>
            <a:ext cx="64008" cy="1600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3611879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Example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3995928"/>
            <a:ext cx="4480560" cy="9875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Drought → vegetation falls, but expected fall is also large.</a:t>
            </a:r>
            <a:br/>
            <a:br/>
            <a:r>
              <a:rPr>
                <a:latin typeface="Aptos"/>
              </a:rPr>
              <a:t>Residual may stay near zero.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474720"/>
            <a:ext cx="48006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263640" y="3474720"/>
            <a:ext cx="64008" cy="160020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46520" y="3611879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Research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995928"/>
            <a:ext cx="4480560" cy="9875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Vegetation stays below climate expectation across multiple periods.</a:t>
            </a:r>
            <a:br/>
            <a:br/>
            <a:r>
              <a:rPr>
                <a:latin typeface="Aptos"/>
              </a:rPr>
              <a:t>Residual becomes persistently negative.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5623560"/>
            <a:ext cx="1042416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Rₜ is evidence of below-expected performance — not automatic proof of degradation.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Resilience: the early-warning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Use resilience indicators as features, then test whether they improve future prediction.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196596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196596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Autocorrelation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1353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AC1ₜ = Corr(Aₖ, Aₖ₋₁)</a:t>
            </a:r>
            <a:br/>
            <a:br/>
            <a:r>
              <a:rPr>
                <a:latin typeface="Aptos"/>
              </a:rPr>
              <a:t>Higher AC1 can indicate slower return toward the previous state.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37560" cy="196596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325880"/>
            <a:ext cx="64008" cy="1965960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47088"/>
            <a:ext cx="3017520" cy="1353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Var(A)</a:t>
            </a:r>
            <a:br/>
            <a:br/>
            <a:r>
              <a:rPr>
                <a:latin typeface="Aptos"/>
              </a:rPr>
              <a:t>Increasing variance can indicate greater fluctuations or instability.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325880"/>
            <a:ext cx="3337560" cy="196596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325880"/>
            <a:ext cx="64008" cy="19659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Recovery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47088"/>
            <a:ext cx="3017520" cy="135331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Time to return toward baseline after a disturbance.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840480"/>
            <a:ext cx="1051560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7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Important: we do NOT claim “AC1 ↑ = tipping point.”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572000"/>
            <a:ext cx="103327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The scientific test is whether resilience features improve held-out prediction and warning lead time.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Sensitivity checks: window length • detrending • seasonality • missing observations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7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The target is in the future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This is what turns the project into an early-warning experiment.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PAST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155448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prediction time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417320"/>
            <a:ext cx="914400" cy="2286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1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FUTURE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1920240"/>
            <a:ext cx="9875520" cy="64008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t−12m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214884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t+3m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14884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t+6m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0" y="2148840"/>
            <a:ext cx="9144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event?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2880360"/>
            <a:ext cx="5074920" cy="1874519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2880360"/>
            <a:ext cx="64008" cy="1874519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301752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Features use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401568"/>
            <a:ext cx="4754880" cy="1261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Only observations available at t:</a:t>
            </a:r>
            <a:br/>
            <a:br/>
            <a:r>
              <a:rPr>
                <a:latin typeface="Aptos"/>
              </a:rPr>
              <a:t>Xₜ = Sentinel + MODIS + climate + residual + resilience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2880360"/>
            <a:ext cx="5074920" cy="1874519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172200" y="2880360"/>
            <a:ext cx="64008" cy="1874519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355080" y="301752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Label uses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401568"/>
            <a:ext cx="4754880" cy="12618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Future observations:</a:t>
            </a:r>
            <a:br/>
            <a:br/>
            <a:r>
              <a:rPr>
                <a:latin typeface="Aptos"/>
              </a:rPr>
              <a:t>yₜ = 1 if persistent degradation occurs during t+1 … t+H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25780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7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No future observations are allowed inside Xₜ.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AI model: simple first, stronger second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The model is not the novelty. The experiment is.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329184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Baseline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26791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Persistence rule</a:t>
            </a:r>
            <a:br/>
            <a:br/>
            <a:r>
              <a:rPr>
                <a:latin typeface="Aptos"/>
              </a:rPr>
              <a:t>Raw NDVI trend</a:t>
            </a:r>
            <a:br/>
            <a:br/>
            <a:r>
              <a:rPr>
                <a:latin typeface="Aptos"/>
              </a:rPr>
              <a:t>Sentinel-only Random Forest</a:t>
            </a:r>
            <a:br/>
            <a:br/>
            <a:r>
              <a:rPr>
                <a:latin typeface="Aptos"/>
              </a:rPr>
              <a:t>These establish how much the extension actually adds.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3756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325880"/>
            <a:ext cx="64008" cy="329184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Proposed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47088"/>
            <a:ext cx="3017520" cy="26791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Random Forest / boosting</a:t>
            </a:r>
            <a:br/>
            <a:br/>
            <a:r>
              <a:rPr>
                <a:latin typeface="Aptos"/>
              </a:rPr>
              <a:t>Features:</a:t>
            </a:r>
            <a:br/>
            <a:r>
              <a:rPr>
                <a:latin typeface="Aptos"/>
              </a:rPr>
              <a:t>• spectral state</a:t>
            </a:r>
            <a:br/>
            <a:r>
              <a:rPr>
                <a:latin typeface="Aptos"/>
              </a:rPr>
              <a:t>• temporal change</a:t>
            </a:r>
            <a:br/>
            <a:r>
              <a:rPr>
                <a:latin typeface="Aptos"/>
              </a:rPr>
              <a:t>• climate residual</a:t>
            </a:r>
            <a:br/>
            <a:r>
              <a:rPr>
                <a:latin typeface="Aptos"/>
              </a:rPr>
              <a:t>• resilience</a:t>
            </a:r>
            <a:br/>
            <a:r>
              <a:rPr>
                <a:latin typeface="Aptos"/>
              </a:rPr>
              <a:t>• spatial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325880"/>
            <a:ext cx="3337560" cy="329184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325880"/>
            <a:ext cx="64008" cy="3291840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Probability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47088"/>
            <a:ext cx="3017520" cy="26791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p̂ₜ = P(future event | Xₜ)</a:t>
            </a:r>
            <a:br/>
            <a:br/>
            <a:r>
              <a:rPr>
                <a:latin typeface="Aptos"/>
              </a:rPr>
              <a:t>Calibrate probabilities.</a:t>
            </a:r>
            <a:br/>
            <a:br/>
            <a:r>
              <a:rPr>
                <a:latin typeface="Aptos"/>
              </a:rPr>
              <a:t>Allow uncertain cases to abstain rather than forcing every pixel into a class.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16636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If a simple model performs equally well, that is a result — not a failure.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Validation: prove that the warning is real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Accuracy alone is not enough.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233172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233172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Temporal holdout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1719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Train: earlier years</a:t>
            </a:r>
            <a:br/>
            <a:r>
              <a:rPr>
                <a:latin typeface="Aptos"/>
              </a:rPr>
              <a:t>Validate: later block</a:t>
            </a:r>
            <a:br/>
            <a:r>
              <a:rPr>
                <a:latin typeface="Aptos"/>
              </a:rPr>
              <a:t>Test: final unseen years</a:t>
            </a:r>
            <a:br/>
            <a:br/>
            <a:r>
              <a:rPr>
                <a:latin typeface="Aptos"/>
              </a:rPr>
              <a:t>No future leakage.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37560" cy="233172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325880"/>
            <a:ext cx="64008" cy="233172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Spatial holdout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47088"/>
            <a:ext cx="3017520" cy="1719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Spatial blocks are held out.</a:t>
            </a:r>
            <a:br/>
            <a:br/>
            <a:r>
              <a:rPr>
                <a:latin typeface="Aptos"/>
              </a:rPr>
              <a:t>Prevents nearby pixels from making the model look better than it generalises.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325880"/>
            <a:ext cx="3337560" cy="233172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325880"/>
            <a:ext cx="64008" cy="2331720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47088"/>
            <a:ext cx="3017520" cy="171907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PR-AUC • Brier score</a:t>
            </a:r>
            <a:br/>
            <a:r>
              <a:rPr>
                <a:latin typeface="Aptos"/>
              </a:rPr>
              <a:t>Calibration • recall</a:t>
            </a:r>
            <a:br/>
            <a:r>
              <a:rPr>
                <a:latin typeface="Aptos"/>
              </a:rPr>
              <a:t>False alarms • lead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251960"/>
            <a:ext cx="10332720" cy="59436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20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LeadTime = event onset − first valid warning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074920"/>
            <a:ext cx="1033272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Primary result: how early can the system warn while keeping false alarms acceptable?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10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Ablation: where does the improvement come from?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This is where the paper becomes scientifically testable.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234440"/>
            <a:ext cx="507492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234440"/>
            <a:ext cx="64008" cy="685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37160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55648"/>
            <a:ext cx="4754880" cy="73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Persistence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148840"/>
            <a:ext cx="507492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31520" y="2148840"/>
            <a:ext cx="64008" cy="68580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670048"/>
            <a:ext cx="4754880" cy="73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Sentinel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63240"/>
            <a:ext cx="507492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" y="3063240"/>
            <a:ext cx="64008" cy="685800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" y="320040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3584448"/>
            <a:ext cx="4754880" cy="73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+ temporal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39"/>
            <a:ext cx="507492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31520" y="3977639"/>
            <a:ext cx="64008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411480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498848"/>
            <a:ext cx="4754880" cy="73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+ climate variables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1234440"/>
            <a:ext cx="507492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263640" y="1234440"/>
            <a:ext cx="64008" cy="6858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137160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1755648"/>
            <a:ext cx="4754880" cy="73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+ climate residual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2148840"/>
            <a:ext cx="507492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263640" y="2148840"/>
            <a:ext cx="64008" cy="68580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46520" y="228600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2670048"/>
            <a:ext cx="4754880" cy="73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+ resilience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63640" y="3063240"/>
            <a:ext cx="507492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63640" y="3063240"/>
            <a:ext cx="64008" cy="685800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46520" y="320040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584448"/>
            <a:ext cx="4754880" cy="73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+ spatial context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977639"/>
            <a:ext cx="5074920" cy="6858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6263640" y="3977639"/>
            <a:ext cx="64008" cy="6858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446520" y="4114800"/>
            <a:ext cx="475488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754880" cy="731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+ uncertainty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5440680"/>
            <a:ext cx="103327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5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Compare each step on the SAME locked test protocol.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5806440"/>
            <a:ext cx="10332720" cy="32004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Question: does each added scientific layer improve prediction, lead time, calibration, or false-alarm control?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11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Uncertainty: make the warning usable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A warning system should know when it is unsure.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365760" cy="365760"/>
          </a:xfrm>
          <a:prstGeom prst="ellipse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2354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99032" y="1527048"/>
            <a:ext cx="1965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High confidence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1984248"/>
            <a:ext cx="243230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Event likely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0520" y="141732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4306824" y="1554480"/>
            <a:ext cx="365760" cy="36576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30682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1527048"/>
            <a:ext cx="1965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Low confidence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5968" y="1984248"/>
            <a:ext cx="243230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No event likely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1417320"/>
            <a:ext cx="27432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7690104" y="1554480"/>
            <a:ext cx="365760" cy="365760"/>
          </a:xfrm>
          <a:prstGeom prst="ellipse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90104" y="158191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1527048"/>
            <a:ext cx="19659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Ambiguous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32304" cy="7589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Abstain / inspect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3429000"/>
            <a:ext cx="48006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77240" y="3429000"/>
            <a:ext cx="64008" cy="16002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3566160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Calibration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950208"/>
            <a:ext cx="4480560" cy="9875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Check whether predicted probabilities match observed frequencies.</a:t>
            </a:r>
            <a:br/>
            <a:br/>
            <a:r>
              <a:rPr>
                <a:latin typeface="Aptos"/>
              </a:rPr>
              <a:t>Example: predictions near 0.8 should become events about 80% of the time.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080760" y="3429000"/>
            <a:ext cx="4800600" cy="16002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80760" y="3429000"/>
            <a:ext cx="64008" cy="160020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3566160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Conformal layer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3950208"/>
            <a:ext cx="4480560" cy="9875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Construct prediction sets with a target error level.</a:t>
            </a:r>
            <a:br/>
            <a:br/>
            <a:r>
              <a:rPr>
                <a:latin typeface="Aptos"/>
              </a:rPr>
              <a:t>Ambiguous cases can be flagged instead of overconfidently classified.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577840"/>
            <a:ext cx="103327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Better to say “uncertain” than to create a false degradation alert.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12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What makes the contribution publishable?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A defensible claim, measurable evidence, and honest limitations.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333756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325880"/>
            <a:ext cx="64008" cy="20574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Not the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47088"/>
            <a:ext cx="3017520" cy="1444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0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“We invented AI for degradation.”</a:t>
            </a:r>
            <a:br/>
            <a:br/>
            <a:r>
              <a:rPr>
                <a:latin typeface="Aptos"/>
              </a:rPr>
              <a:t>“AC1 is new.”</a:t>
            </a:r>
            <a:br/>
            <a:br/>
            <a:r>
              <a:rPr>
                <a:latin typeface="Aptos"/>
              </a:rPr>
              <a:t>“Sentinel-2 has never been used.”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8" y="1325880"/>
            <a:ext cx="333756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07408" y="1325880"/>
            <a:ext cx="64008" cy="205740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90288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The claim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1847088"/>
            <a:ext cx="3017520" cy="1444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An integrated, forward-looking framework combining:</a:t>
            </a:r>
            <a:br/>
            <a:br/>
            <a:r>
              <a:rPr>
                <a:latin typeface="Aptos"/>
              </a:rPr>
              <a:t>climate-conditioned residuals + resilience + 10 m evidence + uncertainty.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9016" y="1325880"/>
            <a:ext cx="3337560" cy="20574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129016" y="1325880"/>
            <a:ext cx="64008" cy="2057400"/>
          </a:xfrm>
          <a:prstGeom prst="rect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11896" y="1463039"/>
            <a:ext cx="301752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The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1847088"/>
            <a:ext cx="3017520" cy="144475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Improvement over baselines in:</a:t>
            </a:r>
            <a:br/>
            <a:br/>
            <a:r>
              <a:rPr>
                <a:latin typeface="Aptos"/>
              </a:rPr>
              <a:t>• future-event prediction</a:t>
            </a:r>
            <a:br/>
            <a:r>
              <a:rPr>
                <a:latin typeface="Aptos"/>
              </a:rPr>
              <a:t>• warning lead time</a:t>
            </a:r>
            <a:br/>
            <a:r>
              <a:rPr>
                <a:latin typeface="Aptos"/>
              </a:rPr>
              <a:t>• calibration</a:t>
            </a:r>
            <a:br/>
            <a:r>
              <a:rPr>
                <a:latin typeface="Aptos"/>
              </a:rPr>
              <a:t>• false-alarm control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69080"/>
            <a:ext cx="103327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0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Novelty must be verified again during the final literature search before submission.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97280" y="4709160"/>
            <a:ext cx="306324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1097280" y="4709160"/>
            <a:ext cx="64008" cy="914400"/>
          </a:xfrm>
          <a:prstGeom prst="rect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80160" y="484632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Limitation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230368"/>
            <a:ext cx="2743200" cy="3017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EO proxies ≠ field truth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26280" y="4709160"/>
            <a:ext cx="306324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526280" y="4709160"/>
            <a:ext cx="64008" cy="91440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709160" y="484632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Limitation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5230368"/>
            <a:ext cx="2743200" cy="3017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Resilience is preprocessing-sensitive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55279" y="4709160"/>
            <a:ext cx="3063240" cy="91440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955279" y="4709160"/>
            <a:ext cx="64008" cy="91440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59" y="4846320"/>
            <a:ext cx="2743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Limitation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5230368"/>
            <a:ext cx="2743200" cy="30175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Generalisation must be tested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13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Execution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Start small. Prove the signal. Then scale.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786384" y="1463039"/>
            <a:ext cx="365760" cy="36576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" y="149047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435607"/>
            <a:ext cx="2560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1. 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1892807"/>
            <a:ext cx="302666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One study region</a:t>
            </a:r>
            <a:br/>
            <a:r>
              <a:rPr>
                <a:latin typeface="Aptos"/>
              </a:rPr>
              <a:t>monthly composites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Oval 12"/>
          <p:cNvSpPr/>
          <p:nvPr/>
        </p:nvSpPr>
        <p:spPr>
          <a:xfrm>
            <a:off x="4581144" y="1463039"/>
            <a:ext cx="365760" cy="365760"/>
          </a:xfrm>
          <a:prstGeom prst="ellipse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81144" y="149047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2" y="1435607"/>
            <a:ext cx="2560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2. Build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1892807"/>
            <a:ext cx="302666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Indices + QC + climate residual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32588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75904" y="1463039"/>
            <a:ext cx="365760" cy="365760"/>
          </a:xfrm>
          <a:prstGeom prst="ellipse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75904" y="149047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51392" y="1435607"/>
            <a:ext cx="2560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3. Measure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5048" y="1892807"/>
            <a:ext cx="302666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Resilience + persistence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3375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3" name="Oval 22"/>
          <p:cNvSpPr/>
          <p:nvPr/>
        </p:nvSpPr>
        <p:spPr>
          <a:xfrm>
            <a:off x="786384" y="3474720"/>
            <a:ext cx="365760" cy="365760"/>
          </a:xfrm>
          <a:prstGeom prst="ellipse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86384" y="350215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3447288"/>
            <a:ext cx="2560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4. Label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904488"/>
            <a:ext cx="302666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Future persistent events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34840" y="33375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8" name="Oval 27"/>
          <p:cNvSpPr/>
          <p:nvPr/>
        </p:nvSpPr>
        <p:spPr>
          <a:xfrm>
            <a:off x="4581144" y="3474720"/>
            <a:ext cx="365760" cy="36576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81144" y="350215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56632" y="3447288"/>
            <a:ext cx="2560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5. 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90288" y="3904488"/>
            <a:ext cx="302666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Baselines → CARE-EW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337560"/>
            <a:ext cx="33375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75904" y="3474720"/>
            <a:ext cx="365760" cy="365760"/>
          </a:xfrm>
          <a:prstGeom prst="ellipse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75904" y="350215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51392" y="3447288"/>
            <a:ext cx="256032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6. Validate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85048" y="3904488"/>
            <a:ext cx="302666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Lead time + spatial/time holdouts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5577840"/>
            <a:ext cx="1051560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1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All data and software can be obtained free of charge; computation is the main practical constraint.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10312"/>
            <a:ext cx="45720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100" b="1">
                <a:solidFill>
                  <a:srgbClr val="2F5597"/>
                </a:solidFill>
                <a:latin typeface="Aptos"/>
              </a:defRPr>
            </a:pPr>
            <a:r>
              <a:rPr>
                <a:latin typeface="Aptos"/>
              </a:rP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5448"/>
            <a:ext cx="10424160" cy="45720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230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Final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" y="630936"/>
            <a:ext cx="10241280" cy="25603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950" b="0">
                <a:solidFill>
                  <a:srgbClr val="646E78"/>
                </a:solidFill>
                <a:latin typeface="Aptos"/>
              </a:defRPr>
            </a:pPr>
            <a:r>
              <a:rPr>
                <a:latin typeface="Aptos"/>
              </a:rPr>
              <a:t>A compact research system — not just another classification map.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941832"/>
            <a:ext cx="11155680" cy="22860"/>
          </a:xfrm>
          <a:prstGeom prst="rect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8" name="Oval 7"/>
          <p:cNvSpPr/>
          <p:nvPr/>
        </p:nvSpPr>
        <p:spPr>
          <a:xfrm>
            <a:off x="877824" y="1508760"/>
            <a:ext cx="365760" cy="365760"/>
          </a:xfrm>
          <a:prstGeom prst="ellipse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77824" y="153619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1481328"/>
            <a:ext cx="17373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10 m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938528"/>
            <a:ext cx="220370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Where risk is emerging</a:t>
            </a:r>
          </a:p>
        </p:txBody>
      </p:sp>
      <p:sp>
        <p:nvSpPr>
          <p:cNvPr id="12" name="Chevron 11"/>
          <p:cNvSpPr/>
          <p:nvPr/>
        </p:nvSpPr>
        <p:spPr>
          <a:xfrm>
            <a:off x="3383280" y="1965960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703320" y="1371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4" name="Oval 13"/>
          <p:cNvSpPr/>
          <p:nvPr/>
        </p:nvSpPr>
        <p:spPr>
          <a:xfrm>
            <a:off x="3849624" y="1508760"/>
            <a:ext cx="365760" cy="365760"/>
          </a:xfrm>
          <a:prstGeom prst="ellipse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49624" y="153619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25112" y="1481328"/>
            <a:ext cx="17373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Time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58768" y="1938528"/>
            <a:ext cx="220370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When warning begins</a:t>
            </a:r>
          </a:p>
        </p:txBody>
      </p:sp>
      <p:sp>
        <p:nvSpPr>
          <p:cNvPr id="18" name="Chevron 17"/>
          <p:cNvSpPr/>
          <p:nvPr/>
        </p:nvSpPr>
        <p:spPr>
          <a:xfrm>
            <a:off x="6355080" y="1965960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675120" y="1371600"/>
            <a:ext cx="25146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0" name="Oval 19"/>
          <p:cNvSpPr/>
          <p:nvPr/>
        </p:nvSpPr>
        <p:spPr>
          <a:xfrm>
            <a:off x="6821424" y="1508760"/>
            <a:ext cx="365760" cy="365760"/>
          </a:xfrm>
          <a:prstGeom prst="ellipse">
            <a:avLst/>
          </a:prstGeom>
          <a:solidFill>
            <a:srgbClr val="56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821424" y="153619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96912" y="1481328"/>
            <a:ext cx="17373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Confidence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1938528"/>
            <a:ext cx="220370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How certain is it?</a:t>
            </a:r>
          </a:p>
        </p:txBody>
      </p:sp>
      <p:sp>
        <p:nvSpPr>
          <p:cNvPr id="24" name="Chevron 23"/>
          <p:cNvSpPr/>
          <p:nvPr/>
        </p:nvSpPr>
        <p:spPr>
          <a:xfrm>
            <a:off x="9326880" y="1965960"/>
            <a:ext cx="320040" cy="256032"/>
          </a:xfrm>
          <a:prstGeom prst="chevron">
            <a:avLst/>
          </a:prstGeom>
          <a:solidFill>
            <a:srgbClr val="D8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9646920" y="1371600"/>
            <a:ext cx="182880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6" name="Oval 25"/>
          <p:cNvSpPr/>
          <p:nvPr/>
        </p:nvSpPr>
        <p:spPr>
          <a:xfrm>
            <a:off x="9793224" y="1508760"/>
            <a:ext cx="365760" cy="365760"/>
          </a:xfrm>
          <a:prstGeom prst="ellipse">
            <a:avLst/>
          </a:prstGeom>
          <a:solidFill>
            <a:srgbClr val="18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793224" y="1536192"/>
            <a:ext cx="365760" cy="1828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rPr>
                <a:latin typeface="Aptos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68712" y="1481328"/>
            <a:ext cx="1051560" cy="29260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Action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02368" y="1938528"/>
            <a:ext cx="1517904" cy="850392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0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Prioritise review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566160"/>
            <a:ext cx="480060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914400" y="3566160"/>
            <a:ext cx="64008" cy="1508760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3703320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Paper contribution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4087368"/>
            <a:ext cx="4480560" cy="89611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A reproducible early-warning framework for predicting future persistent land degradation using open Earth-observation data.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3566160"/>
            <a:ext cx="4800600" cy="1508760"/>
          </a:xfrm>
          <a:prstGeom prst="roundRect">
            <a:avLst/>
          </a:prstGeom>
          <a:solidFill>
            <a:srgbClr val="F5F8FB"/>
          </a:solidFill>
          <a:ln>
            <a:solidFill>
              <a:srgbClr val="D8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217920" y="3566160"/>
            <a:ext cx="64008" cy="1508760"/>
          </a:xfrm>
          <a:prstGeom prst="rect">
            <a:avLst/>
          </a:prstGeom>
          <a:solidFill>
            <a:srgbClr val="298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18288" rIns="36576" bIns="18288" rtlCol="0" anchor="t"/>
          <a:lstStyle/>
          <a:p>
            <a:pPr algn="ctr">
              <a:defRPr/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0" y="3703320"/>
            <a:ext cx="4480560" cy="2743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3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Key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4087368"/>
            <a:ext cx="4480560" cy="896111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1250" b="0">
                <a:solidFill>
                  <a:srgbClr val="282F36"/>
                </a:solidFill>
                <a:latin typeface="Aptos"/>
              </a:defRPr>
            </a:pPr>
            <a:r>
              <a:rPr>
                <a:latin typeface="Aptos"/>
              </a:rPr>
              <a:t>Does climate-conditioned decline + weakening resilience provide earlier, more reliable warnings than simpler baselines?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5623560"/>
            <a:ext cx="10332720" cy="41148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defRPr sz="1250" b="1">
                <a:solidFill>
                  <a:srgbClr val="18365D"/>
                </a:solidFill>
                <a:latin typeface="Aptos"/>
              </a:defRPr>
            </a:pPr>
            <a:r>
              <a:rPr>
                <a:latin typeface="Aptos"/>
              </a:rPr>
              <a:t>Next step: implement the pilot equations and labels before scaling to the full study.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6419088"/>
            <a:ext cx="11155680" cy="219456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>
              <a:defRPr sz="750" b="0">
                <a:solidFill>
                  <a:srgbClr val="67717B"/>
                </a:solidFill>
                <a:latin typeface="Aptos"/>
              </a:defRPr>
            </a:pPr>
            <a:r>
              <a:rPr>
                <a:latin typeface="Aptos"/>
              </a:rPr>
              <a:t>CARE-EW • AI-based early detection of land degradation • 15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896112"/>
            <a:ext cx="11155680" cy="22860"/>
          </a:xfrm>
          <a:prstGeom prst="rect">
            <a:avLst/>
          </a:prstGeom>
          <a:solidFill>
            <a:srgbClr val="DBE2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1552</Words>
  <Application>Microsoft Macintosh PowerPoint</Application>
  <PresentationFormat>Widescreen</PresentationFormat>
  <Paragraphs>261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Ankur Bhattarai</cp:lastModifiedBy>
  <cp:revision>2</cp:revision>
  <dcterms:created xsi:type="dcterms:W3CDTF">2013-01-27T09:14:16Z</dcterms:created>
  <dcterms:modified xsi:type="dcterms:W3CDTF">2026-09-01T05:51:36Z</dcterms:modified>
  <cp:category/>
</cp:coreProperties>
</file>